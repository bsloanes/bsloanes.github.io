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86" r:id="rId4"/>
    <p:sldId id="268" r:id="rId5"/>
    <p:sldId id="259" r:id="rId6"/>
    <p:sldId id="272" r:id="rId7"/>
    <p:sldId id="271" r:id="rId8"/>
    <p:sldId id="275" r:id="rId9"/>
    <p:sldId id="273" r:id="rId10"/>
    <p:sldId id="274" r:id="rId11"/>
    <p:sldId id="276" r:id="rId12"/>
    <p:sldId id="277" r:id="rId13"/>
    <p:sldId id="278" r:id="rId14"/>
    <p:sldId id="279" r:id="rId15"/>
    <p:sldId id="280" r:id="rId16"/>
    <p:sldId id="281" r:id="rId17"/>
    <p:sldId id="282" r:id="rId18"/>
    <p:sldId id="283" r:id="rId19"/>
    <p:sldId id="284" r:id="rId20"/>
    <p:sldId id="285" r:id="rId21"/>
    <p:sldId id="260" r:id="rId22"/>
    <p:sldId id="297" r:id="rId23"/>
    <p:sldId id="299" r:id="rId24"/>
    <p:sldId id="287" r:id="rId25"/>
    <p:sldId id="288" r:id="rId26"/>
    <p:sldId id="289" r:id="rId27"/>
    <p:sldId id="290" r:id="rId28"/>
    <p:sldId id="298" r:id="rId29"/>
    <p:sldId id="291" r:id="rId30"/>
    <p:sldId id="292" r:id="rId31"/>
    <p:sldId id="304" r:id="rId32"/>
    <p:sldId id="293" r:id="rId33"/>
    <p:sldId id="294" r:id="rId34"/>
    <p:sldId id="305" r:id="rId35"/>
    <p:sldId id="311" r:id="rId36"/>
    <p:sldId id="312" r:id="rId37"/>
    <p:sldId id="295" r:id="rId38"/>
    <p:sldId id="313" r:id="rId39"/>
    <p:sldId id="296" r:id="rId40"/>
    <p:sldId id="300" r:id="rId41"/>
    <p:sldId id="307" r:id="rId42"/>
    <p:sldId id="302" r:id="rId43"/>
    <p:sldId id="303" r:id="rId44"/>
    <p:sldId id="262" r:id="rId45"/>
    <p:sldId id="318" r:id="rId46"/>
    <p:sldId id="314" r:id="rId47"/>
    <p:sldId id="315" r:id="rId48"/>
    <p:sldId id="319" r:id="rId49"/>
    <p:sldId id="316" r:id="rId50"/>
    <p:sldId id="317" r:id="rId51"/>
    <p:sldId id="263" r:id="rId52"/>
    <p:sldId id="325" r:id="rId53"/>
    <p:sldId id="323" r:id="rId54"/>
    <p:sldId id="324" r:id="rId55"/>
    <p:sldId id="322" r:id="rId56"/>
    <p:sldId id="320" r:id="rId57"/>
    <p:sldId id="321" r:id="rId58"/>
    <p:sldId id="264" r:id="rId59"/>
    <p:sldId id="337" r:id="rId60"/>
    <p:sldId id="309" r:id="rId61"/>
    <p:sldId id="310" r:id="rId62"/>
    <p:sldId id="326" r:id="rId63"/>
    <p:sldId id="327" r:id="rId64"/>
    <p:sldId id="328" r:id="rId65"/>
    <p:sldId id="329" r:id="rId66"/>
    <p:sldId id="330" r:id="rId67"/>
    <p:sldId id="331" r:id="rId68"/>
    <p:sldId id="265" r:id="rId69"/>
    <p:sldId id="338" r:id="rId70"/>
    <p:sldId id="339" r:id="rId71"/>
    <p:sldId id="340" r:id="rId72"/>
    <p:sldId id="341" r:id="rId73"/>
    <p:sldId id="266" r:id="rId74"/>
    <p:sldId id="332" r:id="rId75"/>
    <p:sldId id="333" r:id="rId76"/>
    <p:sldId id="334" r:id="rId77"/>
    <p:sldId id="335" r:id="rId78"/>
    <p:sldId id="336" r:id="rId79"/>
    <p:sldId id="306" r:id="rId8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ianca" initials="B" lastIdx="13" clrIdx="0">
    <p:extLst>
      <p:ext uri="{19B8F6BF-5375-455C-9EA6-DF929625EA0E}">
        <p15:presenceInfo xmlns:p15="http://schemas.microsoft.com/office/powerpoint/2012/main" userId="Bianc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8A23"/>
    <a:srgbClr val="B6A924"/>
    <a:srgbClr val="FF64A1"/>
    <a:srgbClr val="9D00F7"/>
    <a:srgbClr val="00FFDE"/>
    <a:srgbClr val="26D6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715"/>
    <p:restoredTop sz="95909"/>
  </p:normalViewPr>
  <p:slideViewPr>
    <p:cSldViewPr snapToGrid="0">
      <p:cViewPr varScale="1">
        <p:scale>
          <a:sx n="95" d="100"/>
          <a:sy n="95" d="100"/>
        </p:scale>
        <p:origin x="208"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47845-FA66-B6AE-FE40-D8C5D0FC36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13AA0AC-DC84-0CB8-6E0F-AC127949E3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44D93E-C595-35C6-6D29-0757E4E11A52}"/>
              </a:ext>
            </a:extLst>
          </p:cNvPr>
          <p:cNvSpPr>
            <a:spLocks noGrp="1"/>
          </p:cNvSpPr>
          <p:nvPr>
            <p:ph type="dt" sz="half" idx="10"/>
          </p:nvPr>
        </p:nvSpPr>
        <p:spPr/>
        <p:txBody>
          <a:bodyPr/>
          <a:lstStyle/>
          <a:p>
            <a:fld id="{F60A57B4-6005-B947-883A-1EC967203726}" type="datetimeFigureOut">
              <a:rPr lang="en-US" smtClean="0"/>
              <a:t>9/28/23</a:t>
            </a:fld>
            <a:endParaRPr lang="en-US"/>
          </a:p>
        </p:txBody>
      </p:sp>
      <p:sp>
        <p:nvSpPr>
          <p:cNvPr id="5" name="Footer Placeholder 4">
            <a:extLst>
              <a:ext uri="{FF2B5EF4-FFF2-40B4-BE49-F238E27FC236}">
                <a16:creationId xmlns:a16="http://schemas.microsoft.com/office/drawing/2014/main" id="{DCCB95D5-02AD-E933-290E-B15D039638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D2368-84CD-8A36-21B9-1FADAF525DA4}"/>
              </a:ext>
            </a:extLst>
          </p:cNvPr>
          <p:cNvSpPr>
            <a:spLocks noGrp="1"/>
          </p:cNvSpPr>
          <p:nvPr>
            <p:ph type="sldNum" sz="quarter" idx="12"/>
          </p:nvPr>
        </p:nvSpPr>
        <p:spPr/>
        <p:txBody>
          <a:bodyPr/>
          <a:lstStyle/>
          <a:p>
            <a:fld id="{9867A019-47F9-B04C-A1F6-8AEF39F4C8BF}" type="slidenum">
              <a:rPr lang="en-US" smtClean="0"/>
              <a:t>‹#›</a:t>
            </a:fld>
            <a:endParaRPr lang="en-US"/>
          </a:p>
        </p:txBody>
      </p:sp>
    </p:spTree>
    <p:extLst>
      <p:ext uri="{BB962C8B-B14F-4D97-AF65-F5344CB8AC3E}">
        <p14:creationId xmlns:p14="http://schemas.microsoft.com/office/powerpoint/2010/main" val="654523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0EF29-F082-F6B6-6577-3A39AA5925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01350C-C245-7202-412F-B50F86C4E5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960030-9B09-07C3-9762-279C623AC1FA}"/>
              </a:ext>
            </a:extLst>
          </p:cNvPr>
          <p:cNvSpPr>
            <a:spLocks noGrp="1"/>
          </p:cNvSpPr>
          <p:nvPr>
            <p:ph type="dt" sz="half" idx="10"/>
          </p:nvPr>
        </p:nvSpPr>
        <p:spPr/>
        <p:txBody>
          <a:bodyPr/>
          <a:lstStyle/>
          <a:p>
            <a:fld id="{F60A57B4-6005-B947-883A-1EC967203726}" type="datetimeFigureOut">
              <a:rPr lang="en-US" smtClean="0"/>
              <a:t>9/28/23</a:t>
            </a:fld>
            <a:endParaRPr lang="en-US"/>
          </a:p>
        </p:txBody>
      </p:sp>
      <p:sp>
        <p:nvSpPr>
          <p:cNvPr id="5" name="Footer Placeholder 4">
            <a:extLst>
              <a:ext uri="{FF2B5EF4-FFF2-40B4-BE49-F238E27FC236}">
                <a16:creationId xmlns:a16="http://schemas.microsoft.com/office/drawing/2014/main" id="{E845258B-2CF4-D669-D17E-96063C273E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A08C97-BD8B-6C21-BE81-D91737D5C9B5}"/>
              </a:ext>
            </a:extLst>
          </p:cNvPr>
          <p:cNvSpPr>
            <a:spLocks noGrp="1"/>
          </p:cNvSpPr>
          <p:nvPr>
            <p:ph type="sldNum" sz="quarter" idx="12"/>
          </p:nvPr>
        </p:nvSpPr>
        <p:spPr/>
        <p:txBody>
          <a:bodyPr/>
          <a:lstStyle/>
          <a:p>
            <a:fld id="{9867A019-47F9-B04C-A1F6-8AEF39F4C8BF}" type="slidenum">
              <a:rPr lang="en-US" smtClean="0"/>
              <a:t>‹#›</a:t>
            </a:fld>
            <a:endParaRPr lang="en-US"/>
          </a:p>
        </p:txBody>
      </p:sp>
    </p:spTree>
    <p:extLst>
      <p:ext uri="{BB962C8B-B14F-4D97-AF65-F5344CB8AC3E}">
        <p14:creationId xmlns:p14="http://schemas.microsoft.com/office/powerpoint/2010/main" val="717948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C0AFC-659A-7AB0-8C94-5EF37439B8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A9C8A1A-4CC9-A4FE-3193-F870A2CC85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33AB3A-06E9-593B-4697-2CC827A5C8C7}"/>
              </a:ext>
            </a:extLst>
          </p:cNvPr>
          <p:cNvSpPr>
            <a:spLocks noGrp="1"/>
          </p:cNvSpPr>
          <p:nvPr>
            <p:ph type="dt" sz="half" idx="10"/>
          </p:nvPr>
        </p:nvSpPr>
        <p:spPr/>
        <p:txBody>
          <a:bodyPr/>
          <a:lstStyle/>
          <a:p>
            <a:fld id="{F60A57B4-6005-B947-883A-1EC967203726}" type="datetimeFigureOut">
              <a:rPr lang="en-US" smtClean="0"/>
              <a:t>9/28/23</a:t>
            </a:fld>
            <a:endParaRPr lang="en-US"/>
          </a:p>
        </p:txBody>
      </p:sp>
      <p:sp>
        <p:nvSpPr>
          <p:cNvPr id="5" name="Footer Placeholder 4">
            <a:extLst>
              <a:ext uri="{FF2B5EF4-FFF2-40B4-BE49-F238E27FC236}">
                <a16:creationId xmlns:a16="http://schemas.microsoft.com/office/drawing/2014/main" id="{3D5027B5-2B1C-4C92-E2D3-C9721B6442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A71399-EBD7-735E-F428-9C19B13CC732}"/>
              </a:ext>
            </a:extLst>
          </p:cNvPr>
          <p:cNvSpPr>
            <a:spLocks noGrp="1"/>
          </p:cNvSpPr>
          <p:nvPr>
            <p:ph type="sldNum" sz="quarter" idx="12"/>
          </p:nvPr>
        </p:nvSpPr>
        <p:spPr/>
        <p:txBody>
          <a:bodyPr/>
          <a:lstStyle/>
          <a:p>
            <a:fld id="{9867A019-47F9-B04C-A1F6-8AEF39F4C8BF}" type="slidenum">
              <a:rPr lang="en-US" smtClean="0"/>
              <a:t>‹#›</a:t>
            </a:fld>
            <a:endParaRPr lang="en-US"/>
          </a:p>
        </p:txBody>
      </p:sp>
    </p:spTree>
    <p:extLst>
      <p:ext uri="{BB962C8B-B14F-4D97-AF65-F5344CB8AC3E}">
        <p14:creationId xmlns:p14="http://schemas.microsoft.com/office/powerpoint/2010/main" val="4292506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85982-BB48-FE5D-7110-921C2EFCA4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C60318-D053-609C-34B7-9AF4101127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FBC2A41-C47D-3CB6-C464-F6A859B37D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BCE0FE-9F60-33F8-EC50-B793A96026B0}"/>
              </a:ext>
            </a:extLst>
          </p:cNvPr>
          <p:cNvSpPr>
            <a:spLocks noGrp="1"/>
          </p:cNvSpPr>
          <p:nvPr>
            <p:ph type="dt" sz="half" idx="10"/>
          </p:nvPr>
        </p:nvSpPr>
        <p:spPr/>
        <p:txBody>
          <a:bodyPr/>
          <a:lstStyle/>
          <a:p>
            <a:fld id="{F60A57B4-6005-B947-883A-1EC967203726}" type="datetimeFigureOut">
              <a:rPr lang="en-US" smtClean="0"/>
              <a:t>9/28/23</a:t>
            </a:fld>
            <a:endParaRPr lang="en-US"/>
          </a:p>
        </p:txBody>
      </p:sp>
      <p:sp>
        <p:nvSpPr>
          <p:cNvPr id="6" name="Footer Placeholder 5">
            <a:extLst>
              <a:ext uri="{FF2B5EF4-FFF2-40B4-BE49-F238E27FC236}">
                <a16:creationId xmlns:a16="http://schemas.microsoft.com/office/drawing/2014/main" id="{84C3EC4C-E41A-AF35-EF98-BC710F3E86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708B06-0487-7713-6E0C-93F944312B71}"/>
              </a:ext>
            </a:extLst>
          </p:cNvPr>
          <p:cNvSpPr>
            <a:spLocks noGrp="1"/>
          </p:cNvSpPr>
          <p:nvPr>
            <p:ph type="sldNum" sz="quarter" idx="12"/>
          </p:nvPr>
        </p:nvSpPr>
        <p:spPr/>
        <p:txBody>
          <a:bodyPr/>
          <a:lstStyle/>
          <a:p>
            <a:fld id="{9867A019-47F9-B04C-A1F6-8AEF39F4C8BF}" type="slidenum">
              <a:rPr lang="en-US" smtClean="0"/>
              <a:t>‹#›</a:t>
            </a:fld>
            <a:endParaRPr lang="en-US"/>
          </a:p>
        </p:txBody>
      </p:sp>
    </p:spTree>
    <p:extLst>
      <p:ext uri="{BB962C8B-B14F-4D97-AF65-F5344CB8AC3E}">
        <p14:creationId xmlns:p14="http://schemas.microsoft.com/office/powerpoint/2010/main" val="1589896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BFEA1-761B-EE16-9E3D-CB0DDE7A505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96CFE2-4AB1-880D-1CAA-218807E1E9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6325DB-B25A-8A3B-F1B4-D5014566BB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31CD54E-E4FC-9FCD-6541-1C12053D5C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57C859-EB0B-13EE-2BFD-4B1FBA6FDF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EA30FE-395D-2441-71F5-0466A4314944}"/>
              </a:ext>
            </a:extLst>
          </p:cNvPr>
          <p:cNvSpPr>
            <a:spLocks noGrp="1"/>
          </p:cNvSpPr>
          <p:nvPr>
            <p:ph type="dt" sz="half" idx="10"/>
          </p:nvPr>
        </p:nvSpPr>
        <p:spPr/>
        <p:txBody>
          <a:bodyPr/>
          <a:lstStyle/>
          <a:p>
            <a:fld id="{F60A57B4-6005-B947-883A-1EC967203726}" type="datetimeFigureOut">
              <a:rPr lang="en-US" smtClean="0"/>
              <a:t>9/28/23</a:t>
            </a:fld>
            <a:endParaRPr lang="en-US"/>
          </a:p>
        </p:txBody>
      </p:sp>
      <p:sp>
        <p:nvSpPr>
          <p:cNvPr id="8" name="Footer Placeholder 7">
            <a:extLst>
              <a:ext uri="{FF2B5EF4-FFF2-40B4-BE49-F238E27FC236}">
                <a16:creationId xmlns:a16="http://schemas.microsoft.com/office/drawing/2014/main" id="{E268A6E8-97CC-6088-D02F-81F9BA7A15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6ED450-FD81-2363-2D7A-A1C0255DB4FC}"/>
              </a:ext>
            </a:extLst>
          </p:cNvPr>
          <p:cNvSpPr>
            <a:spLocks noGrp="1"/>
          </p:cNvSpPr>
          <p:nvPr>
            <p:ph type="sldNum" sz="quarter" idx="12"/>
          </p:nvPr>
        </p:nvSpPr>
        <p:spPr/>
        <p:txBody>
          <a:bodyPr/>
          <a:lstStyle/>
          <a:p>
            <a:fld id="{9867A019-47F9-B04C-A1F6-8AEF39F4C8BF}" type="slidenum">
              <a:rPr lang="en-US" smtClean="0"/>
              <a:t>‹#›</a:t>
            </a:fld>
            <a:endParaRPr lang="en-US"/>
          </a:p>
        </p:txBody>
      </p:sp>
    </p:spTree>
    <p:extLst>
      <p:ext uri="{BB962C8B-B14F-4D97-AF65-F5344CB8AC3E}">
        <p14:creationId xmlns:p14="http://schemas.microsoft.com/office/powerpoint/2010/main" val="950781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A3696-DFB4-7E96-6104-723FDB48A57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9BC9786-0535-0E75-FDCF-C5477BE70CE7}"/>
              </a:ext>
            </a:extLst>
          </p:cNvPr>
          <p:cNvSpPr>
            <a:spLocks noGrp="1"/>
          </p:cNvSpPr>
          <p:nvPr>
            <p:ph type="dt" sz="half" idx="10"/>
          </p:nvPr>
        </p:nvSpPr>
        <p:spPr/>
        <p:txBody>
          <a:bodyPr/>
          <a:lstStyle/>
          <a:p>
            <a:fld id="{F60A57B4-6005-B947-883A-1EC967203726}" type="datetimeFigureOut">
              <a:rPr lang="en-US" smtClean="0"/>
              <a:t>9/28/23</a:t>
            </a:fld>
            <a:endParaRPr lang="en-US"/>
          </a:p>
        </p:txBody>
      </p:sp>
      <p:sp>
        <p:nvSpPr>
          <p:cNvPr id="4" name="Footer Placeholder 3">
            <a:extLst>
              <a:ext uri="{FF2B5EF4-FFF2-40B4-BE49-F238E27FC236}">
                <a16:creationId xmlns:a16="http://schemas.microsoft.com/office/drawing/2014/main" id="{A2D88929-DA3D-9B29-72CB-2020A203013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1A3CA3-A01B-4E54-8207-213AC4BC0E1B}"/>
              </a:ext>
            </a:extLst>
          </p:cNvPr>
          <p:cNvSpPr>
            <a:spLocks noGrp="1"/>
          </p:cNvSpPr>
          <p:nvPr>
            <p:ph type="sldNum" sz="quarter" idx="12"/>
          </p:nvPr>
        </p:nvSpPr>
        <p:spPr/>
        <p:txBody>
          <a:bodyPr/>
          <a:lstStyle/>
          <a:p>
            <a:fld id="{9867A019-47F9-B04C-A1F6-8AEF39F4C8BF}" type="slidenum">
              <a:rPr lang="en-US" smtClean="0"/>
              <a:t>‹#›</a:t>
            </a:fld>
            <a:endParaRPr lang="en-US"/>
          </a:p>
        </p:txBody>
      </p:sp>
    </p:spTree>
    <p:extLst>
      <p:ext uri="{BB962C8B-B14F-4D97-AF65-F5344CB8AC3E}">
        <p14:creationId xmlns:p14="http://schemas.microsoft.com/office/powerpoint/2010/main" val="2947898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03A543-9ADC-588A-C936-D00105460877}"/>
              </a:ext>
            </a:extLst>
          </p:cNvPr>
          <p:cNvSpPr>
            <a:spLocks noGrp="1"/>
          </p:cNvSpPr>
          <p:nvPr>
            <p:ph type="dt" sz="half" idx="10"/>
          </p:nvPr>
        </p:nvSpPr>
        <p:spPr/>
        <p:txBody>
          <a:bodyPr/>
          <a:lstStyle/>
          <a:p>
            <a:fld id="{F60A57B4-6005-B947-883A-1EC967203726}" type="datetimeFigureOut">
              <a:rPr lang="en-US" smtClean="0"/>
              <a:t>9/28/23</a:t>
            </a:fld>
            <a:endParaRPr lang="en-US"/>
          </a:p>
        </p:txBody>
      </p:sp>
      <p:sp>
        <p:nvSpPr>
          <p:cNvPr id="3" name="Footer Placeholder 2">
            <a:extLst>
              <a:ext uri="{FF2B5EF4-FFF2-40B4-BE49-F238E27FC236}">
                <a16:creationId xmlns:a16="http://schemas.microsoft.com/office/drawing/2014/main" id="{128FD519-E059-B7D5-DEB8-CF75C2440AB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8839F7-302B-BA59-D6BB-03A8FD4DAB09}"/>
              </a:ext>
            </a:extLst>
          </p:cNvPr>
          <p:cNvSpPr>
            <a:spLocks noGrp="1"/>
          </p:cNvSpPr>
          <p:nvPr>
            <p:ph type="sldNum" sz="quarter" idx="12"/>
          </p:nvPr>
        </p:nvSpPr>
        <p:spPr/>
        <p:txBody>
          <a:bodyPr/>
          <a:lstStyle/>
          <a:p>
            <a:fld id="{9867A019-47F9-B04C-A1F6-8AEF39F4C8BF}" type="slidenum">
              <a:rPr lang="en-US" smtClean="0"/>
              <a:t>‹#›</a:t>
            </a:fld>
            <a:endParaRPr lang="en-US"/>
          </a:p>
        </p:txBody>
      </p:sp>
    </p:spTree>
    <p:extLst>
      <p:ext uri="{BB962C8B-B14F-4D97-AF65-F5344CB8AC3E}">
        <p14:creationId xmlns:p14="http://schemas.microsoft.com/office/powerpoint/2010/main" val="3321897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2C462-B24E-6C6D-F057-6A418CA80F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B2006F-A960-98B9-976B-77873AB6FC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B2F161A-3659-8536-1969-793AEB23A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649B4F-0984-4DF2-CCAD-41FC8A16AFA2}"/>
              </a:ext>
            </a:extLst>
          </p:cNvPr>
          <p:cNvSpPr>
            <a:spLocks noGrp="1"/>
          </p:cNvSpPr>
          <p:nvPr>
            <p:ph type="dt" sz="half" idx="10"/>
          </p:nvPr>
        </p:nvSpPr>
        <p:spPr/>
        <p:txBody>
          <a:bodyPr/>
          <a:lstStyle/>
          <a:p>
            <a:fld id="{F60A57B4-6005-B947-883A-1EC967203726}" type="datetimeFigureOut">
              <a:rPr lang="en-US" smtClean="0"/>
              <a:t>9/28/23</a:t>
            </a:fld>
            <a:endParaRPr lang="en-US"/>
          </a:p>
        </p:txBody>
      </p:sp>
      <p:sp>
        <p:nvSpPr>
          <p:cNvPr id="6" name="Footer Placeholder 5">
            <a:extLst>
              <a:ext uri="{FF2B5EF4-FFF2-40B4-BE49-F238E27FC236}">
                <a16:creationId xmlns:a16="http://schemas.microsoft.com/office/drawing/2014/main" id="{4287D651-64DE-4228-82DE-F82E7AC5FA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EA8B96-F063-AD40-30E6-1485A0E260BC}"/>
              </a:ext>
            </a:extLst>
          </p:cNvPr>
          <p:cNvSpPr>
            <a:spLocks noGrp="1"/>
          </p:cNvSpPr>
          <p:nvPr>
            <p:ph type="sldNum" sz="quarter" idx="12"/>
          </p:nvPr>
        </p:nvSpPr>
        <p:spPr/>
        <p:txBody>
          <a:bodyPr/>
          <a:lstStyle/>
          <a:p>
            <a:fld id="{9867A019-47F9-B04C-A1F6-8AEF39F4C8BF}" type="slidenum">
              <a:rPr lang="en-US" smtClean="0"/>
              <a:t>‹#›</a:t>
            </a:fld>
            <a:endParaRPr lang="en-US"/>
          </a:p>
        </p:txBody>
      </p:sp>
    </p:spTree>
    <p:extLst>
      <p:ext uri="{BB962C8B-B14F-4D97-AF65-F5344CB8AC3E}">
        <p14:creationId xmlns:p14="http://schemas.microsoft.com/office/powerpoint/2010/main" val="3673602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1CEB9-9746-AFD0-B7D0-9F792E6B6A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3D03F31-6409-44EC-BFBD-C86F694BFE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AB94D60-7DCF-DAD1-EAF6-81BB764FD4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9A8075-6099-2A09-6EA2-6434A7FCF2FB}"/>
              </a:ext>
            </a:extLst>
          </p:cNvPr>
          <p:cNvSpPr>
            <a:spLocks noGrp="1"/>
          </p:cNvSpPr>
          <p:nvPr>
            <p:ph type="dt" sz="half" idx="10"/>
          </p:nvPr>
        </p:nvSpPr>
        <p:spPr/>
        <p:txBody>
          <a:bodyPr/>
          <a:lstStyle/>
          <a:p>
            <a:fld id="{F60A57B4-6005-B947-883A-1EC967203726}" type="datetimeFigureOut">
              <a:rPr lang="en-US" smtClean="0"/>
              <a:t>9/28/23</a:t>
            </a:fld>
            <a:endParaRPr lang="en-US"/>
          </a:p>
        </p:txBody>
      </p:sp>
      <p:sp>
        <p:nvSpPr>
          <p:cNvPr id="6" name="Footer Placeholder 5">
            <a:extLst>
              <a:ext uri="{FF2B5EF4-FFF2-40B4-BE49-F238E27FC236}">
                <a16:creationId xmlns:a16="http://schemas.microsoft.com/office/drawing/2014/main" id="{455745CC-473D-40CF-007E-7A821AC861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355619-54C5-8516-DC46-A6622BBB7269}"/>
              </a:ext>
            </a:extLst>
          </p:cNvPr>
          <p:cNvSpPr>
            <a:spLocks noGrp="1"/>
          </p:cNvSpPr>
          <p:nvPr>
            <p:ph type="sldNum" sz="quarter" idx="12"/>
          </p:nvPr>
        </p:nvSpPr>
        <p:spPr/>
        <p:txBody>
          <a:bodyPr/>
          <a:lstStyle/>
          <a:p>
            <a:fld id="{9867A019-47F9-B04C-A1F6-8AEF39F4C8BF}" type="slidenum">
              <a:rPr lang="en-US" smtClean="0"/>
              <a:t>‹#›</a:t>
            </a:fld>
            <a:endParaRPr lang="en-US"/>
          </a:p>
        </p:txBody>
      </p:sp>
    </p:spTree>
    <p:extLst>
      <p:ext uri="{BB962C8B-B14F-4D97-AF65-F5344CB8AC3E}">
        <p14:creationId xmlns:p14="http://schemas.microsoft.com/office/powerpoint/2010/main" val="2565517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BCCCA-0E96-0C36-8F65-F56F907ACD9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8D0D4CB-9D67-8029-1C0F-FC8E31F6C3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7DF90E-781C-6AF2-A247-066433151F98}"/>
              </a:ext>
            </a:extLst>
          </p:cNvPr>
          <p:cNvSpPr>
            <a:spLocks noGrp="1"/>
          </p:cNvSpPr>
          <p:nvPr>
            <p:ph type="dt" sz="half" idx="10"/>
          </p:nvPr>
        </p:nvSpPr>
        <p:spPr/>
        <p:txBody>
          <a:bodyPr/>
          <a:lstStyle/>
          <a:p>
            <a:fld id="{F60A57B4-6005-B947-883A-1EC967203726}" type="datetimeFigureOut">
              <a:rPr lang="en-US" smtClean="0"/>
              <a:t>9/28/23</a:t>
            </a:fld>
            <a:endParaRPr lang="en-US"/>
          </a:p>
        </p:txBody>
      </p:sp>
      <p:sp>
        <p:nvSpPr>
          <p:cNvPr id="5" name="Footer Placeholder 4">
            <a:extLst>
              <a:ext uri="{FF2B5EF4-FFF2-40B4-BE49-F238E27FC236}">
                <a16:creationId xmlns:a16="http://schemas.microsoft.com/office/drawing/2014/main" id="{38127ED1-C1AA-C269-7438-DB0F05AD4C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B97848-DD03-D34A-075C-17E82CB79E65}"/>
              </a:ext>
            </a:extLst>
          </p:cNvPr>
          <p:cNvSpPr>
            <a:spLocks noGrp="1"/>
          </p:cNvSpPr>
          <p:nvPr>
            <p:ph type="sldNum" sz="quarter" idx="12"/>
          </p:nvPr>
        </p:nvSpPr>
        <p:spPr/>
        <p:txBody>
          <a:bodyPr/>
          <a:lstStyle/>
          <a:p>
            <a:fld id="{9867A019-47F9-B04C-A1F6-8AEF39F4C8BF}" type="slidenum">
              <a:rPr lang="en-US" smtClean="0"/>
              <a:t>‹#›</a:t>
            </a:fld>
            <a:endParaRPr lang="en-US"/>
          </a:p>
        </p:txBody>
      </p:sp>
    </p:spTree>
    <p:extLst>
      <p:ext uri="{BB962C8B-B14F-4D97-AF65-F5344CB8AC3E}">
        <p14:creationId xmlns:p14="http://schemas.microsoft.com/office/powerpoint/2010/main" val="3996608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71485D-3690-1617-F943-2754E3E65C6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5A4EB7B-1C64-CA27-7C57-7061A05678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6AD2C1-4241-4FEE-D95B-10195CB91123}"/>
              </a:ext>
            </a:extLst>
          </p:cNvPr>
          <p:cNvSpPr>
            <a:spLocks noGrp="1"/>
          </p:cNvSpPr>
          <p:nvPr>
            <p:ph type="dt" sz="half" idx="10"/>
          </p:nvPr>
        </p:nvSpPr>
        <p:spPr/>
        <p:txBody>
          <a:bodyPr/>
          <a:lstStyle/>
          <a:p>
            <a:fld id="{F60A57B4-6005-B947-883A-1EC967203726}" type="datetimeFigureOut">
              <a:rPr lang="en-US" smtClean="0"/>
              <a:t>9/28/23</a:t>
            </a:fld>
            <a:endParaRPr lang="en-US"/>
          </a:p>
        </p:txBody>
      </p:sp>
      <p:sp>
        <p:nvSpPr>
          <p:cNvPr id="5" name="Footer Placeholder 4">
            <a:extLst>
              <a:ext uri="{FF2B5EF4-FFF2-40B4-BE49-F238E27FC236}">
                <a16:creationId xmlns:a16="http://schemas.microsoft.com/office/drawing/2014/main" id="{79ED44D3-098C-9A66-B58E-799972FED9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CAF033-0D9F-3303-D79C-26FBF6CBEA21}"/>
              </a:ext>
            </a:extLst>
          </p:cNvPr>
          <p:cNvSpPr>
            <a:spLocks noGrp="1"/>
          </p:cNvSpPr>
          <p:nvPr>
            <p:ph type="sldNum" sz="quarter" idx="12"/>
          </p:nvPr>
        </p:nvSpPr>
        <p:spPr/>
        <p:txBody>
          <a:bodyPr/>
          <a:lstStyle/>
          <a:p>
            <a:fld id="{9867A019-47F9-B04C-A1F6-8AEF39F4C8BF}" type="slidenum">
              <a:rPr lang="en-US" smtClean="0"/>
              <a:t>‹#›</a:t>
            </a:fld>
            <a:endParaRPr lang="en-US"/>
          </a:p>
        </p:txBody>
      </p:sp>
    </p:spTree>
    <p:extLst>
      <p:ext uri="{BB962C8B-B14F-4D97-AF65-F5344CB8AC3E}">
        <p14:creationId xmlns:p14="http://schemas.microsoft.com/office/powerpoint/2010/main" val="3097806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B1E170-ED91-CDE4-234B-58FF4EDF72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6B775C-059B-FE3A-0B81-6A51E932E1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3E083F-0525-915C-2309-C31B070557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0A57B4-6005-B947-883A-1EC967203726}" type="datetimeFigureOut">
              <a:rPr lang="en-US" smtClean="0"/>
              <a:t>9/28/23</a:t>
            </a:fld>
            <a:endParaRPr lang="en-US"/>
          </a:p>
        </p:txBody>
      </p:sp>
      <p:sp>
        <p:nvSpPr>
          <p:cNvPr id="5" name="Footer Placeholder 4">
            <a:extLst>
              <a:ext uri="{FF2B5EF4-FFF2-40B4-BE49-F238E27FC236}">
                <a16:creationId xmlns:a16="http://schemas.microsoft.com/office/drawing/2014/main" id="{61443BF2-040D-5E67-3A42-2DBB35A9AC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36BE9DC-7DFB-86F7-1AF6-D0B564D518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67A019-47F9-B04C-A1F6-8AEF39F4C8BF}" type="slidenum">
              <a:rPr lang="en-US" smtClean="0"/>
              <a:t>‹#›</a:t>
            </a:fld>
            <a:endParaRPr lang="en-US"/>
          </a:p>
        </p:txBody>
      </p:sp>
    </p:spTree>
    <p:extLst>
      <p:ext uri="{BB962C8B-B14F-4D97-AF65-F5344CB8AC3E}">
        <p14:creationId xmlns:p14="http://schemas.microsoft.com/office/powerpoint/2010/main" val="2944443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businessinsider.com/hackers-us-air-force-satellite-space-win-50000-prize-security-2023-8" TargetMode="External"/><Relationship Id="rId2" Type="http://schemas.openxmlformats.org/officeDocument/2006/relationships/hyperlink" Target="https://static.e-publishing.af.mil/production/1/saf_cn/publication/dafh33-337/dafh33-337.pdf" TargetMode="External"/><Relationship Id="rId1" Type="http://schemas.openxmlformats.org/officeDocument/2006/relationships/slideLayout" Target="../slideLayouts/slideLayout2.xml"/><Relationship Id="rId5" Type="http://schemas.openxmlformats.org/officeDocument/2006/relationships/hyperlink" Target="https://www.uso.org/stories/2990-what-are-the-mottos-of-the-6-branches-of-the-u-s-military#:~:text=Fly%2DFight%2DWin&#8221;,airmen%20to%20do%20the%20same." TargetMode="External"/><Relationship Id="rId4" Type="http://schemas.openxmlformats.org/officeDocument/2006/relationships/hyperlink" Target="https://static.e-publishing.af.mil/production/1/saf_ig/publication/afi71-101v4/afi71-101v4.pdf"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hyperlink" Target="https://www.af.mil/News/Article-Display/Article/3351879/reserve-command-announces-10k-bonus-for-prior-service-enlisted-airmen/" TargetMode="External"/><Relationship Id="rId3" Type="http://schemas.openxmlformats.org/officeDocument/2006/relationships/hyperlink" Target="https://www.airandspaceforces.com/air-force-recruiting-2022-dead-stick-landing-2022/" TargetMode="External"/><Relationship Id="rId7" Type="http://schemas.openxmlformats.org/officeDocument/2006/relationships/hyperlink" Target="https://www.recruiting.af.mil/News/Article-Display/Article/3375619/basic-military-training-trainees-become-us-citizens-under-new-streamlined-natur/" TargetMode="External"/><Relationship Id="rId12" Type="http://schemas.openxmlformats.org/officeDocument/2006/relationships/hyperlink" Target="https://www.defense.gov/News/News-Stories/Article/Article/3332208/austin-presses-ahead-with-recommendations-from-suicide-prevention-committee/" TargetMode="External"/><Relationship Id="rId2" Type="http://schemas.openxmlformats.org/officeDocument/2006/relationships/hyperlink" Target="https://www.airandspaceforces.com/air-force-recruiting-service-shortfall-2023/" TargetMode="External"/><Relationship Id="rId1" Type="http://schemas.openxmlformats.org/officeDocument/2006/relationships/slideLayout" Target="../slideLayouts/slideLayout2.xml"/><Relationship Id="rId6" Type="http://schemas.openxmlformats.org/officeDocument/2006/relationships/hyperlink" Target="https://www.military.com/daily-news/2023/05/19/airmen-and-guardians-can-now-earn-medals-and-promotions-recruiting.html" TargetMode="External"/><Relationship Id="rId11" Type="http://schemas.openxmlformats.org/officeDocument/2006/relationships/hyperlink" Target="https://www.military.com/daily-news/2023/01/20/now-you-can-send-recruiters-after-almost-anyone-using-updated-air-force-app.html" TargetMode="External"/><Relationship Id="rId5" Type="http://schemas.openxmlformats.org/officeDocument/2006/relationships/hyperlink" Target="https://www.military.com/daily-news/2023/06/02/gen-amrhein-takes-over-air-force-recruiting-service-scrambles-add-airmen.html" TargetMode="External"/><Relationship Id="rId10" Type="http://schemas.openxmlformats.org/officeDocument/2006/relationships/hyperlink" Target="https://www.military.com/daily-news/2023/03/02/some-neck-and-hand-tattoos-ok-airmen-and-guardians-under-new-policy-aimed-helping-recruiting.html" TargetMode="External"/><Relationship Id="rId4" Type="http://schemas.openxmlformats.org/officeDocument/2006/relationships/hyperlink" Target="https://www.airforcetimes.com/news/your-air-force/2022/12/29/new-in-2023-air-force-tries-for-a-better-year-of-recruiting/#:~:text=Air%20Force%20recruiters%20again%20aim,Sgt." TargetMode="External"/><Relationship Id="rId9" Type="http://schemas.openxmlformats.org/officeDocument/2006/relationships/hyperlink" Target="https://www.military.com/daily-news/2023/03/09/new-air-force-recruits-could-get-65k-student-loan-repayments.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abct.org/fact-sheets/military-suicide/"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veteranshelpgroup.com/lead-exposure-during-military-service/#:~:text=Due%20to%20this%2C%20lead%20use,%2C%20artillery%2C%20ammunition%2C%20etc.&amp;text=Lead%20exposure%20is%20a%20known%20hazard%20of%20military%20service."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static.e-publishing.af.mil/production/1/af_a1/publication/afh1/afh1.pdf"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cbsnews.com/video/price-gouging-pentagon-military-contracts-60-minutes-video-2023-05-21/" TargetMode="External"/><Relationship Id="rId2" Type="http://schemas.openxmlformats.org/officeDocument/2006/relationships/hyperlink" Target="https://static.e-publishing.af.mil/production/1/saf_cn/publication/dafh33-337/dafh33-337.pdf" TargetMode="External"/><Relationship Id="rId1" Type="http://schemas.openxmlformats.org/officeDocument/2006/relationships/slideLayout" Target="../slideLayouts/slideLayout2.xml"/><Relationship Id="rId5" Type="http://schemas.openxmlformats.org/officeDocument/2006/relationships/hyperlink" Target="https://www.uso.org/stories/2990-what-are-the-mottos-of-the-6-branches-of-the-u-s-military#:~:text=Fly%2DFight%2DWin&#8221;,airmen%20to%20do%20the%20same." TargetMode="External"/><Relationship Id="rId4" Type="http://schemas.openxmlformats.org/officeDocument/2006/relationships/hyperlink" Target="https://apps.dtic.mil/sti/tr/pdf/ADA229124.pdf" TargetMode="External"/></Relationships>
</file>

<file path=ppt/slides/_rels/slide18.xml.rels><?xml version="1.0" encoding="UTF-8" standalone="yes"?>
<Relationships xmlns="http://schemas.openxmlformats.org/package/2006/relationships"><Relationship Id="rId2" Type="http://schemas.openxmlformats.org/officeDocument/2006/relationships/hyperlink" Target="https://pubmed.ncbi.nlm.nih.gov/34283458/"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businessinsider.com/hackers-us-air-force-satellite-space-win-50000-prize-security-2023-8" TargetMode="External"/><Relationship Id="rId2" Type="http://schemas.openxmlformats.org/officeDocument/2006/relationships/hyperlink" Target="https://static.e-publishing.af.mil/production/1/saf_cn/publication/dafh33-337/dafh33-337.pdf" TargetMode="External"/><Relationship Id="rId1" Type="http://schemas.openxmlformats.org/officeDocument/2006/relationships/slideLayout" Target="../slideLayouts/slideLayout2.xml"/><Relationship Id="rId4" Type="http://schemas.openxmlformats.org/officeDocument/2006/relationships/hyperlink" Target="https://www.uso.org/stories/2990-what-are-the-mottos-of-the-6-branches-of-the-u-s-military#:~:text=Fly%2DFight%2DWin&#8221;,airmen%20to%20do%20the%20sam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15EDA-23BC-9883-DFC0-74A99AC1F3A1}"/>
              </a:ext>
            </a:extLst>
          </p:cNvPr>
          <p:cNvSpPr>
            <a:spLocks noGrp="1"/>
          </p:cNvSpPr>
          <p:nvPr>
            <p:ph type="ctrTitle"/>
          </p:nvPr>
        </p:nvSpPr>
        <p:spPr/>
        <p:txBody>
          <a:bodyPr/>
          <a:lstStyle/>
          <a:p>
            <a:r>
              <a:rPr lang="en-US" dirty="0"/>
              <a:t>AI Chatbot Evaluation</a:t>
            </a:r>
          </a:p>
        </p:txBody>
      </p:sp>
      <p:sp>
        <p:nvSpPr>
          <p:cNvPr id="3" name="Subtitle 2">
            <a:extLst>
              <a:ext uri="{FF2B5EF4-FFF2-40B4-BE49-F238E27FC236}">
                <a16:creationId xmlns:a16="http://schemas.microsoft.com/office/drawing/2014/main" id="{F03AD529-DB4C-8156-34C8-3831AC342D0B}"/>
              </a:ext>
            </a:extLst>
          </p:cNvPr>
          <p:cNvSpPr>
            <a:spLocks noGrp="1"/>
          </p:cNvSpPr>
          <p:nvPr>
            <p:ph type="subTitle" idx="1"/>
          </p:nvPr>
        </p:nvSpPr>
        <p:spPr/>
        <p:txBody>
          <a:bodyPr/>
          <a:lstStyle/>
          <a:p>
            <a:r>
              <a:rPr lang="en-US" sz="4400" dirty="0"/>
              <a:t>Question Examples</a:t>
            </a:r>
          </a:p>
          <a:p>
            <a:r>
              <a:rPr lang="en-US" dirty="0"/>
              <a:t>Bianca </a:t>
            </a:r>
            <a:r>
              <a:rPr lang="en-US" dirty="0" err="1"/>
              <a:t>Swidler</a:t>
            </a:r>
            <a:endParaRPr lang="en-US" dirty="0"/>
          </a:p>
        </p:txBody>
      </p:sp>
    </p:spTree>
    <p:extLst>
      <p:ext uri="{BB962C8B-B14F-4D97-AF65-F5344CB8AC3E}">
        <p14:creationId xmlns:p14="http://schemas.microsoft.com/office/powerpoint/2010/main" val="3522247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r>
              <a:rPr lang="en-US" dirty="0"/>
              <a:t>Functions</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p:txBody>
          <a:bodyPr>
            <a:normAutofit/>
          </a:bodyPr>
          <a:lstStyle/>
          <a:p>
            <a:pPr marL="514350" indent="-514350">
              <a:buFont typeface="+mj-lt"/>
              <a:buAutoNum type="arabicPeriod"/>
            </a:pPr>
            <a:r>
              <a:rPr lang="en-US" dirty="0"/>
              <a:t>Domain of Cognition</a:t>
            </a:r>
          </a:p>
          <a:p>
            <a:pPr marL="514350" indent="-514350">
              <a:buFont typeface="+mj-lt"/>
              <a:buAutoNum type="arabicPeriod"/>
            </a:pPr>
            <a:r>
              <a:rPr lang="en-US" dirty="0"/>
              <a:t>Type of Processing</a:t>
            </a:r>
          </a:p>
          <a:p>
            <a:pPr marL="514350" indent="-514350">
              <a:buFont typeface="+mj-lt"/>
              <a:buAutoNum type="arabicPeriod"/>
            </a:pPr>
            <a:r>
              <a:rPr lang="en-US" dirty="0"/>
              <a:t>Modality</a:t>
            </a:r>
          </a:p>
          <a:p>
            <a:pPr marL="514350" indent="-514350">
              <a:buFont typeface="+mj-lt"/>
              <a:buAutoNum type="arabicPeriod"/>
            </a:pPr>
            <a:r>
              <a:rPr lang="en-US" dirty="0"/>
              <a:t>Temporal Aspects</a:t>
            </a:r>
          </a:p>
          <a:p>
            <a:pPr marL="514350" indent="-514350">
              <a:buFont typeface="+mj-lt"/>
              <a:buAutoNum type="arabicPeriod"/>
            </a:pPr>
            <a:r>
              <a:rPr lang="en-US" dirty="0"/>
              <a:t>Social Context</a:t>
            </a:r>
          </a:p>
          <a:p>
            <a:pPr marL="514350" indent="-514350">
              <a:buFont typeface="+mj-lt"/>
              <a:buAutoNum type="arabicPeriod"/>
            </a:pPr>
            <a:r>
              <a:rPr lang="en-US" dirty="0"/>
              <a:t>Functional Goal</a:t>
            </a:r>
          </a:p>
          <a:p>
            <a:pPr marL="514350" indent="-514350">
              <a:buFont typeface="+mj-lt"/>
              <a:buAutoNum type="arabicPeriod"/>
            </a:pPr>
            <a:r>
              <a:rPr lang="en-US" dirty="0"/>
              <a:t>Adaptation and Flexibility</a:t>
            </a:r>
          </a:p>
          <a:p>
            <a:pPr marL="514350" indent="-514350">
              <a:buFont typeface="+mj-lt"/>
              <a:buAutoNum type="arabicPeriod"/>
            </a:pPr>
            <a:r>
              <a:rPr lang="en-US" dirty="0"/>
              <a:t>Emotional Component</a:t>
            </a:r>
          </a:p>
        </p:txBody>
      </p:sp>
    </p:spTree>
    <p:extLst>
      <p:ext uri="{BB962C8B-B14F-4D97-AF65-F5344CB8AC3E}">
        <p14:creationId xmlns:p14="http://schemas.microsoft.com/office/powerpoint/2010/main" val="2962220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r>
              <a:rPr lang="en-US" dirty="0"/>
              <a:t>Key: Function</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838200" y="1825625"/>
            <a:ext cx="5348844" cy="4351338"/>
          </a:xfrm>
        </p:spPr>
        <p:txBody>
          <a:bodyPr/>
          <a:lstStyle/>
          <a:p>
            <a:r>
              <a:rPr lang="en-US" dirty="0"/>
              <a:t>Sub-function</a:t>
            </a:r>
          </a:p>
          <a:p>
            <a:pPr lvl="1"/>
            <a:r>
              <a:rPr lang="en-US" dirty="0"/>
              <a:t>Variable</a:t>
            </a:r>
          </a:p>
          <a:p>
            <a:pPr lvl="1"/>
            <a:r>
              <a:rPr lang="en-US" dirty="0"/>
              <a:t>Variable</a:t>
            </a:r>
          </a:p>
          <a:p>
            <a:pPr lvl="1"/>
            <a:r>
              <a:rPr lang="en-US" dirty="0"/>
              <a:t>variable</a:t>
            </a:r>
          </a:p>
          <a:p>
            <a:r>
              <a:rPr lang="en-US" dirty="0"/>
              <a:t>Sub function</a:t>
            </a:r>
          </a:p>
          <a:p>
            <a:pPr lvl="1"/>
            <a:r>
              <a:rPr lang="en-US" dirty="0"/>
              <a:t>Variable</a:t>
            </a:r>
          </a:p>
          <a:p>
            <a:pPr lvl="1"/>
            <a:r>
              <a:rPr lang="en-US" dirty="0"/>
              <a:t>variable</a:t>
            </a:r>
          </a:p>
          <a:p>
            <a:pPr marL="0" indent="0">
              <a:buNone/>
            </a:pPr>
            <a:endParaRPr lang="en-US" dirty="0"/>
          </a:p>
        </p:txBody>
      </p:sp>
      <p:sp>
        <p:nvSpPr>
          <p:cNvPr id="5" name="TextBox 4">
            <a:extLst>
              <a:ext uri="{FF2B5EF4-FFF2-40B4-BE49-F238E27FC236}">
                <a16:creationId xmlns:a16="http://schemas.microsoft.com/office/drawing/2014/main" id="{F07AB50D-0BCE-05B8-256E-A1201E2FC65A}"/>
              </a:ext>
            </a:extLst>
          </p:cNvPr>
          <p:cNvSpPr txBox="1"/>
          <p:nvPr/>
        </p:nvSpPr>
        <p:spPr>
          <a:xfrm>
            <a:off x="9135009" y="6488668"/>
            <a:ext cx="3056991" cy="369332"/>
          </a:xfrm>
          <a:prstGeom prst="rect">
            <a:avLst/>
          </a:prstGeom>
          <a:noFill/>
        </p:spPr>
        <p:txBody>
          <a:bodyPr wrap="none" rtlCol="0">
            <a:spAutoFit/>
          </a:bodyPr>
          <a:lstStyle/>
          <a:p>
            <a:r>
              <a:rPr lang="en-US" dirty="0"/>
              <a:t># function/ total # of functions</a:t>
            </a:r>
          </a:p>
        </p:txBody>
      </p:sp>
      <p:sp>
        <p:nvSpPr>
          <p:cNvPr id="8" name="Content Placeholder 2">
            <a:extLst>
              <a:ext uri="{FF2B5EF4-FFF2-40B4-BE49-F238E27FC236}">
                <a16:creationId xmlns:a16="http://schemas.microsoft.com/office/drawing/2014/main" id="{5C86B03E-8B62-EAA6-B85E-7F479C63DF51}"/>
              </a:ext>
            </a:extLst>
          </p:cNvPr>
          <p:cNvSpPr txBox="1">
            <a:spLocks/>
          </p:cNvSpPr>
          <p:nvPr/>
        </p:nvSpPr>
        <p:spPr>
          <a:xfrm>
            <a:off x="6733478" y="1825625"/>
            <a:ext cx="534884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Slides color key:</a:t>
            </a:r>
          </a:p>
          <a:p>
            <a:pPr lvl="1"/>
            <a:r>
              <a:rPr lang="en-US" dirty="0">
                <a:solidFill>
                  <a:srgbClr val="9D00F7"/>
                </a:solidFill>
              </a:rPr>
              <a:t>incomplete sub function</a:t>
            </a: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1557869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Key: Questions Slides: Sub-function</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254368" y="1775506"/>
            <a:ext cx="3760071" cy="2763960"/>
          </a:xfrm>
        </p:spPr>
        <p:txBody>
          <a:bodyPr>
            <a:normAutofit/>
          </a:bodyPr>
          <a:lstStyle/>
          <a:p>
            <a:r>
              <a:rPr lang="en-US" sz="2400" dirty="0"/>
              <a:t>variable</a:t>
            </a:r>
          </a:p>
          <a:p>
            <a:pPr lvl="1"/>
            <a:r>
              <a:rPr lang="en-US" sz="2000" dirty="0"/>
              <a:t>Basic – Bloom’s Taxonomy Level 1: Knowledge </a:t>
            </a:r>
          </a:p>
          <a:p>
            <a:pPr lvl="2"/>
            <a:r>
              <a:rPr lang="en-US" sz="1800" dirty="0"/>
              <a:t>Question 1</a:t>
            </a:r>
          </a:p>
          <a:p>
            <a:pPr lvl="2"/>
            <a:r>
              <a:rPr lang="en-US" sz="1800" dirty="0"/>
              <a:t>Question 2</a:t>
            </a:r>
          </a:p>
          <a:p>
            <a:pPr lvl="2"/>
            <a:r>
              <a:rPr lang="en-US" sz="1800" dirty="0"/>
              <a:t>Question 3</a:t>
            </a:r>
          </a:p>
        </p:txBody>
      </p:sp>
      <p:sp>
        <p:nvSpPr>
          <p:cNvPr id="4" name="TextBox 3">
            <a:extLst>
              <a:ext uri="{FF2B5EF4-FFF2-40B4-BE49-F238E27FC236}">
                <a16:creationId xmlns:a16="http://schemas.microsoft.com/office/drawing/2014/main" id="{09B3BD9E-F7AB-6D3E-B000-E68C16026097}"/>
              </a:ext>
            </a:extLst>
          </p:cNvPr>
          <p:cNvSpPr txBox="1"/>
          <p:nvPr/>
        </p:nvSpPr>
        <p:spPr>
          <a:xfrm>
            <a:off x="10026022" y="6488668"/>
            <a:ext cx="2165978" cy="369332"/>
          </a:xfrm>
          <a:prstGeom prst="rect">
            <a:avLst/>
          </a:prstGeom>
          <a:noFill/>
        </p:spPr>
        <p:txBody>
          <a:bodyPr wrap="none" rtlCol="0">
            <a:spAutoFit/>
          </a:bodyPr>
          <a:lstStyle/>
          <a:p>
            <a:r>
              <a:rPr lang="en-US" dirty="0"/>
              <a:t>Function # and name</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4762201" cy="369332"/>
          </a:xfrm>
          <a:prstGeom prst="rect">
            <a:avLst/>
          </a:prstGeom>
          <a:noFill/>
        </p:spPr>
        <p:txBody>
          <a:bodyPr wrap="none" rtlCol="0">
            <a:spAutoFit/>
          </a:bodyPr>
          <a:lstStyle/>
          <a:p>
            <a:r>
              <a:rPr lang="en-US" dirty="0"/>
              <a:t>Subfunction # / # of subfunctions in this function</a:t>
            </a:r>
          </a:p>
        </p:txBody>
      </p:sp>
      <p:sp>
        <p:nvSpPr>
          <p:cNvPr id="7" name="TextBox 6">
            <a:extLst>
              <a:ext uri="{FF2B5EF4-FFF2-40B4-BE49-F238E27FC236}">
                <a16:creationId xmlns:a16="http://schemas.microsoft.com/office/drawing/2014/main" id="{2A2B8511-18DA-B575-3E90-B042AACE39E5}"/>
              </a:ext>
            </a:extLst>
          </p:cNvPr>
          <p:cNvSpPr txBox="1"/>
          <p:nvPr/>
        </p:nvSpPr>
        <p:spPr>
          <a:xfrm>
            <a:off x="0" y="4129071"/>
            <a:ext cx="3495508" cy="1846659"/>
          </a:xfrm>
          <a:prstGeom prst="rect">
            <a:avLst/>
          </a:prstGeom>
          <a:noFill/>
        </p:spPr>
        <p:txBody>
          <a:bodyPr wrap="square" rtlCol="0">
            <a:spAutoFit/>
          </a:bodyPr>
          <a:lstStyle/>
          <a:p>
            <a:pPr marL="742950" lvl="1" indent="-285750">
              <a:buFont typeface="Arial" panose="020B0604020202020204" pitchFamily="34" charset="0"/>
              <a:buChar char="•"/>
            </a:pPr>
            <a:r>
              <a:rPr lang="en-US" sz="2000" dirty="0"/>
              <a:t>Intermediate – Bloom’s Taxonomy Level 2: Comprehension</a:t>
            </a:r>
          </a:p>
          <a:p>
            <a:pPr marL="1200150" lvl="2" indent="-285750">
              <a:buFont typeface="Arial" panose="020B0604020202020204" pitchFamily="34" charset="0"/>
              <a:buChar char="•"/>
            </a:pPr>
            <a:r>
              <a:rPr lang="en-US" dirty="0"/>
              <a:t>Question 1</a:t>
            </a:r>
          </a:p>
          <a:p>
            <a:pPr marL="1200150" lvl="2" indent="-285750">
              <a:buFont typeface="Arial" panose="020B0604020202020204" pitchFamily="34" charset="0"/>
              <a:buChar char="•"/>
            </a:pPr>
            <a:r>
              <a:rPr lang="en-US" dirty="0"/>
              <a:t>Question 2</a:t>
            </a:r>
          </a:p>
          <a:p>
            <a:pPr marL="1200150" lvl="2" indent="-285750">
              <a:buFont typeface="Arial" panose="020B0604020202020204" pitchFamily="34" charset="0"/>
              <a:buChar char="•"/>
            </a:pPr>
            <a:r>
              <a:rPr lang="en-US" dirty="0"/>
              <a:t>Question 3</a:t>
            </a:r>
            <a:endParaRPr lang="en-US" dirty="0">
              <a:solidFill>
                <a:srgbClr val="FF0000"/>
              </a:solidFill>
            </a:endParaRPr>
          </a:p>
        </p:txBody>
      </p:sp>
      <p:sp>
        <p:nvSpPr>
          <p:cNvPr id="8" name="TextBox 7">
            <a:extLst>
              <a:ext uri="{FF2B5EF4-FFF2-40B4-BE49-F238E27FC236}">
                <a16:creationId xmlns:a16="http://schemas.microsoft.com/office/drawing/2014/main" id="{7F4BA9A3-EEC1-3498-1361-9E7DA45D0F95}"/>
              </a:ext>
            </a:extLst>
          </p:cNvPr>
          <p:cNvSpPr txBox="1"/>
          <p:nvPr/>
        </p:nvSpPr>
        <p:spPr>
          <a:xfrm>
            <a:off x="3495508" y="2118275"/>
            <a:ext cx="4020414" cy="1846659"/>
          </a:xfrm>
          <a:prstGeom prst="rect">
            <a:avLst/>
          </a:prstGeom>
          <a:noFill/>
        </p:spPr>
        <p:txBody>
          <a:bodyPr wrap="square" rtlCol="0">
            <a:spAutoFit/>
          </a:bodyPr>
          <a:lstStyle/>
          <a:p>
            <a:pPr marL="742950" lvl="1" indent="-285750">
              <a:buFont typeface="Arial" panose="020B0604020202020204" pitchFamily="34" charset="0"/>
              <a:buChar char="•"/>
            </a:pPr>
            <a:r>
              <a:rPr lang="en-US" sz="2000" dirty="0"/>
              <a:t>Advanced – Bloom’s Taxonomy Level 3/4: Application + Analysis</a:t>
            </a:r>
            <a:endParaRPr lang="en-US" sz="1600" dirty="0"/>
          </a:p>
          <a:p>
            <a:pPr marL="1200150" lvl="2" indent="-285750">
              <a:buFont typeface="Arial" panose="020B0604020202020204" pitchFamily="34" charset="0"/>
              <a:buChar char="•"/>
            </a:pPr>
            <a:r>
              <a:rPr lang="en-US" dirty="0"/>
              <a:t>Question 1</a:t>
            </a:r>
          </a:p>
          <a:p>
            <a:pPr marL="1200150" lvl="2" indent="-285750">
              <a:buFont typeface="Arial" panose="020B0604020202020204" pitchFamily="34" charset="0"/>
              <a:buChar char="•"/>
            </a:pPr>
            <a:r>
              <a:rPr lang="en-US" dirty="0"/>
              <a:t>Question 2</a:t>
            </a:r>
          </a:p>
          <a:p>
            <a:pPr marL="1200150" lvl="2" indent="-285750">
              <a:buFont typeface="Arial" panose="020B0604020202020204" pitchFamily="34" charset="0"/>
              <a:buChar char="•"/>
            </a:pPr>
            <a:r>
              <a:rPr lang="en-US" dirty="0"/>
              <a:t>Question 3</a:t>
            </a:r>
            <a:endParaRPr lang="en-US" dirty="0">
              <a:solidFill>
                <a:srgbClr val="FF0000"/>
              </a:solidFill>
            </a:endParaRPr>
          </a:p>
        </p:txBody>
      </p:sp>
      <p:sp>
        <p:nvSpPr>
          <p:cNvPr id="9" name="TextBox 8">
            <a:extLst>
              <a:ext uri="{FF2B5EF4-FFF2-40B4-BE49-F238E27FC236}">
                <a16:creationId xmlns:a16="http://schemas.microsoft.com/office/drawing/2014/main" id="{1F7B4B8A-BC3D-6DE4-807C-BCFC1B4B7376}"/>
              </a:ext>
            </a:extLst>
          </p:cNvPr>
          <p:cNvSpPr txBox="1"/>
          <p:nvPr/>
        </p:nvSpPr>
        <p:spPr>
          <a:xfrm>
            <a:off x="3495508" y="4129071"/>
            <a:ext cx="3564082" cy="2123658"/>
          </a:xfrm>
          <a:prstGeom prst="rect">
            <a:avLst/>
          </a:prstGeom>
          <a:noFill/>
        </p:spPr>
        <p:txBody>
          <a:bodyPr wrap="square" rtlCol="0">
            <a:spAutoFit/>
          </a:bodyPr>
          <a:lstStyle/>
          <a:p>
            <a:pPr marL="742950" lvl="1" indent="-285750">
              <a:buFont typeface="Arial" panose="020B0604020202020204" pitchFamily="34" charset="0"/>
              <a:buChar char="•"/>
            </a:pPr>
            <a:r>
              <a:rPr lang="en-US" sz="2000" dirty="0"/>
              <a:t>Expert – Bloom’s Taxonomy Levels 5/6: Synthesis + Evaluation</a:t>
            </a:r>
            <a:endParaRPr lang="en-US" sz="1600" dirty="0"/>
          </a:p>
          <a:p>
            <a:pPr marL="1200150" lvl="2" indent="-285750">
              <a:buFont typeface="Arial" panose="020B0604020202020204" pitchFamily="34" charset="0"/>
              <a:buChar char="•"/>
            </a:pPr>
            <a:r>
              <a:rPr lang="en-US" dirty="0"/>
              <a:t>Question 1</a:t>
            </a:r>
          </a:p>
          <a:p>
            <a:pPr marL="1200150" lvl="2" indent="-285750">
              <a:buFont typeface="Arial" panose="020B0604020202020204" pitchFamily="34" charset="0"/>
              <a:buChar char="•"/>
            </a:pPr>
            <a:r>
              <a:rPr lang="en-US" dirty="0"/>
              <a:t>Question 2</a:t>
            </a:r>
          </a:p>
          <a:p>
            <a:pPr marL="1200150" lvl="2" indent="-285750">
              <a:buFont typeface="Arial" panose="020B0604020202020204" pitchFamily="34" charset="0"/>
              <a:buChar char="•"/>
            </a:pPr>
            <a:r>
              <a:rPr lang="en-US" dirty="0"/>
              <a:t>Question 3</a:t>
            </a:r>
            <a:endParaRPr lang="en-US" dirty="0">
              <a:solidFill>
                <a:srgbClr val="FF0000"/>
              </a:solidFill>
            </a:endParaRPr>
          </a:p>
          <a:p>
            <a:endParaRPr lang="en-US" dirty="0"/>
          </a:p>
        </p:txBody>
      </p:sp>
      <p:sp>
        <p:nvSpPr>
          <p:cNvPr id="10" name="TextBox 9">
            <a:extLst>
              <a:ext uri="{FF2B5EF4-FFF2-40B4-BE49-F238E27FC236}">
                <a16:creationId xmlns:a16="http://schemas.microsoft.com/office/drawing/2014/main" id="{C4A5D340-F1BF-A5B7-6080-A7C8A4D12F50}"/>
              </a:ext>
            </a:extLst>
          </p:cNvPr>
          <p:cNvSpPr txBox="1"/>
          <p:nvPr/>
        </p:nvSpPr>
        <p:spPr>
          <a:xfrm>
            <a:off x="7059590" y="2114475"/>
            <a:ext cx="4020414" cy="1846659"/>
          </a:xfrm>
          <a:prstGeom prst="rect">
            <a:avLst/>
          </a:prstGeom>
          <a:noFill/>
        </p:spPr>
        <p:txBody>
          <a:bodyPr wrap="square" rtlCol="0">
            <a:spAutoFit/>
          </a:bodyPr>
          <a:lstStyle/>
          <a:p>
            <a:pPr marL="742950" lvl="1" indent="-285750">
              <a:buFont typeface="Arial" panose="020B0604020202020204" pitchFamily="34" charset="0"/>
              <a:buChar char="•"/>
            </a:pPr>
            <a:r>
              <a:rPr lang="en-US" sz="2000" dirty="0"/>
              <a:t>Master</a:t>
            </a:r>
            <a:r>
              <a:rPr lang="en-US" sz="2000" dirty="0">
                <a:solidFill>
                  <a:srgbClr val="FF0000"/>
                </a:solidFill>
              </a:rPr>
              <a:t> </a:t>
            </a:r>
            <a:r>
              <a:rPr lang="en-US" sz="2000" dirty="0"/>
              <a:t>– Bloom’s Taxonomy Level 4/5: Analysis + Synthesis</a:t>
            </a:r>
          </a:p>
          <a:p>
            <a:pPr marL="1200150" lvl="2" indent="-285750">
              <a:buFont typeface="Arial" panose="020B0604020202020204" pitchFamily="34" charset="0"/>
              <a:buChar char="•"/>
            </a:pPr>
            <a:r>
              <a:rPr lang="en-US" dirty="0"/>
              <a:t>Question 1</a:t>
            </a:r>
          </a:p>
          <a:p>
            <a:pPr marL="1200150" lvl="2" indent="-285750">
              <a:buFont typeface="Arial" panose="020B0604020202020204" pitchFamily="34" charset="0"/>
              <a:buChar char="•"/>
            </a:pPr>
            <a:r>
              <a:rPr lang="en-US" dirty="0"/>
              <a:t>Question 2</a:t>
            </a:r>
          </a:p>
          <a:p>
            <a:pPr marL="1200150" lvl="2" indent="-285750">
              <a:buFont typeface="Arial" panose="020B0604020202020204" pitchFamily="34" charset="0"/>
              <a:buChar char="•"/>
            </a:pPr>
            <a:r>
              <a:rPr lang="en-US" dirty="0"/>
              <a:t>Question 3</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8442640" y="95641"/>
            <a:ext cx="3749360" cy="369332"/>
          </a:xfrm>
          <a:prstGeom prst="rect">
            <a:avLst/>
          </a:prstGeom>
          <a:noFill/>
        </p:spPr>
        <p:txBody>
          <a:bodyPr wrap="none" rtlCol="0">
            <a:spAutoFit/>
          </a:bodyPr>
          <a:lstStyle/>
          <a:p>
            <a:r>
              <a:rPr lang="en-US" dirty="0"/>
              <a:t># variable / # variables in sub function</a:t>
            </a:r>
          </a:p>
        </p:txBody>
      </p:sp>
      <p:sp>
        <p:nvSpPr>
          <p:cNvPr id="6" name="TextBox 5">
            <a:extLst>
              <a:ext uri="{FF2B5EF4-FFF2-40B4-BE49-F238E27FC236}">
                <a16:creationId xmlns:a16="http://schemas.microsoft.com/office/drawing/2014/main" id="{07C938FA-A3E8-7AC2-87BF-5B630EC7337F}"/>
              </a:ext>
            </a:extLst>
          </p:cNvPr>
          <p:cNvSpPr txBox="1"/>
          <p:nvPr/>
        </p:nvSpPr>
        <p:spPr>
          <a:xfrm>
            <a:off x="7515922" y="4303903"/>
            <a:ext cx="4489667" cy="2185214"/>
          </a:xfrm>
          <a:prstGeom prst="rect">
            <a:avLst/>
          </a:prstGeom>
          <a:noFill/>
        </p:spPr>
        <p:txBody>
          <a:bodyPr wrap="square" rtlCol="0">
            <a:spAutoFit/>
          </a:bodyPr>
          <a:lstStyle/>
          <a:p>
            <a:r>
              <a:rPr lang="en-US" dirty="0"/>
              <a:t>T/F: true/false</a:t>
            </a:r>
          </a:p>
          <a:p>
            <a:r>
              <a:rPr lang="en-US" dirty="0"/>
              <a:t>MC: multiple choice</a:t>
            </a:r>
            <a:r>
              <a:rPr lang="en-US" baseline="30000" dirty="0"/>
              <a:t>*</a:t>
            </a:r>
            <a:endParaRPr lang="en-US" dirty="0"/>
          </a:p>
          <a:p>
            <a:r>
              <a:rPr lang="en-US" dirty="0"/>
              <a:t>SR: short response</a:t>
            </a:r>
          </a:p>
          <a:p>
            <a:r>
              <a:rPr lang="en-US" dirty="0"/>
              <a:t>ER: extended response</a:t>
            </a:r>
          </a:p>
          <a:p>
            <a:r>
              <a:rPr lang="en-US" dirty="0"/>
              <a:t>MA: matching</a:t>
            </a:r>
          </a:p>
          <a:p>
            <a:r>
              <a:rPr lang="en-US" dirty="0"/>
              <a:t>CL: cloze (fill in blank)</a:t>
            </a:r>
          </a:p>
          <a:p>
            <a:r>
              <a:rPr lang="en-US" sz="1400" dirty="0"/>
              <a:t>* To do: generate and provide possible options, including corrected one, which are not yet included in the next slide</a:t>
            </a:r>
          </a:p>
        </p:txBody>
      </p:sp>
      <p:sp>
        <p:nvSpPr>
          <p:cNvPr id="11" name="TextBox 10">
            <a:extLst>
              <a:ext uri="{FF2B5EF4-FFF2-40B4-BE49-F238E27FC236}">
                <a16:creationId xmlns:a16="http://schemas.microsoft.com/office/drawing/2014/main" id="{E0004795-09C7-0D13-6555-172F8FEA3B4E}"/>
              </a:ext>
            </a:extLst>
          </p:cNvPr>
          <p:cNvSpPr txBox="1"/>
          <p:nvPr/>
        </p:nvSpPr>
        <p:spPr>
          <a:xfrm>
            <a:off x="108962" y="95641"/>
            <a:ext cx="4386714" cy="369332"/>
          </a:xfrm>
          <a:prstGeom prst="rect">
            <a:avLst/>
          </a:prstGeom>
          <a:noFill/>
        </p:spPr>
        <p:txBody>
          <a:bodyPr wrap="none" rtlCol="0">
            <a:spAutoFit/>
          </a:bodyPr>
          <a:lstStyle/>
          <a:p>
            <a:r>
              <a:rPr lang="en-US" dirty="0"/>
              <a:t># </a:t>
            </a:r>
            <a:r>
              <a:rPr lang="en-US" dirty="0" err="1"/>
              <a:t>pg</a:t>
            </a:r>
            <a:r>
              <a:rPr lang="en-US" dirty="0"/>
              <a:t> of variable / # total of pages for variable</a:t>
            </a:r>
          </a:p>
        </p:txBody>
      </p:sp>
    </p:spTree>
    <p:extLst>
      <p:ext uri="{BB962C8B-B14F-4D97-AF65-F5344CB8AC3E}">
        <p14:creationId xmlns:p14="http://schemas.microsoft.com/office/powerpoint/2010/main" val="641033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r>
              <a:rPr lang="en-US" dirty="0"/>
              <a:t>Domain of Cognition</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838200" y="1825625"/>
            <a:ext cx="5348844" cy="4351338"/>
          </a:xfrm>
        </p:spPr>
        <p:txBody>
          <a:bodyPr/>
          <a:lstStyle/>
          <a:p>
            <a:r>
              <a:rPr lang="en-US" dirty="0"/>
              <a:t>Perception</a:t>
            </a:r>
          </a:p>
          <a:p>
            <a:pPr lvl="1"/>
            <a:r>
              <a:rPr lang="en-US" dirty="0"/>
              <a:t>Parsing and interpreting text input</a:t>
            </a:r>
          </a:p>
          <a:p>
            <a:r>
              <a:rPr lang="en-US" dirty="0"/>
              <a:t>Memory</a:t>
            </a:r>
          </a:p>
          <a:p>
            <a:pPr lvl="1"/>
            <a:r>
              <a:rPr lang="en-US" dirty="0"/>
              <a:t>Retrieving relevant information</a:t>
            </a:r>
          </a:p>
          <a:p>
            <a:r>
              <a:rPr lang="en-US" dirty="0"/>
              <a:t>Language</a:t>
            </a:r>
          </a:p>
          <a:p>
            <a:pPr lvl="1"/>
            <a:r>
              <a:rPr lang="en-US" dirty="0"/>
              <a:t>Understanding human-like text</a:t>
            </a:r>
          </a:p>
          <a:p>
            <a:pPr lvl="1"/>
            <a:r>
              <a:rPr lang="en-US" dirty="0"/>
              <a:t>Generating human-like text</a:t>
            </a:r>
          </a:p>
          <a:p>
            <a:pPr marL="0" indent="0">
              <a:buNone/>
            </a:pPr>
            <a:endParaRPr lang="en-US" dirty="0"/>
          </a:p>
        </p:txBody>
      </p:sp>
      <p:sp>
        <p:nvSpPr>
          <p:cNvPr id="4" name="Content Placeholder 2">
            <a:extLst>
              <a:ext uri="{FF2B5EF4-FFF2-40B4-BE49-F238E27FC236}">
                <a16:creationId xmlns:a16="http://schemas.microsoft.com/office/drawing/2014/main" id="{C0071E2A-2151-BF25-DD38-07FD81FDFEF8}"/>
              </a:ext>
            </a:extLst>
          </p:cNvPr>
          <p:cNvSpPr txBox="1">
            <a:spLocks/>
          </p:cNvSpPr>
          <p:nvPr/>
        </p:nvSpPr>
        <p:spPr>
          <a:xfrm>
            <a:off x="6187044" y="1825625"/>
            <a:ext cx="534884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Reasoning and Problem Solving</a:t>
            </a:r>
          </a:p>
          <a:p>
            <a:pPr lvl="1"/>
            <a:r>
              <a:rPr lang="en-US" dirty="0"/>
              <a:t>Analyzing queries</a:t>
            </a:r>
          </a:p>
          <a:p>
            <a:pPr lvl="1"/>
            <a:r>
              <a:rPr lang="en-US" dirty="0"/>
              <a:t>Making inferences</a:t>
            </a:r>
          </a:p>
          <a:p>
            <a:pPr lvl="1"/>
            <a:r>
              <a:rPr lang="en-US" dirty="0"/>
              <a:t>Providing Solutions</a:t>
            </a:r>
          </a:p>
          <a:p>
            <a:pPr lvl="1"/>
            <a:endParaRPr lang="en-US" dirty="0"/>
          </a:p>
          <a:p>
            <a:pPr marL="0" indent="0">
              <a:buNone/>
            </a:pPr>
            <a:endParaRPr lang="en-US" dirty="0"/>
          </a:p>
        </p:txBody>
      </p:sp>
      <p:sp>
        <p:nvSpPr>
          <p:cNvPr id="5" name="TextBox 4">
            <a:extLst>
              <a:ext uri="{FF2B5EF4-FFF2-40B4-BE49-F238E27FC236}">
                <a16:creationId xmlns:a16="http://schemas.microsoft.com/office/drawing/2014/main" id="{F07AB50D-0BCE-05B8-256E-A1201E2FC65A}"/>
              </a:ext>
            </a:extLst>
          </p:cNvPr>
          <p:cNvSpPr txBox="1"/>
          <p:nvPr/>
        </p:nvSpPr>
        <p:spPr>
          <a:xfrm>
            <a:off x="11683527" y="6488668"/>
            <a:ext cx="508473" cy="369332"/>
          </a:xfrm>
          <a:prstGeom prst="rect">
            <a:avLst/>
          </a:prstGeom>
          <a:noFill/>
        </p:spPr>
        <p:txBody>
          <a:bodyPr wrap="none" rtlCol="0">
            <a:spAutoFit/>
          </a:bodyPr>
          <a:lstStyle/>
          <a:p>
            <a:r>
              <a:rPr lang="en-US" dirty="0"/>
              <a:t>1/8</a:t>
            </a:r>
          </a:p>
        </p:txBody>
      </p:sp>
    </p:spTree>
    <p:extLst>
      <p:ext uri="{BB962C8B-B14F-4D97-AF65-F5344CB8AC3E}">
        <p14:creationId xmlns:p14="http://schemas.microsoft.com/office/powerpoint/2010/main" val="1452225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Perception</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46284" y="1690688"/>
            <a:ext cx="11099432" cy="4570430"/>
          </a:xfrm>
        </p:spPr>
        <p:txBody>
          <a:bodyPr>
            <a:normAutofit fontScale="85000" lnSpcReduction="20000"/>
          </a:bodyPr>
          <a:lstStyle/>
          <a:p>
            <a:r>
              <a:rPr lang="en-US" dirty="0"/>
              <a:t>Parsing and interpreting text input</a:t>
            </a:r>
          </a:p>
          <a:p>
            <a:pPr lvl="1"/>
            <a:r>
              <a:rPr lang="en-US" dirty="0"/>
              <a:t>Basic: Knowledge</a:t>
            </a:r>
          </a:p>
          <a:p>
            <a:pPr lvl="2"/>
            <a:r>
              <a:rPr lang="en-US" dirty="0"/>
              <a:t>(T/F) Is Airman a proper noun?</a:t>
            </a:r>
          </a:p>
          <a:p>
            <a:pPr lvl="2"/>
            <a:r>
              <a:rPr lang="en-US" dirty="0"/>
              <a:t>(MC) What does the acronym AETC stand for in the context of the Air Force? </a:t>
            </a:r>
          </a:p>
          <a:p>
            <a:pPr lvl="2"/>
            <a:r>
              <a:rPr lang="en-US" dirty="0"/>
              <a:t>(MC) Select the keywords in this sentence: the future of the Air Force is evidence-based policy. </a:t>
            </a:r>
          </a:p>
          <a:p>
            <a:pPr lvl="2"/>
            <a:r>
              <a:rPr lang="en-US" dirty="0"/>
              <a:t>(SR) Provide spelling corrections to the following military vocabulary: (a) </a:t>
            </a:r>
            <a:r>
              <a:rPr lang="en-US" dirty="0" err="1"/>
              <a:t>c</a:t>
            </a:r>
            <a:r>
              <a:rPr lang="en-US" dirty="0" err="1">
                <a:solidFill>
                  <a:srgbClr val="FF0000"/>
                </a:solidFill>
              </a:rPr>
              <a:t>o</a:t>
            </a:r>
            <a:r>
              <a:rPr lang="en-US" dirty="0" err="1"/>
              <a:t>orps</a:t>
            </a:r>
            <a:r>
              <a:rPr lang="en-US" dirty="0"/>
              <a:t>, (b) </a:t>
            </a:r>
            <a:r>
              <a:rPr lang="en-US" dirty="0">
                <a:solidFill>
                  <a:srgbClr val="0563C1"/>
                </a:solidFill>
                <a:hlinkClick r:id="rId2">
                  <a:extLst>
                    <a:ext uri="{A12FA001-AC4F-418D-AE19-62706E023703}">
                      <ahyp:hlinkClr xmlns:ahyp="http://schemas.microsoft.com/office/drawing/2018/hyperlinkcolor" val="tx"/>
                    </a:ext>
                  </a:extLst>
                </a:hlinkClick>
              </a:rPr>
              <a:t>Ton</a:t>
            </a:r>
            <a:r>
              <a:rPr lang="en-US" dirty="0">
                <a:solidFill>
                  <a:srgbClr val="FF0000"/>
                </a:solidFill>
                <a:hlinkClick r:id="rId2">
                  <a:extLst>
                    <a:ext uri="{A12FA001-AC4F-418D-AE19-62706E023703}">
                      <ahyp:hlinkClr xmlns:ahyp="http://schemas.microsoft.com/office/drawing/2018/hyperlinkcolor" val="tx"/>
                    </a:ext>
                  </a:extLst>
                </a:hlinkClick>
              </a:rPr>
              <a:t>e</a:t>
            </a:r>
            <a:r>
              <a:rPr lang="en-US" dirty="0">
                <a:solidFill>
                  <a:srgbClr val="0563C1"/>
                </a:solidFill>
                <a:hlinkClick r:id="rId2">
                  <a:extLst>
                    <a:ext uri="{A12FA001-AC4F-418D-AE19-62706E023703}">
                      <ahyp:hlinkClr xmlns:ahyp="http://schemas.microsoft.com/office/drawing/2018/hyperlinkcolor" val="tx"/>
                    </a:ext>
                  </a:extLst>
                </a:hlinkClick>
              </a:rPr>
              <a:t> and Quill</a:t>
            </a:r>
            <a:r>
              <a:rPr lang="en-US" dirty="0"/>
              <a:t>, ( c) N</a:t>
            </a:r>
            <a:r>
              <a:rPr lang="en-US" dirty="0">
                <a:solidFill>
                  <a:srgbClr val="FF0000"/>
                </a:solidFill>
              </a:rPr>
              <a:t>A</a:t>
            </a:r>
            <a:r>
              <a:rPr lang="en-US" dirty="0"/>
              <a:t>ATO</a:t>
            </a:r>
          </a:p>
          <a:p>
            <a:pPr marL="742950" lvl="1" indent="-285750">
              <a:buFont typeface="Arial" panose="020B0604020202020204" pitchFamily="34" charset="0"/>
              <a:buChar char="•"/>
            </a:pPr>
            <a:r>
              <a:rPr lang="en-US" sz="2400" dirty="0"/>
              <a:t>Intermediate: Comprehension</a:t>
            </a:r>
          </a:p>
          <a:p>
            <a:pPr marL="1200150" lvl="2" indent="-285750">
              <a:buFont typeface="Arial" panose="020B0604020202020204" pitchFamily="34" charset="0"/>
              <a:buChar char="•"/>
            </a:pPr>
            <a:r>
              <a:rPr lang="en-US" sz="2000" dirty="0"/>
              <a:t>(SR) Identify the subject and provide the corrected spelling of the word based off of context: Militia and volunteer </a:t>
            </a:r>
            <a:r>
              <a:rPr lang="en-US" sz="2000" dirty="0">
                <a:solidFill>
                  <a:srgbClr val="FF0000"/>
                </a:solidFill>
              </a:rPr>
              <a:t>cores</a:t>
            </a:r>
            <a:r>
              <a:rPr lang="en-US" sz="2000" dirty="0"/>
              <a:t> are lawful combatants. </a:t>
            </a:r>
          </a:p>
          <a:p>
            <a:pPr marL="1200150" lvl="2" indent="-285750">
              <a:buFont typeface="Arial" panose="020B0604020202020204" pitchFamily="34" charset="0"/>
              <a:buChar char="•"/>
            </a:pPr>
            <a:r>
              <a:rPr lang="en-US" sz="2000" dirty="0"/>
              <a:t>(T/F) Did the Italian team </a:t>
            </a:r>
            <a:r>
              <a:rPr lang="en-US" sz="2000" dirty="0" err="1">
                <a:hlinkClick r:id="rId3"/>
              </a:rPr>
              <a:t>mHACKeroni</a:t>
            </a:r>
            <a:r>
              <a:rPr lang="en-US" sz="2000" dirty="0"/>
              <a:t> hack into an Air Force satellite in order to help the US strengthen its </a:t>
            </a:r>
            <a:r>
              <a:rPr lang="en-US" dirty="0"/>
              <a:t>defense strategy? </a:t>
            </a:r>
            <a:endParaRPr lang="en-US" sz="2000" dirty="0"/>
          </a:p>
          <a:p>
            <a:pPr marL="1200150" lvl="2" indent="-285750">
              <a:buFont typeface="Arial" panose="020B0604020202020204" pitchFamily="34" charset="0"/>
              <a:buChar char="•"/>
            </a:pPr>
            <a:r>
              <a:rPr lang="en-US" dirty="0"/>
              <a:t>(MC) Select the meaning of the following: the future of national defense is evidence-based policy. </a:t>
            </a:r>
          </a:p>
          <a:p>
            <a:pPr marL="742950" lvl="1" indent="-285750">
              <a:buFont typeface="Arial" panose="020B0604020202020204" pitchFamily="34" charset="0"/>
              <a:buChar char="•"/>
            </a:pPr>
            <a:r>
              <a:rPr lang="en-US" sz="2400" dirty="0"/>
              <a:t>Advanced: Application/Analysis</a:t>
            </a:r>
            <a:endParaRPr lang="en-US" dirty="0"/>
          </a:p>
          <a:p>
            <a:pPr marL="1200150" lvl="2" indent="-285750">
              <a:buFont typeface="Arial" panose="020B0604020202020204" pitchFamily="34" charset="0"/>
              <a:buChar char="•"/>
            </a:pPr>
            <a:r>
              <a:rPr lang="en-US" sz="2000" dirty="0"/>
              <a:t>(MC) If an employee fails to document thei</a:t>
            </a:r>
            <a:r>
              <a:rPr lang="en-US" dirty="0"/>
              <a:t>r </a:t>
            </a:r>
            <a:r>
              <a:rPr lang="en-US" dirty="0">
                <a:hlinkClick r:id="rId4"/>
              </a:rPr>
              <a:t>reportable information and contacts</a:t>
            </a:r>
            <a:r>
              <a:rPr lang="en-US" dirty="0"/>
              <a:t>, which of the following will result? </a:t>
            </a:r>
            <a:endParaRPr lang="en-US" sz="2000" dirty="0"/>
          </a:p>
          <a:p>
            <a:pPr marL="1200150" lvl="2" indent="-285750"/>
            <a:r>
              <a:rPr lang="en-US" dirty="0"/>
              <a:t>(MC) Select the statement that best describes the relationship between the Air Force and the Space Force. </a:t>
            </a:r>
            <a:endParaRPr lang="en-US" sz="2000" dirty="0"/>
          </a:p>
          <a:p>
            <a:pPr marL="1200150" lvl="2" indent="-285750"/>
            <a:r>
              <a:rPr lang="en-US" sz="2000" dirty="0"/>
              <a:t>(MC) What is the best meaning of the Air Force motto “</a:t>
            </a:r>
            <a:r>
              <a:rPr lang="en-US" sz="2000" dirty="0">
                <a:hlinkClick r:id="rId5"/>
              </a:rPr>
              <a:t>Aim High … Fly-Fight-Win</a:t>
            </a:r>
            <a:r>
              <a:rPr lang="en-US" sz="2000" dirty="0"/>
              <a:t>”? </a:t>
            </a:r>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347117" cy="369332"/>
          </a:xfrm>
          <a:prstGeom prst="rect">
            <a:avLst/>
          </a:prstGeom>
          <a:noFill/>
        </p:spPr>
        <p:txBody>
          <a:bodyPr wrap="none" rtlCol="0">
            <a:spAutoFit/>
          </a:bodyPr>
          <a:lstStyle/>
          <a:p>
            <a:r>
              <a:rPr lang="en-US" dirty="0"/>
              <a:t>1. Domain of Cognition</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1</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1 / 2</a:t>
            </a:r>
          </a:p>
        </p:txBody>
      </p:sp>
    </p:spTree>
    <p:extLst>
      <p:ext uri="{BB962C8B-B14F-4D97-AF65-F5344CB8AC3E}">
        <p14:creationId xmlns:p14="http://schemas.microsoft.com/office/powerpoint/2010/main" val="1062720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Perception</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11008364" cy="4570430"/>
          </a:xfrm>
        </p:spPr>
        <p:txBody>
          <a:bodyPr>
            <a:normAutofit lnSpcReduction="10000"/>
          </a:bodyPr>
          <a:lstStyle/>
          <a:p>
            <a:r>
              <a:rPr lang="en-US" sz="2400" dirty="0"/>
              <a:t>Parsing and interpreting text input</a:t>
            </a:r>
          </a:p>
          <a:p>
            <a:pPr lvl="1"/>
            <a:r>
              <a:rPr lang="en-US" sz="2000" dirty="0"/>
              <a:t>Expert</a:t>
            </a:r>
          </a:p>
          <a:p>
            <a:pPr lvl="2"/>
            <a:r>
              <a:rPr lang="en-US" sz="1700" dirty="0"/>
              <a:t>(MC/SR) Assuming Phase II, as found in the Point Paper on Suicide Prevention, has to occur after Phase I, reconstruct the timeline you provided in the starred question by adding Phase II in it. You may pick a date for Phase II that occurs after Phase I and before the event that was after Phase I in your previous timeline, if one exists. </a:t>
            </a:r>
          </a:p>
          <a:p>
            <a:pPr marL="1200150" lvl="2" indent="-285750">
              <a:buFont typeface="Arial" panose="020B0604020202020204" pitchFamily="34" charset="0"/>
              <a:buChar char="•"/>
            </a:pPr>
            <a:r>
              <a:rPr lang="en-US" sz="1700" dirty="0"/>
              <a:t>(MC/ER) What sources or line of logic might you use to decide when the right time to go to war is? </a:t>
            </a:r>
          </a:p>
          <a:p>
            <a:pPr marL="1200150" lvl="2" indent="-285750">
              <a:buFont typeface="Arial" panose="020B0604020202020204" pitchFamily="34" charset="0"/>
              <a:buChar char="•"/>
            </a:pPr>
            <a:r>
              <a:rPr lang="en-US" sz="1700" dirty="0"/>
              <a:t>(MC/ER) Evaluate the use of the derogatory phrase “chair force” as used to describe USAF. Select the most relevant reasons why people may agree or disagree with this phrase.  </a:t>
            </a:r>
          </a:p>
          <a:p>
            <a:pPr marL="742950" lvl="1" indent="-285750"/>
            <a:r>
              <a:rPr lang="en-US" sz="2000" dirty="0"/>
              <a:t>Master</a:t>
            </a:r>
          </a:p>
          <a:p>
            <a:pPr marL="1200150" lvl="2" indent="-285750"/>
            <a:r>
              <a:rPr lang="en-US" sz="1700" dirty="0"/>
              <a:t>(MC/ER) Using recent GPS news as well as the white paper “China’s </a:t>
            </a:r>
            <a:r>
              <a:rPr lang="en-US" sz="1700" dirty="0" err="1"/>
              <a:t>Beidou</a:t>
            </a:r>
            <a:r>
              <a:rPr lang="en-US" sz="1700" dirty="0"/>
              <a:t> in the New Era” from China’s </a:t>
            </a:r>
            <a:r>
              <a:rPr lang="en-US" sz="1700" i="1" dirty="0"/>
              <a:t>The </a:t>
            </a:r>
            <a:r>
              <a:rPr lang="en-US" sz="1700" i="1" dirty="0" err="1"/>
              <a:t>Beidou</a:t>
            </a:r>
            <a:r>
              <a:rPr lang="en-US" sz="1700" i="1" dirty="0"/>
              <a:t> Satellite Navigation System, </a:t>
            </a:r>
            <a:r>
              <a:rPr lang="en-US" sz="1700" dirty="0"/>
              <a:t>select the best synthesis of what an analogous white paper from the United State’s GPS would look like:</a:t>
            </a:r>
            <a:endParaRPr lang="en-US" sz="1700" i="1" dirty="0"/>
          </a:p>
          <a:p>
            <a:pPr marL="1200150" lvl="2" indent="-285750">
              <a:buFont typeface="Arial" panose="020B0604020202020204" pitchFamily="34" charset="0"/>
              <a:buChar char="•"/>
            </a:pPr>
            <a:r>
              <a:rPr lang="en-US" sz="1700" dirty="0"/>
              <a:t>(MC/ER) Choose the most effective description of what the Force Development Environment Assessment should include in its next iteration. </a:t>
            </a:r>
          </a:p>
          <a:p>
            <a:pPr marL="1200150" lvl="2" indent="-285750">
              <a:buFont typeface="Arial" panose="020B0604020202020204" pitchFamily="34" charset="0"/>
              <a:buChar char="•"/>
            </a:pPr>
            <a:r>
              <a:rPr lang="en-US" sz="1700" dirty="0"/>
              <a:t>(MC/ER) Select the most effective combination/schedule of roles [in a specific MAJCOM?] to achieve a mission-centric operation. </a:t>
            </a:r>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347117" cy="369332"/>
          </a:xfrm>
          <a:prstGeom prst="rect">
            <a:avLst/>
          </a:prstGeom>
          <a:noFill/>
        </p:spPr>
        <p:txBody>
          <a:bodyPr wrap="none" rtlCol="0">
            <a:spAutoFit/>
          </a:bodyPr>
          <a:lstStyle/>
          <a:p>
            <a:r>
              <a:rPr lang="en-US" dirty="0"/>
              <a:t>1. Domain of Cognition</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561372" cy="369332"/>
          </a:xfrm>
          <a:prstGeom prst="rect">
            <a:avLst/>
          </a:prstGeom>
          <a:noFill/>
        </p:spPr>
        <p:txBody>
          <a:bodyPr wrap="none" rtlCol="0">
            <a:spAutoFit/>
          </a:bodyPr>
          <a:lstStyle/>
          <a:p>
            <a:r>
              <a:rPr lang="en-US" dirty="0"/>
              <a:t>1/ 1</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2 / 2</a:t>
            </a:r>
          </a:p>
        </p:txBody>
      </p:sp>
    </p:spTree>
    <p:extLst>
      <p:ext uri="{BB962C8B-B14F-4D97-AF65-F5344CB8AC3E}">
        <p14:creationId xmlns:p14="http://schemas.microsoft.com/office/powerpoint/2010/main" val="3196815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Memory</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2899" y="1690688"/>
            <a:ext cx="5549716" cy="4570430"/>
          </a:xfrm>
        </p:spPr>
        <p:txBody>
          <a:bodyPr>
            <a:normAutofit fontScale="85000" lnSpcReduction="20000"/>
          </a:bodyPr>
          <a:lstStyle/>
          <a:p>
            <a:r>
              <a:rPr lang="en-US" sz="1900" dirty="0"/>
              <a:t>Retrieving relevant information – (first prompt used to answer questions on following slides)</a:t>
            </a:r>
          </a:p>
          <a:p>
            <a:pPr algn="ctr"/>
            <a:r>
              <a:rPr lang="en-US" sz="1900" dirty="0"/>
              <a:t>POINT PAPER on Air Force Recruiting Service Performance</a:t>
            </a:r>
          </a:p>
          <a:p>
            <a:pPr lvl="1"/>
            <a:r>
              <a:rPr lang="en-US" sz="1700" dirty="0"/>
              <a:t>PURPOSE</a:t>
            </a:r>
          </a:p>
          <a:p>
            <a:pPr lvl="2"/>
            <a:r>
              <a:rPr lang="en-US" sz="1500" dirty="0"/>
              <a:t>Brief the Assessments branch on current and projected Air Force recruiting performance.</a:t>
            </a:r>
          </a:p>
          <a:p>
            <a:pPr marL="742950" lvl="1" indent="-285750">
              <a:buFont typeface="Arial" panose="020B0604020202020204" pitchFamily="34" charset="0"/>
              <a:buChar char="•"/>
            </a:pPr>
            <a:r>
              <a:rPr lang="en-US" sz="1700" dirty="0"/>
              <a:t>DISCUSSION</a:t>
            </a:r>
          </a:p>
          <a:p>
            <a:pPr marL="1200150" lvl="2" indent="-285750">
              <a:buFont typeface="Arial" panose="020B0604020202020204" pitchFamily="34" charset="0"/>
              <a:buChar char="•"/>
            </a:pPr>
            <a:r>
              <a:rPr lang="en-US" sz="1500" dirty="0"/>
              <a:t>In 2022, the Air Force Recruiting Service (AFRS) </a:t>
            </a:r>
            <a:r>
              <a:rPr lang="en-US" sz="1500" dirty="0">
                <a:hlinkClick r:id="rId2"/>
              </a:rPr>
              <a:t>just hit its recruiting goal</a:t>
            </a:r>
            <a:r>
              <a:rPr lang="en-US" sz="1500" dirty="0"/>
              <a:t>, while the Reserves and Guard missed their goal by </a:t>
            </a:r>
            <a:r>
              <a:rPr lang="en-US" sz="1500" dirty="0">
                <a:hlinkClick r:id="rId3"/>
              </a:rPr>
              <a:t>1500 to 2000 </a:t>
            </a:r>
            <a:r>
              <a:rPr lang="en-US" sz="1500" dirty="0"/>
              <a:t>personnel. </a:t>
            </a:r>
          </a:p>
          <a:p>
            <a:pPr marL="1200150" lvl="2" indent="-285750">
              <a:buFont typeface="Arial" panose="020B0604020202020204" pitchFamily="34" charset="0"/>
              <a:buChar char="•"/>
            </a:pPr>
            <a:r>
              <a:rPr lang="en-US" sz="1500" dirty="0"/>
              <a:t>By the end of 2023, AFRS is projected to miss its recruiting goal of </a:t>
            </a:r>
            <a:r>
              <a:rPr lang="en-US" sz="1500" dirty="0">
                <a:hlinkClick r:id="rId4"/>
              </a:rPr>
              <a:t>nearly 27000 </a:t>
            </a:r>
            <a:r>
              <a:rPr lang="en-US" sz="1500" dirty="0"/>
              <a:t>by </a:t>
            </a:r>
            <a:r>
              <a:rPr lang="en-US" sz="1500" dirty="0">
                <a:hlinkClick r:id="rId2"/>
              </a:rPr>
              <a:t>10 percent</a:t>
            </a:r>
            <a:r>
              <a:rPr lang="en-US" sz="1500" dirty="0"/>
              <a:t>.</a:t>
            </a:r>
          </a:p>
          <a:p>
            <a:pPr marL="1200150" lvl="2" indent="-285750"/>
            <a:r>
              <a:rPr lang="en-US" sz="1500" dirty="0"/>
              <a:t>On Jun 2, 2023, Brig. Gen. Christopher </a:t>
            </a:r>
            <a:r>
              <a:rPr lang="en-US" sz="1500" dirty="0" err="1"/>
              <a:t>Amrhein</a:t>
            </a:r>
            <a:r>
              <a:rPr lang="en-US" sz="1500" dirty="0"/>
              <a:t> replaced retiring Maj. Gen. Ed Thomas as the new AFRS commander. </a:t>
            </a:r>
          </a:p>
          <a:p>
            <a:pPr marL="1200150" lvl="2" indent="-285750"/>
            <a:r>
              <a:rPr lang="en-US" sz="1500" dirty="0">
                <a:hlinkClick r:id="rId5"/>
              </a:rPr>
              <a:t>Six </a:t>
            </a:r>
            <a:r>
              <a:rPr lang="en-US" sz="1500" dirty="0">
                <a:latin typeface="Calibri" panose="020F0502020204030204" pitchFamily="34" charset="0"/>
                <a:cs typeface="Calibri" panose="020F0502020204030204" pitchFamily="34" charset="0"/>
                <a:hlinkClick r:id="rId5"/>
              </a:rPr>
              <a:t>new </a:t>
            </a:r>
            <a:r>
              <a:rPr lang="en-US" sz="1500" b="0" i="0" dirty="0">
                <a:solidFill>
                  <a:srgbClr val="292B2C"/>
                </a:solidFill>
                <a:effectLst/>
                <a:latin typeface="Calibri" panose="020F0502020204030204" pitchFamily="34" charset="0"/>
                <a:cs typeface="Calibri" panose="020F0502020204030204" pitchFamily="34" charset="0"/>
                <a:hlinkClick r:id="rId5"/>
              </a:rPr>
              <a:t>policy changes </a:t>
            </a:r>
            <a:r>
              <a:rPr lang="en-US" sz="1500" b="0" i="0" dirty="0">
                <a:solidFill>
                  <a:srgbClr val="292B2C"/>
                </a:solidFill>
                <a:effectLst/>
                <a:latin typeface="Calibri" panose="020F0502020204030204" pitchFamily="34" charset="0"/>
                <a:cs typeface="Calibri" panose="020F0502020204030204" pitchFamily="34" charset="0"/>
              </a:rPr>
              <a:t>to incentivize AF service include:</a:t>
            </a:r>
          </a:p>
          <a:p>
            <a:pPr marL="1657350" lvl="3" indent="-285750"/>
            <a:r>
              <a:rPr lang="en-US" sz="1300" b="0" i="0" u="sng" dirty="0">
                <a:solidFill>
                  <a:srgbClr val="00529B"/>
                </a:solidFill>
                <a:effectLst/>
                <a:latin typeface="Calibri" panose="020F0502020204030204" pitchFamily="34" charset="0"/>
                <a:cs typeface="Calibri" panose="020F0502020204030204" pitchFamily="34" charset="0"/>
                <a:hlinkClick r:id="rId6"/>
              </a:rPr>
              <a:t>1. offering medals and promotions</a:t>
            </a:r>
            <a:r>
              <a:rPr lang="en-US" sz="1300" b="0" i="0" dirty="0">
                <a:solidFill>
                  <a:srgbClr val="292B2C"/>
                </a:solidFill>
                <a:effectLst/>
                <a:latin typeface="Calibri" panose="020F0502020204030204" pitchFamily="34" charset="0"/>
                <a:cs typeface="Calibri" panose="020F0502020204030204" pitchFamily="34" charset="0"/>
              </a:rPr>
              <a:t> for recruiting; </a:t>
            </a:r>
          </a:p>
          <a:p>
            <a:pPr marL="1657350" lvl="3" indent="-285750"/>
            <a:r>
              <a:rPr lang="en-US" sz="1300" b="0" i="0" u="sng" dirty="0">
                <a:solidFill>
                  <a:srgbClr val="00529B"/>
                </a:solidFill>
                <a:effectLst/>
                <a:latin typeface="Calibri" panose="020F0502020204030204" pitchFamily="34" charset="0"/>
                <a:cs typeface="Calibri" panose="020F0502020204030204" pitchFamily="34" charset="0"/>
                <a:hlinkClick r:id="rId7"/>
              </a:rPr>
              <a:t>2. streamlining the naturalization process</a:t>
            </a:r>
            <a:r>
              <a:rPr lang="en-US" sz="1300" b="0" i="0" dirty="0">
                <a:solidFill>
                  <a:srgbClr val="292B2C"/>
                </a:solidFill>
                <a:effectLst/>
                <a:latin typeface="Calibri" panose="020F0502020204030204" pitchFamily="34" charset="0"/>
                <a:cs typeface="Calibri" panose="020F0502020204030204" pitchFamily="34" charset="0"/>
              </a:rPr>
              <a:t> so recruits can become citizens during basic military training; </a:t>
            </a:r>
          </a:p>
          <a:p>
            <a:pPr marL="1657350" lvl="3" indent="-285750"/>
            <a:r>
              <a:rPr lang="en-US" sz="1300" b="0" i="0" u="sng" dirty="0">
                <a:solidFill>
                  <a:srgbClr val="00529B"/>
                </a:solidFill>
                <a:effectLst/>
                <a:latin typeface="Calibri" panose="020F0502020204030204" pitchFamily="34" charset="0"/>
                <a:cs typeface="Calibri" panose="020F0502020204030204" pitchFamily="34" charset="0"/>
                <a:hlinkClick r:id="rId8"/>
              </a:rPr>
              <a:t>3. offering reserve bonuses</a:t>
            </a:r>
            <a:r>
              <a:rPr lang="en-US" sz="1300" b="0" i="0" dirty="0">
                <a:solidFill>
                  <a:srgbClr val="292B2C"/>
                </a:solidFill>
                <a:effectLst/>
                <a:latin typeface="Calibri" panose="020F0502020204030204" pitchFamily="34" charset="0"/>
                <a:cs typeface="Calibri" panose="020F0502020204030204" pitchFamily="34" charset="0"/>
              </a:rPr>
              <a:t> for prior-service airmen;</a:t>
            </a:r>
          </a:p>
          <a:p>
            <a:pPr marL="1657350" lvl="3" indent="-285750"/>
            <a:r>
              <a:rPr lang="en-US" sz="1300" b="0" i="0" dirty="0">
                <a:solidFill>
                  <a:srgbClr val="292B2C"/>
                </a:solidFill>
                <a:effectLst/>
                <a:latin typeface="Calibri" panose="020F0502020204030204" pitchFamily="34" charset="0"/>
                <a:cs typeface="Calibri" panose="020F0502020204030204" pitchFamily="34" charset="0"/>
              </a:rPr>
              <a:t>4. reinstating the </a:t>
            </a:r>
            <a:r>
              <a:rPr lang="en-US" sz="1300" b="0" i="0" u="sng" dirty="0">
                <a:solidFill>
                  <a:srgbClr val="00529B"/>
                </a:solidFill>
                <a:effectLst/>
                <a:latin typeface="Calibri" panose="020F0502020204030204" pitchFamily="34" charset="0"/>
                <a:cs typeface="Calibri" panose="020F0502020204030204" pitchFamily="34" charset="0"/>
                <a:hlinkClick r:id="rId9"/>
              </a:rPr>
              <a:t>Enlisted College Loan Repayment Program</a:t>
            </a:r>
            <a:r>
              <a:rPr lang="en-US" sz="1300" b="0" i="0" dirty="0">
                <a:solidFill>
                  <a:srgbClr val="292B2C"/>
                </a:solidFill>
                <a:effectLst/>
                <a:latin typeface="Calibri" panose="020F0502020204030204" pitchFamily="34" charset="0"/>
                <a:cs typeface="Calibri" panose="020F0502020204030204" pitchFamily="34" charset="0"/>
              </a:rPr>
              <a:t>; </a:t>
            </a:r>
          </a:p>
          <a:p>
            <a:pPr marL="1657350" lvl="3" indent="-285750"/>
            <a:r>
              <a:rPr lang="en-US" sz="1300" b="0" i="0" dirty="0">
                <a:solidFill>
                  <a:srgbClr val="292B2C"/>
                </a:solidFill>
                <a:effectLst/>
                <a:latin typeface="Calibri" panose="020F0502020204030204" pitchFamily="34" charset="0"/>
                <a:cs typeface="Calibri" panose="020F0502020204030204" pitchFamily="34" charset="0"/>
              </a:rPr>
              <a:t>5. allowing certain </a:t>
            </a:r>
            <a:r>
              <a:rPr lang="en-US" sz="1300" b="0" i="0" u="sng" dirty="0">
                <a:solidFill>
                  <a:srgbClr val="00529B"/>
                </a:solidFill>
                <a:effectLst/>
                <a:latin typeface="Calibri" panose="020F0502020204030204" pitchFamily="34" charset="0"/>
                <a:cs typeface="Calibri" panose="020F0502020204030204" pitchFamily="34" charset="0"/>
                <a:hlinkClick r:id="rId10"/>
              </a:rPr>
              <a:t>tattoos on the hands and neck</a:t>
            </a:r>
            <a:r>
              <a:rPr lang="en-US" sz="1300" b="0" i="0" dirty="0">
                <a:solidFill>
                  <a:srgbClr val="292B2C"/>
                </a:solidFill>
                <a:effectLst/>
                <a:latin typeface="Calibri" panose="020F0502020204030204" pitchFamily="34" charset="0"/>
                <a:cs typeface="Calibri" panose="020F0502020204030204" pitchFamily="34" charset="0"/>
              </a:rPr>
              <a:t>; and </a:t>
            </a:r>
          </a:p>
          <a:p>
            <a:pPr marL="1657350" lvl="3" indent="-285750"/>
            <a:r>
              <a:rPr lang="en-US" sz="1300" b="0" i="0" dirty="0">
                <a:solidFill>
                  <a:srgbClr val="292B2C"/>
                </a:solidFill>
                <a:effectLst/>
                <a:latin typeface="Calibri" panose="020F0502020204030204" pitchFamily="34" charset="0"/>
                <a:cs typeface="Calibri" panose="020F0502020204030204" pitchFamily="34" charset="0"/>
              </a:rPr>
              <a:t>6. unveiling a new smartphone feature that allows </a:t>
            </a:r>
            <a:r>
              <a:rPr lang="en-US" sz="1300" b="0" i="0" u="sng" dirty="0">
                <a:solidFill>
                  <a:srgbClr val="00529B"/>
                </a:solidFill>
                <a:effectLst/>
                <a:latin typeface="Calibri" panose="020F0502020204030204" pitchFamily="34" charset="0"/>
                <a:cs typeface="Calibri" panose="020F0502020204030204" pitchFamily="34" charset="0"/>
                <a:hlinkClick r:id="rId11"/>
              </a:rPr>
              <a:t>airmen to send info</a:t>
            </a:r>
            <a:r>
              <a:rPr lang="en-US" sz="1300" b="0" i="0" dirty="0">
                <a:solidFill>
                  <a:srgbClr val="292B2C"/>
                </a:solidFill>
                <a:effectLst/>
                <a:latin typeface="Calibri" panose="020F0502020204030204" pitchFamily="34" charset="0"/>
                <a:cs typeface="Calibri" panose="020F0502020204030204" pitchFamily="34" charset="0"/>
              </a:rPr>
              <a:t> on almost anyone to a recruiter.</a:t>
            </a:r>
            <a:endParaRPr lang="en-US" sz="1300" dirty="0">
              <a:latin typeface="Calibri" panose="020F0502020204030204" pitchFamily="34" charset="0"/>
              <a:cs typeface="Calibri" panose="020F0502020204030204" pitchFamily="34" charset="0"/>
            </a:endParaRPr>
          </a:p>
          <a:p>
            <a:pPr marL="914400" lvl="2" indent="0">
              <a:buNone/>
            </a:pPr>
            <a:endParaRPr lang="en-US" sz="1200" dirty="0"/>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347117" cy="369332"/>
          </a:xfrm>
          <a:prstGeom prst="rect">
            <a:avLst/>
          </a:prstGeom>
          <a:noFill/>
        </p:spPr>
        <p:txBody>
          <a:bodyPr wrap="none" rtlCol="0">
            <a:spAutoFit/>
          </a:bodyPr>
          <a:lstStyle/>
          <a:p>
            <a:r>
              <a:rPr lang="en-US" dirty="0"/>
              <a:t>1. Domain of Cognition</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2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1</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0 / 2</a:t>
            </a:r>
          </a:p>
        </p:txBody>
      </p:sp>
      <p:sp>
        <p:nvSpPr>
          <p:cNvPr id="6" name="Content Placeholder 2">
            <a:extLst>
              <a:ext uri="{FF2B5EF4-FFF2-40B4-BE49-F238E27FC236}">
                <a16:creationId xmlns:a16="http://schemas.microsoft.com/office/drawing/2014/main" id="{592BF241-22D2-23F8-902C-20EF75C116EF}"/>
              </a:ext>
            </a:extLst>
          </p:cNvPr>
          <p:cNvSpPr txBox="1">
            <a:spLocks/>
          </p:cNvSpPr>
          <p:nvPr/>
        </p:nvSpPr>
        <p:spPr>
          <a:xfrm>
            <a:off x="6357609" y="1686391"/>
            <a:ext cx="5580154" cy="457043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t>Retrieving relevant information – (second prompt used to answer questions on following slides)</a:t>
            </a:r>
          </a:p>
          <a:p>
            <a:pPr algn="ctr"/>
            <a:r>
              <a:rPr lang="en-US" sz="2100" dirty="0"/>
              <a:t>POINT PAPER on Military Suicide Prevention</a:t>
            </a:r>
          </a:p>
          <a:p>
            <a:pPr lvl="1"/>
            <a:r>
              <a:rPr lang="en-US" sz="1800" dirty="0"/>
              <a:t>PURPOSE</a:t>
            </a:r>
          </a:p>
          <a:p>
            <a:pPr lvl="2"/>
            <a:r>
              <a:rPr lang="en-US" sz="1500" dirty="0"/>
              <a:t>Overview current SPRIRC recommendations and implementation for General-level leadership.  </a:t>
            </a:r>
          </a:p>
          <a:p>
            <a:pPr marL="742950" lvl="1" indent="-285750"/>
            <a:r>
              <a:rPr lang="en-US" sz="1800" dirty="0"/>
              <a:t>DISCUSSION</a:t>
            </a:r>
          </a:p>
          <a:p>
            <a:pPr marL="1200150" lvl="2" indent="-285750"/>
            <a:r>
              <a:rPr lang="en-US" sz="1500" dirty="0"/>
              <a:t>On March 22, 2022, Secretary of Defense Lloyd J. Austin III established a task force (Suicide Prevention and Response Independent Review Committee (</a:t>
            </a:r>
            <a:r>
              <a:rPr lang="en-US" sz="1500" dirty="0">
                <a:hlinkClick r:id="rId12"/>
              </a:rPr>
              <a:t>SPRIRC</a:t>
            </a:r>
            <a:r>
              <a:rPr lang="en-US" sz="1500" dirty="0"/>
              <a:t>)) to recommend suicide awareness and prevention strategy. </a:t>
            </a:r>
          </a:p>
          <a:p>
            <a:pPr marL="1200150" lvl="2" indent="-285750"/>
            <a:r>
              <a:rPr lang="en-US" sz="1500" dirty="0"/>
              <a:t>In February 2023, SPRIRC presented their recommendations.</a:t>
            </a:r>
          </a:p>
          <a:p>
            <a:pPr marL="1200150" lvl="2" indent="-285750"/>
            <a:r>
              <a:rPr lang="en-US" sz="1500" dirty="0"/>
              <a:t>In March 2023, for Phase I of the approach, the secretary approved of SPRIRC’s implementation 10. This consists of, for instance:</a:t>
            </a:r>
          </a:p>
          <a:p>
            <a:pPr marL="1657350" lvl="3" indent="-285750"/>
            <a:r>
              <a:rPr lang="en-US" sz="1300" dirty="0"/>
              <a:t>Expedite behavior health professional hiring</a:t>
            </a:r>
          </a:p>
          <a:p>
            <a:pPr marL="1657350" lvl="3" indent="-285750"/>
            <a:r>
              <a:rPr lang="en-US" sz="1300" dirty="0"/>
              <a:t>Expand access to mental and behavioral health care</a:t>
            </a:r>
          </a:p>
          <a:p>
            <a:pPr marL="1200150" lvl="2" indent="-285750"/>
            <a:r>
              <a:rPr lang="en-US" sz="1500" dirty="0"/>
              <a:t>Phase II will have the Suicide Prevention Implementation Working Group established in order to address, approve, and implement the other recommendations. </a:t>
            </a:r>
            <a:endParaRPr lang="en-US" sz="1300" dirty="0"/>
          </a:p>
        </p:txBody>
      </p:sp>
    </p:spTree>
    <p:extLst>
      <p:ext uri="{BB962C8B-B14F-4D97-AF65-F5344CB8AC3E}">
        <p14:creationId xmlns:p14="http://schemas.microsoft.com/office/powerpoint/2010/main" val="2659263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Memory</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46284" y="1690688"/>
            <a:ext cx="11099432" cy="4570430"/>
          </a:xfrm>
        </p:spPr>
        <p:txBody>
          <a:bodyPr>
            <a:normAutofit fontScale="85000" lnSpcReduction="20000"/>
          </a:bodyPr>
          <a:lstStyle/>
          <a:p>
            <a:r>
              <a:rPr lang="en-US" dirty="0"/>
              <a:t>Retrieving relevant information</a:t>
            </a:r>
          </a:p>
          <a:p>
            <a:pPr lvl="1"/>
            <a:r>
              <a:rPr lang="en-US" dirty="0"/>
              <a:t>Basic</a:t>
            </a:r>
          </a:p>
          <a:p>
            <a:pPr lvl="2"/>
            <a:r>
              <a:rPr lang="en-US" dirty="0"/>
              <a:t>(T/F) Using the Point Paper provided, will the Air Force hit its 2023 recruiting goals? </a:t>
            </a:r>
          </a:p>
          <a:p>
            <a:pPr lvl="2"/>
            <a:r>
              <a:rPr lang="en-US" dirty="0"/>
              <a:t>(MC) How many new recruiting incentives are outlined in the AFRS Point Paper? Please list them out. </a:t>
            </a:r>
          </a:p>
          <a:p>
            <a:pPr lvl="2"/>
            <a:r>
              <a:rPr lang="en-US" dirty="0"/>
              <a:t>(MC) Which of the two Point Papers was provided first in the prompt?  </a:t>
            </a:r>
          </a:p>
          <a:p>
            <a:pPr lvl="2"/>
            <a:r>
              <a:rPr lang="en-US" dirty="0"/>
              <a:t>(SR) Which first three new recruiting incentives did you respond with in the second question? </a:t>
            </a:r>
          </a:p>
          <a:p>
            <a:pPr marL="742950" lvl="1" indent="-285750">
              <a:buFont typeface="Arial" panose="020B0604020202020204" pitchFamily="34" charset="0"/>
              <a:buChar char="•"/>
            </a:pPr>
            <a:r>
              <a:rPr lang="en-US" sz="2400" dirty="0"/>
              <a:t>Intermediate</a:t>
            </a:r>
          </a:p>
          <a:p>
            <a:pPr marL="1200150" lvl="2" indent="-285750">
              <a:buFont typeface="Arial" panose="020B0604020202020204" pitchFamily="34" charset="0"/>
              <a:buChar char="•"/>
            </a:pPr>
            <a:r>
              <a:rPr lang="en-US" sz="2000" dirty="0"/>
              <a:t>(SR) Based on information provided in the AFRS Point Paper, how many different commanders have so far held the position in 2023? </a:t>
            </a:r>
          </a:p>
          <a:p>
            <a:pPr marL="1200150" lvl="2" indent="-285750">
              <a:buFont typeface="Arial" panose="020B0604020202020204" pitchFamily="34" charset="0"/>
              <a:buChar char="•"/>
            </a:pPr>
            <a:r>
              <a:rPr lang="en-US" sz="2000" dirty="0"/>
              <a:t>(T/F) In 2023, how many more personnel would AFRS need to recruit to meet its goals? </a:t>
            </a:r>
          </a:p>
          <a:p>
            <a:pPr marL="1200150" lvl="2" indent="-285750">
              <a:buFont typeface="Arial" panose="020B0604020202020204" pitchFamily="34" charset="0"/>
              <a:buChar char="•"/>
            </a:pPr>
            <a:r>
              <a:rPr lang="en-US" dirty="0"/>
              <a:t>(MC) Select the list of recipients of both the Point Papers in the order that the Point Papers are provided:</a:t>
            </a:r>
          </a:p>
          <a:p>
            <a:pPr marL="742950" lvl="1" indent="-285750">
              <a:buFont typeface="Arial" panose="020B0604020202020204" pitchFamily="34" charset="0"/>
              <a:buChar char="•"/>
            </a:pPr>
            <a:r>
              <a:rPr lang="en-US" sz="2400" dirty="0"/>
              <a:t>Advanced</a:t>
            </a:r>
            <a:endParaRPr lang="en-US" dirty="0"/>
          </a:p>
          <a:p>
            <a:pPr marL="1200150" lvl="2" indent="-285750">
              <a:buFont typeface="Arial" panose="020B0604020202020204" pitchFamily="34" charset="0"/>
              <a:buChar char="•"/>
            </a:pPr>
            <a:r>
              <a:rPr lang="en-US" sz="2000" dirty="0"/>
              <a:t>(MC/SR) [Construct/select] a</a:t>
            </a:r>
            <a:r>
              <a:rPr lang="en-US" dirty="0"/>
              <a:t> correct timeline, combining the dated events from both of the Point Papers.* </a:t>
            </a:r>
            <a:endParaRPr lang="en-US" sz="2000" dirty="0"/>
          </a:p>
          <a:p>
            <a:pPr marL="1200150" lvl="2" indent="-285750"/>
            <a:r>
              <a:rPr lang="en-US" dirty="0"/>
              <a:t>(MC) If a recruit with a “Go Army, Beat Navy” tattoo on their neck is allowed to enlist, which number policy change does that follow (if any)?  </a:t>
            </a:r>
          </a:p>
          <a:p>
            <a:pPr marL="1200150" lvl="2" indent="-285750"/>
            <a:r>
              <a:rPr lang="en-US" sz="2000" dirty="0"/>
              <a:t>(MC/SR) Would implementation 10 outlined in the Point Paper on Military Suicide Prevention belong in the Point Paper provided before it? Select the best explanation for why or why not: </a:t>
            </a:r>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347117" cy="369332"/>
          </a:xfrm>
          <a:prstGeom prst="rect">
            <a:avLst/>
          </a:prstGeom>
          <a:noFill/>
        </p:spPr>
        <p:txBody>
          <a:bodyPr wrap="none" rtlCol="0">
            <a:spAutoFit/>
          </a:bodyPr>
          <a:lstStyle/>
          <a:p>
            <a:r>
              <a:rPr lang="en-US" dirty="0"/>
              <a:t>1. Domain of Cognition</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2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1</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1 / 2</a:t>
            </a:r>
          </a:p>
        </p:txBody>
      </p:sp>
    </p:spTree>
    <p:extLst>
      <p:ext uri="{BB962C8B-B14F-4D97-AF65-F5344CB8AC3E}">
        <p14:creationId xmlns:p14="http://schemas.microsoft.com/office/powerpoint/2010/main" val="3643375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Memory</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11008364" cy="4570430"/>
          </a:xfrm>
        </p:spPr>
        <p:txBody>
          <a:bodyPr>
            <a:normAutofit fontScale="92500" lnSpcReduction="10000"/>
          </a:bodyPr>
          <a:lstStyle/>
          <a:p>
            <a:r>
              <a:rPr lang="en-US" sz="2400" dirty="0"/>
              <a:t>Retrieving relevant information</a:t>
            </a:r>
          </a:p>
          <a:p>
            <a:pPr lvl="1"/>
            <a:r>
              <a:rPr lang="en-US" sz="2000" dirty="0"/>
              <a:t>Expert</a:t>
            </a:r>
          </a:p>
          <a:p>
            <a:pPr lvl="2"/>
            <a:r>
              <a:rPr lang="en-US" sz="1700" dirty="0"/>
              <a:t>(MC) Assuming Phase II, as found in the Point Paper on Suicide Prevention, has to occur after Phase I, reconstruct the timeline you provided in the previous question by adding Phase II in it. You may pick a date for Phase II that occurs after Phase I and before the event that was after Phase I in your previous timeline, if one exists. </a:t>
            </a:r>
          </a:p>
          <a:p>
            <a:pPr marL="1200150" lvl="2" indent="-285750">
              <a:buFont typeface="Arial" panose="020B0604020202020204" pitchFamily="34" charset="0"/>
              <a:buChar char="•"/>
            </a:pPr>
            <a:r>
              <a:rPr lang="en-US" sz="1700" dirty="0"/>
              <a:t>(MC/SR) Here are two additional statements: (1) Track military mental health outcomes over time, (2) Equip Assessments branch with decision-making information. Each statement must either replace or get added to either the Purpose or Discussion section of either Point Paper. State/select where each of these statements goes and which statement it replaces, if applicable. **</a:t>
            </a:r>
          </a:p>
          <a:p>
            <a:pPr marL="1200150" lvl="2" indent="-285750">
              <a:buFont typeface="Arial" panose="020B0604020202020204" pitchFamily="34" charset="0"/>
              <a:buChar char="•"/>
            </a:pPr>
            <a:r>
              <a:rPr lang="en-US" sz="1700" dirty="0"/>
              <a:t>(MC/ER) Evaluate the two bullet points under Implementation 10. Select or explain whether both bullet points are distinct or redundant and why.  </a:t>
            </a:r>
          </a:p>
          <a:p>
            <a:pPr marL="742950" lvl="1" indent="-285750"/>
            <a:r>
              <a:rPr lang="en-US" sz="2000" dirty="0"/>
              <a:t>Master</a:t>
            </a:r>
          </a:p>
          <a:p>
            <a:pPr marL="1200150" lvl="2" indent="-285750"/>
            <a:r>
              <a:rPr lang="en-US" sz="1700" dirty="0"/>
              <a:t>(MC/ER) Each of the choices below has a part (a) and (b). Select the explanation of why the two Point Papers provided (a) are or are not correlated, and (b) the best representation of what a combined Point Paper could be. </a:t>
            </a:r>
            <a:endParaRPr lang="en-US" sz="1700" i="1" dirty="0"/>
          </a:p>
          <a:p>
            <a:pPr marL="1200150" lvl="2" indent="-285750">
              <a:buFont typeface="Arial" panose="020B0604020202020204" pitchFamily="34" charset="0"/>
              <a:buChar char="•"/>
            </a:pPr>
            <a:r>
              <a:rPr lang="en-US" sz="1700" dirty="0"/>
              <a:t>(MC/ER) Referring to the </a:t>
            </a:r>
            <a:r>
              <a:rPr lang="en-US" sz="1700" dirty="0">
                <a:hlinkClick r:id="rId2"/>
              </a:rPr>
              <a:t>military suicide resources </a:t>
            </a:r>
            <a:r>
              <a:rPr lang="en-US" sz="1700" dirty="0"/>
              <a:t>already available and the implementation 10 goals, select the most logical reasoning for why the implementation 10 goals and these other military resources either contradict or complement each other.  </a:t>
            </a:r>
          </a:p>
          <a:p>
            <a:pPr marL="1200150" lvl="2" indent="-285750">
              <a:buFont typeface="Arial" panose="020B0604020202020204" pitchFamily="34" charset="0"/>
              <a:buChar char="•"/>
            </a:pPr>
            <a:r>
              <a:rPr lang="en-US" sz="1700" dirty="0"/>
              <a:t>(MC/ER) Evaluate the new edits and additions you selected in the double-asterisked question (**). Select the best explanation of why these changes were or were not necessary. </a:t>
            </a:r>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347117" cy="369332"/>
          </a:xfrm>
          <a:prstGeom prst="rect">
            <a:avLst/>
          </a:prstGeom>
          <a:noFill/>
        </p:spPr>
        <p:txBody>
          <a:bodyPr wrap="none" rtlCol="0">
            <a:spAutoFit/>
          </a:bodyPr>
          <a:lstStyle/>
          <a:p>
            <a:r>
              <a:rPr lang="en-US" dirty="0"/>
              <a:t>1. Domain of Cognition</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2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561372" cy="369332"/>
          </a:xfrm>
          <a:prstGeom prst="rect">
            <a:avLst/>
          </a:prstGeom>
          <a:noFill/>
        </p:spPr>
        <p:txBody>
          <a:bodyPr wrap="none" rtlCol="0">
            <a:spAutoFit/>
          </a:bodyPr>
          <a:lstStyle/>
          <a:p>
            <a:r>
              <a:rPr lang="en-US" dirty="0"/>
              <a:t>1/ 1</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2 / 2</a:t>
            </a:r>
          </a:p>
        </p:txBody>
      </p:sp>
    </p:spTree>
    <p:extLst>
      <p:ext uri="{BB962C8B-B14F-4D97-AF65-F5344CB8AC3E}">
        <p14:creationId xmlns:p14="http://schemas.microsoft.com/office/powerpoint/2010/main" val="2698599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Language</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46284" y="1690688"/>
            <a:ext cx="11099432" cy="4570430"/>
          </a:xfrm>
        </p:spPr>
        <p:txBody>
          <a:bodyPr>
            <a:normAutofit fontScale="70000" lnSpcReduction="20000"/>
          </a:bodyPr>
          <a:lstStyle/>
          <a:p>
            <a:r>
              <a:rPr lang="en-US" dirty="0"/>
              <a:t>Understanding human-like text</a:t>
            </a:r>
          </a:p>
          <a:p>
            <a:pPr lvl="1"/>
            <a:r>
              <a:rPr lang="en-US" dirty="0"/>
              <a:t>Basic</a:t>
            </a:r>
          </a:p>
          <a:p>
            <a:pPr lvl="2"/>
            <a:r>
              <a:rPr lang="en-US" dirty="0"/>
              <a:t>(MC) Which of these four options constitutes coherent human language? Select all that apply: (a)   </a:t>
            </a:r>
            <a:r>
              <a:rPr lang="en-US" dirty="0" err="1"/>
              <a:t>我做的工作是军人</a:t>
            </a:r>
            <a:r>
              <a:rPr lang="zh-CN" altLang="en-US" dirty="0"/>
              <a:t>。</a:t>
            </a:r>
            <a:r>
              <a:rPr lang="en-US" dirty="0"/>
              <a:t>(b) I work as a soldier. ( c ) That with which is a soldier is how I work within. n(d) 01001001 00100000 01110111 01101111 01110010 01101011 00100000 01100001 01110011 00100000 01100001 00100000 01110011 01101111 01101100 01100100 01101001 01100101 01110010</a:t>
            </a:r>
          </a:p>
          <a:p>
            <a:pPr lvl="2"/>
            <a:r>
              <a:rPr lang="en-US" dirty="0"/>
              <a:t>(MC) Of the following strings of text, which are the human language-like ones? You CAN use acronyms. Select all that apply: (a) </a:t>
            </a:r>
            <a:r>
              <a:rPr lang="en-US" dirty="0" err="1"/>
              <a:t>asognabnz</a:t>
            </a:r>
            <a:r>
              <a:rPr lang="en-US" dirty="0"/>
              <a:t> (b) MAJCOM ( c ) int{a} == 8 (d) mission-centric</a:t>
            </a:r>
          </a:p>
          <a:p>
            <a:pPr lvl="2"/>
            <a:r>
              <a:rPr lang="en-US" dirty="0"/>
              <a:t>(T/F) Could the following sentence have been generated from human language: </a:t>
            </a:r>
            <a:r>
              <a:rPr lang="en-US" i="1" dirty="0"/>
              <a:t>The Air Force Handbook 1 is published every two years. </a:t>
            </a:r>
            <a:r>
              <a:rPr lang="en-US" dirty="0"/>
              <a:t> </a:t>
            </a:r>
          </a:p>
          <a:p>
            <a:pPr marL="742950" lvl="1" indent="-285750">
              <a:buFont typeface="Arial" panose="020B0604020202020204" pitchFamily="34" charset="0"/>
              <a:buChar char="•"/>
            </a:pPr>
            <a:r>
              <a:rPr lang="en-US" sz="2400" dirty="0"/>
              <a:t>Intermediate</a:t>
            </a:r>
          </a:p>
          <a:p>
            <a:pPr marL="1200150" lvl="2" indent="-285750"/>
            <a:r>
              <a:rPr lang="en-US" dirty="0"/>
              <a:t>(T/F</a:t>
            </a:r>
            <a:r>
              <a:rPr lang="en-US" sz="2000" dirty="0"/>
              <a:t>) Can the mission in the following sentence be reduced to the word “character”? </a:t>
            </a:r>
            <a:r>
              <a:rPr lang="en-US" sz="2000" i="1" dirty="0"/>
              <a:t>The Air Force Junior Reserve Officer Training Corps (AFJROTC) mission is to develop citizens dedicated to serving the nation and community. </a:t>
            </a:r>
          </a:p>
          <a:p>
            <a:pPr marL="1200150" lvl="2" indent="-285750">
              <a:buFont typeface="Arial" panose="020B0604020202020204" pitchFamily="34" charset="0"/>
              <a:buChar char="•"/>
            </a:pPr>
            <a:r>
              <a:rPr lang="en-US" sz="2000" dirty="0"/>
              <a:t>(T/F) Is the capitalized word used in the same wa</a:t>
            </a:r>
            <a:r>
              <a:rPr lang="en-US" dirty="0"/>
              <a:t>y in both instances in the following sentence? </a:t>
            </a:r>
            <a:r>
              <a:rPr lang="en-US" i="1" dirty="0"/>
              <a:t>Although the military is proud to LEAD through times of war, soldiers are </a:t>
            </a:r>
            <a:r>
              <a:rPr lang="en-US" i="1" dirty="0">
                <a:hlinkClick r:id="rId2"/>
              </a:rPr>
              <a:t>disproportionally exposed to LEAD</a:t>
            </a:r>
            <a:r>
              <a:rPr lang="en-US" i="1" dirty="0"/>
              <a:t>.  </a:t>
            </a:r>
            <a:r>
              <a:rPr lang="en-US" sz="2000" dirty="0"/>
              <a:t> </a:t>
            </a:r>
          </a:p>
          <a:p>
            <a:pPr marL="1200150" lvl="2" indent="-285750">
              <a:buFont typeface="Arial" panose="020B0604020202020204" pitchFamily="34" charset="0"/>
              <a:buChar char="•"/>
            </a:pPr>
            <a:r>
              <a:rPr lang="en-US" dirty="0"/>
              <a:t>(MC) Select the sentence that summarizes “mission-centric combat”.</a:t>
            </a:r>
          </a:p>
          <a:p>
            <a:pPr marL="742950" lvl="1" indent="-285750">
              <a:buFont typeface="Arial" panose="020B0604020202020204" pitchFamily="34" charset="0"/>
              <a:buChar char="•"/>
            </a:pPr>
            <a:r>
              <a:rPr lang="en-US" sz="2400" dirty="0"/>
              <a:t>Advanced</a:t>
            </a:r>
            <a:endParaRPr lang="en-US" dirty="0"/>
          </a:p>
          <a:p>
            <a:pPr marL="1200150" lvl="2" indent="-285750">
              <a:buFont typeface="Arial" panose="020B0604020202020204" pitchFamily="34" charset="0"/>
              <a:buChar char="•"/>
            </a:pPr>
            <a:r>
              <a:rPr lang="en-US" sz="2000" dirty="0"/>
              <a:t>(MC) Given this sentence: </a:t>
            </a:r>
            <a:r>
              <a:rPr lang="en-US" i="1" dirty="0"/>
              <a:t>It is recommended that Airmen take two months to a year to study the AFH1 before promotion”, </a:t>
            </a:r>
            <a:r>
              <a:rPr lang="en-US" dirty="0"/>
              <a:t>which of the following single words best describes a quality needed? Select all that apply: (a) proactive, (b) main, (c) Airman, (d) studious, </a:t>
            </a:r>
            <a:endParaRPr lang="en-US" sz="2000" dirty="0"/>
          </a:p>
          <a:p>
            <a:pPr marL="1200150" lvl="2" indent="-285750"/>
            <a:r>
              <a:rPr lang="en-US" dirty="0"/>
              <a:t>(MC/SR) </a:t>
            </a:r>
            <a:r>
              <a:rPr lang="en-US" sz="2000" dirty="0"/>
              <a:t>Compare and contrast the phrases “future-focused mission” with “learning from the past”.</a:t>
            </a:r>
          </a:p>
          <a:p>
            <a:pPr marL="1200150" lvl="2" indent="-285750"/>
            <a:r>
              <a:rPr lang="en-US" sz="2000" dirty="0"/>
              <a:t>(MC) Which of the following sentences contains a different meaning from the others?): (a) </a:t>
            </a:r>
            <a:r>
              <a:rPr lang="en-US" i="1" dirty="0"/>
              <a:t>Basic training pushes new recruits to become better versions of themselves. (b) Airmen experience maximal emotional, physical, and mental growth through basic training. ( c ) Generals largely agree that airmen should still be required to complete basic training. (d) The improvements that airmen experience can be attributed to their time in basic training. </a:t>
            </a:r>
            <a:endParaRPr lang="en-US" sz="2000" dirty="0"/>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347117" cy="369332"/>
          </a:xfrm>
          <a:prstGeom prst="rect">
            <a:avLst/>
          </a:prstGeom>
          <a:noFill/>
        </p:spPr>
        <p:txBody>
          <a:bodyPr wrap="none" rtlCol="0">
            <a:spAutoFit/>
          </a:bodyPr>
          <a:lstStyle/>
          <a:p>
            <a:r>
              <a:rPr lang="en-US" dirty="0"/>
              <a:t>1. Domain of Cognition</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3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2</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1 / 2</a:t>
            </a:r>
          </a:p>
        </p:txBody>
      </p:sp>
    </p:spTree>
    <p:extLst>
      <p:ext uri="{BB962C8B-B14F-4D97-AF65-F5344CB8AC3E}">
        <p14:creationId xmlns:p14="http://schemas.microsoft.com/office/powerpoint/2010/main" val="2140651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Language</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11008364" cy="4570430"/>
          </a:xfrm>
        </p:spPr>
        <p:txBody>
          <a:bodyPr>
            <a:normAutofit fontScale="92500"/>
          </a:bodyPr>
          <a:lstStyle/>
          <a:p>
            <a:r>
              <a:rPr lang="en-US" sz="2400" dirty="0"/>
              <a:t>Understanding human-like text</a:t>
            </a:r>
          </a:p>
          <a:p>
            <a:pPr lvl="1"/>
            <a:r>
              <a:rPr lang="en-US" sz="2000" dirty="0"/>
              <a:t>Expert</a:t>
            </a:r>
          </a:p>
          <a:p>
            <a:pPr lvl="2"/>
            <a:r>
              <a:rPr lang="en-US" sz="1700" dirty="0"/>
              <a:t>(MC) Select the best comparison of the following phrases: </a:t>
            </a:r>
            <a:r>
              <a:rPr lang="en-US" sz="1700" i="1" dirty="0"/>
              <a:t>Soldiers have the opportunity to attend a military-sponsored fitness program to qualify for service./Leadership is about setting your recruits up for success.</a:t>
            </a:r>
            <a:r>
              <a:rPr lang="en-US" sz="1700" dirty="0"/>
              <a:t> (a) One sentence is praise of the other, (b) One sentence is justification of the other. ( c ) One sentence is a cause of the other ( d ) One sentence is criticism of the other. </a:t>
            </a:r>
          </a:p>
          <a:p>
            <a:pPr lvl="2"/>
            <a:r>
              <a:rPr lang="en-US" sz="1700" dirty="0"/>
              <a:t>(MC/ER) Do the </a:t>
            </a:r>
            <a:r>
              <a:rPr lang="en-US" sz="1700" dirty="0">
                <a:hlinkClick r:id="rId2"/>
              </a:rPr>
              <a:t>Uses of Doctrine </a:t>
            </a:r>
            <a:r>
              <a:rPr lang="en-US" sz="1700" dirty="0"/>
              <a:t>“</a:t>
            </a:r>
            <a:r>
              <a:rPr lang="en-US" sz="1700" i="1" dirty="0"/>
              <a:t>synergy, not segregation” </a:t>
            </a:r>
            <a:r>
              <a:rPr lang="en-US" sz="1700" dirty="0"/>
              <a:t>and “</a:t>
            </a:r>
            <a:r>
              <a:rPr lang="en-US" sz="1700" i="1" dirty="0"/>
              <a:t>Warfighting, not physics” </a:t>
            </a:r>
            <a:r>
              <a:rPr lang="en-US" sz="1700" dirty="0"/>
              <a:t>contain similar meaning? Explain/select the similarity or difference between them. </a:t>
            </a:r>
          </a:p>
          <a:p>
            <a:pPr lvl="2"/>
            <a:r>
              <a:rPr lang="en-US" sz="1700" dirty="0"/>
              <a:t>(MC/SR) Select (or write) the phrase that best compares the phrase “combat veteran” to the sentence “Chief Master Sergeant of the Air Force (CMSAF), Paul Airey, served in 28 central European combat missions during WWII”.    </a:t>
            </a:r>
          </a:p>
          <a:p>
            <a:pPr marL="742950" lvl="1" indent="-285750"/>
            <a:r>
              <a:rPr lang="en-US" sz="2000" dirty="0"/>
              <a:t>Master</a:t>
            </a:r>
          </a:p>
          <a:p>
            <a:pPr marL="1200150" lvl="2" indent="-285750"/>
            <a:r>
              <a:rPr lang="en-US" sz="1700" dirty="0"/>
              <a:t>(MC/ER) Select (or write) the reason that best converts the the Use of Doctrine “The Right Force, not just Equal Shares of the Force” from a philosophy to a rule or policy. </a:t>
            </a:r>
            <a:endParaRPr lang="en-US" sz="1700" i="1" dirty="0"/>
          </a:p>
          <a:p>
            <a:pPr marL="1200150" lvl="2" indent="-285750"/>
            <a:r>
              <a:rPr lang="en-US" sz="1700" dirty="0"/>
              <a:t>(MC/ER) Do the Uses of Doctrine “</a:t>
            </a:r>
            <a:r>
              <a:rPr lang="en-US" sz="1700" i="1" dirty="0"/>
              <a:t>synergy, not segregation” </a:t>
            </a:r>
            <a:r>
              <a:rPr lang="en-US" sz="1700" dirty="0"/>
              <a:t>and “</a:t>
            </a:r>
            <a:r>
              <a:rPr lang="en-US" sz="1700" i="1" dirty="0"/>
              <a:t>Warfighting, not physics” </a:t>
            </a:r>
            <a:r>
              <a:rPr lang="en-US" sz="1700" dirty="0"/>
              <a:t>contain similar meaning? Explain/select the similarity or difference between them. </a:t>
            </a:r>
          </a:p>
          <a:p>
            <a:pPr marL="1200150" lvl="2" indent="-285750">
              <a:buFont typeface="Arial" panose="020B0604020202020204" pitchFamily="34" charset="0"/>
              <a:buChar char="•"/>
            </a:pPr>
            <a:r>
              <a:rPr lang="en-US" sz="1700" dirty="0"/>
              <a:t>(MC/SR) Does the “</a:t>
            </a:r>
            <a:r>
              <a:rPr lang="en-US" sz="1700" i="1" dirty="0"/>
              <a:t>Warfighting, not physics” </a:t>
            </a:r>
            <a:r>
              <a:rPr lang="en-US" sz="1700" dirty="0"/>
              <a:t>Use of Doctrine title adequately capture the idea that different operations can be well integrated for the mission? If so, explain/select why, or provide/select an alternate title if not. </a:t>
            </a:r>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347117" cy="369332"/>
          </a:xfrm>
          <a:prstGeom prst="rect">
            <a:avLst/>
          </a:prstGeom>
          <a:noFill/>
        </p:spPr>
        <p:txBody>
          <a:bodyPr wrap="none" rtlCol="0">
            <a:spAutoFit/>
          </a:bodyPr>
          <a:lstStyle/>
          <a:p>
            <a:r>
              <a:rPr lang="en-US" dirty="0"/>
              <a:t>1. Domain of Cognition</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3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561372" cy="369332"/>
          </a:xfrm>
          <a:prstGeom prst="rect">
            <a:avLst/>
          </a:prstGeom>
          <a:noFill/>
        </p:spPr>
        <p:txBody>
          <a:bodyPr wrap="none" rtlCol="0">
            <a:spAutoFit/>
          </a:bodyPr>
          <a:lstStyle/>
          <a:p>
            <a:r>
              <a:rPr lang="en-US" dirty="0"/>
              <a:t>1/ 2</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2 / 2</a:t>
            </a:r>
          </a:p>
        </p:txBody>
      </p:sp>
    </p:spTree>
    <p:extLst>
      <p:ext uri="{BB962C8B-B14F-4D97-AF65-F5344CB8AC3E}">
        <p14:creationId xmlns:p14="http://schemas.microsoft.com/office/powerpoint/2010/main" val="2747853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Language</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46284" y="1690688"/>
            <a:ext cx="11099432" cy="4570430"/>
          </a:xfrm>
        </p:spPr>
        <p:txBody>
          <a:bodyPr>
            <a:normAutofit fontScale="62500" lnSpcReduction="20000"/>
          </a:bodyPr>
          <a:lstStyle/>
          <a:p>
            <a:r>
              <a:rPr lang="en-US" dirty="0"/>
              <a:t>Generating human-like text </a:t>
            </a:r>
          </a:p>
          <a:p>
            <a:pPr lvl="1"/>
            <a:r>
              <a:rPr lang="en-US" dirty="0"/>
              <a:t>Basic</a:t>
            </a:r>
          </a:p>
          <a:p>
            <a:pPr lvl="2"/>
            <a:r>
              <a:rPr lang="en-US" dirty="0"/>
              <a:t>(MC/SR) Select/produce the words that are similar in meaning to “combat” </a:t>
            </a:r>
          </a:p>
          <a:p>
            <a:pPr lvl="2"/>
            <a:r>
              <a:rPr lang="en-US" dirty="0"/>
              <a:t>(MC/SR) Fill in the blank: “Air Force basic ___ concludes after 7.5 weeks”</a:t>
            </a:r>
          </a:p>
          <a:p>
            <a:pPr lvl="2"/>
            <a:r>
              <a:rPr lang="en-US" dirty="0"/>
              <a:t>(MC) Complete this phrase with one of the provided options: “no man’s ___” to make a well-known phrase. </a:t>
            </a:r>
          </a:p>
          <a:p>
            <a:pPr marL="742950" lvl="1" indent="-285750">
              <a:buFont typeface="Arial" panose="020B0604020202020204" pitchFamily="34" charset="0"/>
              <a:buChar char="•"/>
            </a:pPr>
            <a:r>
              <a:rPr lang="en-US" sz="2400" dirty="0"/>
              <a:t>Intermediate</a:t>
            </a:r>
          </a:p>
          <a:p>
            <a:pPr marL="1200150" lvl="2" indent="-285750">
              <a:buFont typeface="Arial" panose="020B0604020202020204" pitchFamily="34" charset="0"/>
              <a:buChar char="•"/>
            </a:pPr>
            <a:r>
              <a:rPr lang="en-US" sz="2000" dirty="0"/>
              <a:t>(MC/SR) Why would the phrase “drop an</a:t>
            </a:r>
            <a:r>
              <a:rPr lang="en-US" dirty="0"/>
              <a:t>d give me 20” follow a failed bunk inspection? </a:t>
            </a:r>
          </a:p>
          <a:p>
            <a:pPr marL="1200150" lvl="2" indent="-285750">
              <a:buFont typeface="Arial" panose="020B0604020202020204" pitchFamily="34" charset="0"/>
              <a:buChar char="•"/>
            </a:pPr>
            <a:r>
              <a:rPr lang="en-US" sz="2000" dirty="0"/>
              <a:t>(MC/SR) Create/select an phrase commanding a subordinate to complete an exercise. </a:t>
            </a:r>
          </a:p>
          <a:p>
            <a:pPr marL="1200150" lvl="2" indent="-285750">
              <a:buFont typeface="Arial" panose="020B0604020202020204" pitchFamily="34" charset="0"/>
              <a:buChar char="•"/>
            </a:pPr>
            <a:r>
              <a:rPr lang="en-US" dirty="0"/>
              <a:t>(MC) Create/select a phrase that captures the commitment of soldiers to save each-other on the battlefield. (sample” “no man left behind”). </a:t>
            </a:r>
          </a:p>
          <a:p>
            <a:pPr marL="742950" lvl="1" indent="-285750">
              <a:buFont typeface="Arial" panose="020B0604020202020204" pitchFamily="34" charset="0"/>
              <a:buChar char="•"/>
            </a:pPr>
            <a:r>
              <a:rPr lang="en-US" sz="2400" dirty="0"/>
              <a:t>Advanced</a:t>
            </a:r>
            <a:endParaRPr lang="en-US" dirty="0"/>
          </a:p>
          <a:p>
            <a:pPr marL="1200150" lvl="2" indent="-285750">
              <a:buFont typeface="Arial" panose="020B0604020202020204" pitchFamily="34" charset="0"/>
              <a:buChar char="•"/>
            </a:pPr>
            <a:r>
              <a:rPr lang="en-US" sz="2000" dirty="0"/>
              <a:t>(MC) Create a natural-conversation sentence out of the following words: Principles of </a:t>
            </a:r>
            <a:r>
              <a:rPr lang="en-US" i="1" dirty="0"/>
              <a:t>Joint Operations, three, restraint, maneuver, surprise</a:t>
            </a:r>
          </a:p>
          <a:p>
            <a:pPr marL="1200150" lvl="2" indent="-285750"/>
            <a:r>
              <a:rPr lang="en-US" dirty="0"/>
              <a:t>(MC) Explain in (select the) plaintext that explains the following code. Assume the variable, library, and package titles are accurate descriptions of their functions:</a:t>
            </a:r>
          </a:p>
          <a:p>
            <a:pPr marL="1657350" lvl="3" indent="-285750"/>
            <a:r>
              <a:rPr lang="en-US" dirty="0"/>
              <a:t>From War import </a:t>
            </a:r>
            <a:r>
              <a:rPr lang="en-US" dirty="0" err="1"/>
              <a:t>BattleField</a:t>
            </a:r>
            <a:endParaRPr lang="en-US" dirty="0"/>
          </a:p>
          <a:p>
            <a:pPr marL="2114550" lvl="4" indent="-285750"/>
            <a:r>
              <a:rPr lang="en-US" dirty="0"/>
              <a:t>bf = </a:t>
            </a:r>
            <a:r>
              <a:rPr lang="en-US" dirty="0" err="1"/>
              <a:t>BattleField</a:t>
            </a:r>
            <a:r>
              <a:rPr lang="en-US" dirty="0"/>
              <a:t>(var x, var y, var z)</a:t>
            </a:r>
          </a:p>
          <a:p>
            <a:pPr marL="2114550" lvl="4" indent="-285750"/>
            <a:r>
              <a:rPr lang="en-US" dirty="0"/>
              <a:t>adversaries = </a:t>
            </a:r>
            <a:r>
              <a:rPr lang="en-US" dirty="0" err="1"/>
              <a:t>bf.get_adversaries</a:t>
            </a:r>
            <a:endParaRPr lang="en-US" dirty="0"/>
          </a:p>
          <a:p>
            <a:pPr marL="2114550" lvl="4" indent="-285750"/>
            <a:r>
              <a:rPr lang="en-US" dirty="0"/>
              <a:t>strategy = </a:t>
            </a:r>
            <a:r>
              <a:rPr lang="en-US" dirty="0" err="1"/>
              <a:t>bf.get_strategy</a:t>
            </a:r>
            <a:r>
              <a:rPr lang="en-US" dirty="0"/>
              <a:t>(adversaries)</a:t>
            </a:r>
          </a:p>
          <a:p>
            <a:pPr marL="2114550" lvl="4" indent="-285750"/>
            <a:r>
              <a:rPr lang="en-US" dirty="0"/>
              <a:t>Print(strategy)</a:t>
            </a:r>
          </a:p>
          <a:p>
            <a:pPr marL="1657350" lvl="3" indent="-285750"/>
            <a:endParaRPr lang="en-US" dirty="0"/>
          </a:p>
          <a:p>
            <a:pPr marL="1200150" lvl="2" indent="-285750"/>
            <a:r>
              <a:rPr lang="en-US" sz="2000" dirty="0"/>
              <a:t>(MC/ER) Compare the two phrases resulted from pairing </a:t>
            </a:r>
            <a:r>
              <a:rPr lang="en-US" dirty="0"/>
              <a:t>”major’ with the following </a:t>
            </a:r>
            <a:r>
              <a:rPr lang="en-US" sz="2000" dirty="0"/>
              <a:t>words: (a) General, (b) command. </a:t>
            </a:r>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347117" cy="369332"/>
          </a:xfrm>
          <a:prstGeom prst="rect">
            <a:avLst/>
          </a:prstGeom>
          <a:noFill/>
        </p:spPr>
        <p:txBody>
          <a:bodyPr wrap="none" rtlCol="0">
            <a:spAutoFit/>
          </a:bodyPr>
          <a:lstStyle/>
          <a:p>
            <a:r>
              <a:rPr lang="en-US" dirty="0"/>
              <a:t>1. Domain of Cognition</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3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2 / 2</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1 / 2</a:t>
            </a:r>
          </a:p>
        </p:txBody>
      </p:sp>
    </p:spTree>
    <p:extLst>
      <p:ext uri="{BB962C8B-B14F-4D97-AF65-F5344CB8AC3E}">
        <p14:creationId xmlns:p14="http://schemas.microsoft.com/office/powerpoint/2010/main" val="1308951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Language</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11008364" cy="4570430"/>
          </a:xfrm>
        </p:spPr>
        <p:txBody>
          <a:bodyPr>
            <a:normAutofit fontScale="92500"/>
          </a:bodyPr>
          <a:lstStyle/>
          <a:p>
            <a:r>
              <a:rPr lang="en-US" sz="2400" dirty="0"/>
              <a:t>Generating human-like text</a:t>
            </a:r>
          </a:p>
          <a:p>
            <a:pPr lvl="1"/>
            <a:r>
              <a:rPr lang="en-US" sz="2000" dirty="0"/>
              <a:t>Expert</a:t>
            </a:r>
          </a:p>
          <a:p>
            <a:pPr lvl="2"/>
            <a:r>
              <a:rPr lang="en-US" sz="1700" dirty="0"/>
              <a:t>(MC/SR) Select the most likely effect of the following “cause” sentence: “The soldier failed uniform inspection.”</a:t>
            </a:r>
          </a:p>
          <a:p>
            <a:pPr marL="1200150" lvl="2" indent="-285750">
              <a:buFont typeface="Arial" panose="020B0604020202020204" pitchFamily="34" charset="0"/>
              <a:buChar char="•"/>
            </a:pPr>
            <a:r>
              <a:rPr lang="en-US" sz="1700" dirty="0"/>
              <a:t>(MC/ER) Create/select a phrase comparable to “the sky’s the limit” that (a) adequately captures Dr. Harry Armstrong’s ambitions for the Air Force to explore the frontier of space and (b) rhymes. [sample choices:] (a) space wins the race, (b) can’t conquer the galaxy? That’s a fallacy! ( c ) space is the limit. (d) up, up and away! </a:t>
            </a:r>
          </a:p>
          <a:p>
            <a:pPr marL="1200150" lvl="2" indent="-285750">
              <a:buFont typeface="Arial" panose="020B0604020202020204" pitchFamily="34" charset="0"/>
              <a:buChar char="•"/>
            </a:pPr>
            <a:r>
              <a:rPr lang="en-US" sz="1700" dirty="0"/>
              <a:t>(MC/ER) Create/select the best title on an article that compares Air Force and Space Force basic training. Restrict your response to five words. Major tenants to incorporate in the title include:</a:t>
            </a:r>
          </a:p>
          <a:p>
            <a:pPr marL="1657350" lvl="3" indent="-285750"/>
            <a:r>
              <a:rPr lang="en-US" sz="1500" dirty="0"/>
              <a:t>Air Force: 7.5 weeks, AF core curriculum, AF-specific additions</a:t>
            </a:r>
          </a:p>
          <a:p>
            <a:pPr marL="1657350" lvl="3" indent="-285750"/>
            <a:r>
              <a:rPr lang="en-US" sz="1500" dirty="0"/>
              <a:t>Space Force: 7.5 weeks, AF core curriculum, Space Force curriculum addition</a:t>
            </a:r>
          </a:p>
          <a:p>
            <a:pPr marL="742950" lvl="1" indent="-285750"/>
            <a:r>
              <a:rPr lang="en-US" sz="2000" dirty="0"/>
              <a:t>Master</a:t>
            </a:r>
          </a:p>
          <a:p>
            <a:pPr marL="1200150" lvl="2" indent="-285750"/>
            <a:r>
              <a:rPr lang="en-US" sz="1700" dirty="0"/>
              <a:t>(MC/ER) Generate/select the short dialogue that covers the theme “Advice on passing the AFH1 test: the path to getting promoted”</a:t>
            </a:r>
            <a:endParaRPr lang="en-US" sz="1700" i="1" dirty="0"/>
          </a:p>
          <a:p>
            <a:pPr marL="1200150" lvl="2" indent="-285750"/>
            <a:r>
              <a:rPr lang="en-US" sz="1700" dirty="0"/>
              <a:t>(MC/ER) Generate/select the FYSA email that best overviews civilian opportunities post active duty retirement. </a:t>
            </a:r>
            <a:endParaRPr lang="en-US" sz="1700" i="1" dirty="0"/>
          </a:p>
          <a:p>
            <a:pPr marL="1200150" lvl="2" indent="-285750">
              <a:buFont typeface="Arial" panose="020B0604020202020204" pitchFamily="34" charset="0"/>
              <a:buChar char="•"/>
            </a:pPr>
            <a:r>
              <a:rPr lang="en-US" sz="1700" dirty="0"/>
              <a:t>(MC/ER) Generate/select the most logical memo that a General receiving information on instructor diversity shortfalls might draft.  </a:t>
            </a:r>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347117" cy="369332"/>
          </a:xfrm>
          <a:prstGeom prst="rect">
            <a:avLst/>
          </a:prstGeom>
          <a:noFill/>
        </p:spPr>
        <p:txBody>
          <a:bodyPr wrap="none" rtlCol="0">
            <a:spAutoFit/>
          </a:bodyPr>
          <a:lstStyle/>
          <a:p>
            <a:r>
              <a:rPr lang="en-US" dirty="0"/>
              <a:t>1. Domain of Cognition</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3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2 / 2</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2 / 2</a:t>
            </a:r>
          </a:p>
        </p:txBody>
      </p:sp>
    </p:spTree>
    <p:extLst>
      <p:ext uri="{BB962C8B-B14F-4D97-AF65-F5344CB8AC3E}">
        <p14:creationId xmlns:p14="http://schemas.microsoft.com/office/powerpoint/2010/main" val="9573091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Reasoning and Problem Solving</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46284" y="1690688"/>
            <a:ext cx="11099432" cy="4570430"/>
          </a:xfrm>
        </p:spPr>
        <p:txBody>
          <a:bodyPr>
            <a:normAutofit fontScale="92500" lnSpcReduction="20000"/>
          </a:bodyPr>
          <a:lstStyle/>
          <a:p>
            <a:r>
              <a:rPr lang="en-US" sz="2000" dirty="0"/>
              <a:t>Analyzing queries</a:t>
            </a:r>
          </a:p>
          <a:p>
            <a:pPr lvl="1"/>
            <a:r>
              <a:rPr lang="en-US" sz="1800" dirty="0"/>
              <a:t>Basic</a:t>
            </a:r>
          </a:p>
          <a:p>
            <a:pPr lvl="2"/>
            <a:r>
              <a:rPr lang="en-US" sz="1600" dirty="0"/>
              <a:t>(T/F) Is this an inquiry: “Where can I find the Tongue and Quill?”</a:t>
            </a:r>
          </a:p>
          <a:p>
            <a:pPr lvl="2"/>
            <a:r>
              <a:rPr lang="en-US" sz="1600" dirty="0"/>
              <a:t>(MC) For the following question: “How many Elements of a Logical Argument are there?”, what is the thing to be quantified? </a:t>
            </a:r>
          </a:p>
          <a:p>
            <a:pPr lvl="2"/>
            <a:r>
              <a:rPr lang="en-US" sz="1600" dirty="0"/>
              <a:t>(MC) What type of sentence is this? : “Please list the number of Tenets of Airpower listed in The Airman’s Creed” (a) multiple choice, (b) inquiry, ( c ) request, (d) comment</a:t>
            </a:r>
          </a:p>
          <a:p>
            <a:pPr marL="742950" lvl="1" indent="-285750">
              <a:buFont typeface="Arial" panose="020B0604020202020204" pitchFamily="34" charset="0"/>
              <a:buChar char="•"/>
            </a:pPr>
            <a:r>
              <a:rPr lang="en-US" sz="1800" dirty="0"/>
              <a:t>Intermediate</a:t>
            </a:r>
          </a:p>
          <a:p>
            <a:pPr marL="1200150" lvl="2" indent="-285750"/>
            <a:r>
              <a:rPr lang="en-US" sz="1600" dirty="0"/>
              <a:t>(SR) For the question: “How many Elements of a Logical Argument are there?”, what might be a logically correct type of answer? (possible answers: a #, “I don’t know”).  </a:t>
            </a:r>
          </a:p>
          <a:p>
            <a:pPr marL="1200150" lvl="2" indent="-285750">
              <a:buFont typeface="Arial" panose="020B0604020202020204" pitchFamily="34" charset="0"/>
              <a:buChar char="•"/>
            </a:pPr>
            <a:r>
              <a:rPr lang="en-US" sz="1600" dirty="0"/>
              <a:t>(T/F) Does the request “Please list the number of Tenets of Airpower listed in The Airman’s Creed” likely require referring to a resource? </a:t>
            </a:r>
          </a:p>
          <a:p>
            <a:pPr marL="1200150" lvl="2" indent="-285750">
              <a:buFont typeface="Arial" panose="020B0604020202020204" pitchFamily="34" charset="0"/>
              <a:buChar char="•"/>
            </a:pPr>
            <a:r>
              <a:rPr lang="en-US" sz="1600" dirty="0"/>
              <a:t>(MC) Is the inquiry “Where can I find the Tongue and Quill?” asking for a location, literary reference, grammatical guidance, or none of the above? </a:t>
            </a:r>
          </a:p>
          <a:p>
            <a:pPr marL="742950" lvl="1" indent="-285750">
              <a:buFont typeface="Arial" panose="020B0604020202020204" pitchFamily="34" charset="0"/>
              <a:buChar char="•"/>
            </a:pPr>
            <a:r>
              <a:rPr lang="en-US" sz="1800" dirty="0"/>
              <a:t>Advanced</a:t>
            </a:r>
          </a:p>
          <a:p>
            <a:pPr marL="1200150" lvl="2" indent="-285750">
              <a:buFont typeface="Arial" panose="020B0604020202020204" pitchFamily="34" charset="0"/>
              <a:buChar char="•"/>
            </a:pPr>
            <a:r>
              <a:rPr lang="en-US" sz="1600" dirty="0"/>
              <a:t>(MC) Each of the below contains a (</a:t>
            </a:r>
            <a:r>
              <a:rPr lang="en-US" sz="1600" dirty="0" err="1"/>
              <a:t>i</a:t>
            </a:r>
            <a:r>
              <a:rPr lang="en-US" sz="1600" dirty="0"/>
              <a:t>) request sentence and an (ii) inquiry sentence both involving finding the document that talks about Air Force dress and appearance standards. Select the option that has the best representation of these sentences. </a:t>
            </a:r>
          </a:p>
          <a:p>
            <a:pPr marL="1200150" lvl="2" indent="-285750"/>
            <a:r>
              <a:rPr lang="en-US" sz="1600" dirty="0"/>
              <a:t>(MC) If somebody requests an overview of current Air Force educational development policy, compare that with a request to analyze the US educational policy at large. </a:t>
            </a:r>
            <a:r>
              <a:rPr lang="en-US" sz="1600" i="1" dirty="0"/>
              <a:t>(possible answers: overview vs analyze, AF a small subset of the US population, etc.)</a:t>
            </a:r>
          </a:p>
          <a:p>
            <a:pPr marL="1200150" lvl="2" indent="-285750"/>
            <a:r>
              <a:rPr lang="en-US" sz="1600" dirty="0"/>
              <a:t>(MC) Compare and contrast a clear inquiry with an unclear one that involves formulating a list of necessary congress-specific National Defense Authorization Act changes. </a:t>
            </a:r>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347117" cy="369332"/>
          </a:xfrm>
          <a:prstGeom prst="rect">
            <a:avLst/>
          </a:prstGeom>
          <a:noFill/>
        </p:spPr>
        <p:txBody>
          <a:bodyPr wrap="none" rtlCol="0">
            <a:spAutoFit/>
          </a:bodyPr>
          <a:lstStyle/>
          <a:p>
            <a:r>
              <a:rPr lang="en-US" dirty="0"/>
              <a:t>1. Domain of Cognition</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4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3</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1 / 2</a:t>
            </a:r>
          </a:p>
        </p:txBody>
      </p:sp>
    </p:spTree>
    <p:extLst>
      <p:ext uri="{BB962C8B-B14F-4D97-AF65-F5344CB8AC3E}">
        <p14:creationId xmlns:p14="http://schemas.microsoft.com/office/powerpoint/2010/main" val="1028355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Reasoning and Problem Solving</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11008364" cy="4570430"/>
          </a:xfrm>
        </p:spPr>
        <p:txBody>
          <a:bodyPr>
            <a:normAutofit fontScale="92500" lnSpcReduction="20000"/>
          </a:bodyPr>
          <a:lstStyle/>
          <a:p>
            <a:r>
              <a:rPr lang="en-US" sz="2400" dirty="0"/>
              <a:t>Analyzing queries</a:t>
            </a:r>
          </a:p>
          <a:p>
            <a:pPr lvl="1"/>
            <a:r>
              <a:rPr lang="en-US" sz="2000" dirty="0"/>
              <a:t>Expert</a:t>
            </a:r>
          </a:p>
          <a:p>
            <a:pPr lvl="2"/>
            <a:r>
              <a:rPr lang="en-US" sz="1700" dirty="0"/>
              <a:t>(MC/SR/ER) Somebody asks you to evaluate the progress made on recruiting a more diverse instructor body. Select all of the factors that might go in to your evaluation. </a:t>
            </a:r>
            <a:r>
              <a:rPr lang="en-US" sz="1700" i="1" dirty="0"/>
              <a:t>(possible valid answers: rank-eligible student recruiting, current instructor #s, trends over time, predictive tool results).  </a:t>
            </a:r>
          </a:p>
          <a:p>
            <a:pPr marL="1200150" lvl="2" indent="-285750">
              <a:buFont typeface="Arial" panose="020B0604020202020204" pitchFamily="34" charset="0"/>
              <a:buChar char="•"/>
            </a:pPr>
            <a:r>
              <a:rPr lang="en-US" sz="1700" dirty="0"/>
              <a:t>(MC/ER) One person has asked you to identify the core national defense strategy changes for the 2022-2026 plan as opposed to the previous plan. Somebody else has asked you to identify the most logical/sensible changes. How are these two requests similar or different? </a:t>
            </a:r>
          </a:p>
          <a:p>
            <a:pPr marL="1657350" lvl="3" indent="-285750"/>
            <a:r>
              <a:rPr lang="en-US" sz="1500" i="1" dirty="0"/>
              <a:t>(possible answers for similar: need to cite both the pre-2022 and the post-2022 plans, answers will not overlap, etc.)</a:t>
            </a:r>
          </a:p>
          <a:p>
            <a:pPr marL="1657350" lvl="3" indent="-285750"/>
            <a:r>
              <a:rPr lang="en-US" sz="1500" i="1" dirty="0"/>
              <a:t>(possible answers for different: one is fact one is opinion, the latter requires a chain of logic/explanation, the # of cited changes in the latter query will be less than or equal to the first query, etc.)</a:t>
            </a:r>
          </a:p>
          <a:p>
            <a:pPr marL="1200150" lvl="2" indent="-285750">
              <a:buFont typeface="Arial" panose="020B0604020202020204" pitchFamily="34" charset="0"/>
              <a:buChar char="•"/>
            </a:pPr>
            <a:r>
              <a:rPr lang="en-US" sz="1700" dirty="0"/>
              <a:t>(MC/ER) If you are asked to create a more optimal fiscal budget using current events, an optimization algorithm, and national defense priorities, what other types of factor might be relevant to fully answer the request? Select any that apply:</a:t>
            </a:r>
          </a:p>
          <a:p>
            <a:pPr marL="742950" lvl="1" indent="-285750"/>
            <a:r>
              <a:rPr lang="en-US" sz="2000" dirty="0"/>
              <a:t>Master</a:t>
            </a:r>
          </a:p>
          <a:p>
            <a:pPr marL="1200150" lvl="2" indent="-285750"/>
            <a:r>
              <a:rPr lang="en-US" sz="1700" dirty="0"/>
              <a:t>(MC/ER) If you are asked to optimize the current fiscal budget, what sub inquiries might be implied in this overarching request? Select the best combination from below:</a:t>
            </a:r>
            <a:endParaRPr lang="en-US" sz="1700" i="1" dirty="0"/>
          </a:p>
          <a:p>
            <a:pPr marL="1200150" lvl="2" indent="-285750">
              <a:buFont typeface="Arial" panose="020B0604020202020204" pitchFamily="34" charset="0"/>
              <a:buChar char="•"/>
            </a:pPr>
            <a:r>
              <a:rPr lang="en-US" sz="1700" dirty="0"/>
              <a:t>(MC/ER) Create/select a breakdown of questions needed to address the increase in military and veteran suicide rate prevention. (</a:t>
            </a:r>
            <a:r>
              <a:rPr lang="en-US" sz="1700" i="1" dirty="0"/>
              <a:t>poss. Answers: comparison to larger US population, rates of active duty vs combat vs enlisted, etc</a:t>
            </a:r>
            <a:r>
              <a:rPr lang="en-US" sz="1700" dirty="0"/>
              <a:t>.)</a:t>
            </a:r>
          </a:p>
          <a:p>
            <a:pPr marL="1200150" lvl="2" indent="-285750">
              <a:buFont typeface="Arial" panose="020B0604020202020204" pitchFamily="34" charset="0"/>
              <a:buChar char="•"/>
            </a:pPr>
            <a:r>
              <a:rPr lang="en-US" sz="1700" dirty="0"/>
              <a:t>(MC/ER) What might be a reason for asking about the Force Development Environment Assessment (FDEA) recommendations? Please cite either current events and/or the FDEA in your response/response selection. </a:t>
            </a:r>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347117" cy="369332"/>
          </a:xfrm>
          <a:prstGeom prst="rect">
            <a:avLst/>
          </a:prstGeom>
          <a:noFill/>
        </p:spPr>
        <p:txBody>
          <a:bodyPr wrap="none" rtlCol="0">
            <a:spAutoFit/>
          </a:bodyPr>
          <a:lstStyle/>
          <a:p>
            <a:r>
              <a:rPr lang="en-US" dirty="0"/>
              <a:t>1. Domain of Cognition</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4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3</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2 / 2</a:t>
            </a:r>
          </a:p>
        </p:txBody>
      </p:sp>
    </p:spTree>
    <p:extLst>
      <p:ext uri="{BB962C8B-B14F-4D97-AF65-F5344CB8AC3E}">
        <p14:creationId xmlns:p14="http://schemas.microsoft.com/office/powerpoint/2010/main" val="15460200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Reasoning and Problem Solving</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46284" y="1690688"/>
            <a:ext cx="11099432" cy="4570430"/>
          </a:xfrm>
        </p:spPr>
        <p:txBody>
          <a:bodyPr>
            <a:normAutofit fontScale="85000" lnSpcReduction="20000"/>
          </a:bodyPr>
          <a:lstStyle/>
          <a:p>
            <a:r>
              <a:rPr lang="en-US" dirty="0"/>
              <a:t>Making inferences (</a:t>
            </a:r>
            <a:r>
              <a:rPr lang="en-US" dirty="0">
                <a:highlight>
                  <a:srgbClr val="FFFF00"/>
                </a:highlight>
              </a:rPr>
              <a:t>highlighted: new</a:t>
            </a:r>
            <a:r>
              <a:rPr lang="en-US" dirty="0"/>
              <a:t>; not highlighted: filler)</a:t>
            </a:r>
          </a:p>
          <a:p>
            <a:pPr lvl="1"/>
            <a:r>
              <a:rPr lang="en-US" dirty="0"/>
              <a:t>Basic </a:t>
            </a:r>
          </a:p>
          <a:p>
            <a:pPr lvl="2"/>
            <a:r>
              <a:rPr lang="en-US" dirty="0">
                <a:highlight>
                  <a:srgbClr val="FFFF00"/>
                </a:highlight>
              </a:rPr>
              <a:t>(T/F) Is the following an inference? “My favorite military branch is the Air Force”</a:t>
            </a:r>
          </a:p>
          <a:p>
            <a:pPr lvl="2"/>
            <a:r>
              <a:rPr lang="en-US" dirty="0"/>
              <a:t>(MC) Select all choices that are inferences: (a) </a:t>
            </a:r>
          </a:p>
          <a:p>
            <a:pPr lvl="2"/>
            <a:r>
              <a:rPr lang="en-US" dirty="0"/>
              <a:t>(SR) Provide spelling corrections to the following military vocabulary: (a) </a:t>
            </a:r>
            <a:r>
              <a:rPr lang="en-US" dirty="0" err="1"/>
              <a:t>c</a:t>
            </a:r>
            <a:r>
              <a:rPr lang="en-US" dirty="0" err="1">
                <a:solidFill>
                  <a:srgbClr val="FF0000"/>
                </a:solidFill>
              </a:rPr>
              <a:t>o</a:t>
            </a:r>
            <a:r>
              <a:rPr lang="en-US" dirty="0" err="1"/>
              <a:t>orps</a:t>
            </a:r>
            <a:r>
              <a:rPr lang="en-US" dirty="0"/>
              <a:t>, (b) </a:t>
            </a:r>
            <a:r>
              <a:rPr lang="en-US" dirty="0">
                <a:solidFill>
                  <a:srgbClr val="0563C1"/>
                </a:solidFill>
                <a:hlinkClick r:id="rId2">
                  <a:extLst>
                    <a:ext uri="{A12FA001-AC4F-418D-AE19-62706E023703}">
                      <ahyp:hlinkClr xmlns:ahyp="http://schemas.microsoft.com/office/drawing/2018/hyperlinkcolor" val="tx"/>
                    </a:ext>
                  </a:extLst>
                </a:hlinkClick>
              </a:rPr>
              <a:t>Ton</a:t>
            </a:r>
            <a:r>
              <a:rPr lang="en-US" dirty="0">
                <a:solidFill>
                  <a:srgbClr val="FF0000"/>
                </a:solidFill>
                <a:hlinkClick r:id="rId2">
                  <a:extLst>
                    <a:ext uri="{A12FA001-AC4F-418D-AE19-62706E023703}">
                      <ahyp:hlinkClr xmlns:ahyp="http://schemas.microsoft.com/office/drawing/2018/hyperlinkcolor" val="tx"/>
                    </a:ext>
                  </a:extLst>
                </a:hlinkClick>
              </a:rPr>
              <a:t>e</a:t>
            </a:r>
            <a:r>
              <a:rPr lang="en-US" dirty="0">
                <a:solidFill>
                  <a:srgbClr val="0563C1"/>
                </a:solidFill>
                <a:hlinkClick r:id="rId2">
                  <a:extLst>
                    <a:ext uri="{A12FA001-AC4F-418D-AE19-62706E023703}">
                      <ahyp:hlinkClr xmlns:ahyp="http://schemas.microsoft.com/office/drawing/2018/hyperlinkcolor" val="tx"/>
                    </a:ext>
                  </a:extLst>
                </a:hlinkClick>
              </a:rPr>
              <a:t> and Quill</a:t>
            </a:r>
            <a:r>
              <a:rPr lang="en-US" dirty="0"/>
              <a:t>, ( c) N</a:t>
            </a:r>
            <a:r>
              <a:rPr lang="en-US" dirty="0">
                <a:solidFill>
                  <a:srgbClr val="FF0000"/>
                </a:solidFill>
              </a:rPr>
              <a:t>A</a:t>
            </a:r>
            <a:r>
              <a:rPr lang="en-US" dirty="0"/>
              <a:t>ATO</a:t>
            </a:r>
          </a:p>
          <a:p>
            <a:pPr marL="742950" lvl="1" indent="-285750">
              <a:buFont typeface="Arial" panose="020B0604020202020204" pitchFamily="34" charset="0"/>
              <a:buChar char="•"/>
            </a:pPr>
            <a:r>
              <a:rPr lang="en-US" sz="2400" dirty="0"/>
              <a:t>Intermediate</a:t>
            </a:r>
          </a:p>
          <a:p>
            <a:pPr marL="1200150" lvl="2" indent="-285750"/>
            <a:r>
              <a:rPr lang="en-US" sz="2000" dirty="0">
                <a:highlight>
                  <a:srgbClr val="FFFF00"/>
                </a:highlight>
              </a:rPr>
              <a:t>(T/F) Is the following</a:t>
            </a:r>
            <a:r>
              <a:rPr lang="en-US" dirty="0">
                <a:highlight>
                  <a:srgbClr val="FFFF00"/>
                </a:highlight>
              </a:rPr>
              <a:t> inference to: “60 Minutes reports on </a:t>
            </a:r>
            <a:r>
              <a:rPr lang="en-US" dirty="0">
                <a:highlight>
                  <a:srgbClr val="FFFF00"/>
                </a:highlight>
                <a:hlinkClick r:id="rId3"/>
              </a:rPr>
              <a:t>Defense Contractors overcharge Pentagon</a:t>
            </a:r>
            <a:r>
              <a:rPr lang="en-US" dirty="0">
                <a:highlight>
                  <a:srgbClr val="FFFF00"/>
                </a:highlight>
              </a:rPr>
              <a:t>” logical? </a:t>
            </a:r>
            <a:r>
              <a:rPr lang="en-US" i="1" dirty="0">
                <a:highlight>
                  <a:srgbClr val="FFFF00"/>
                </a:highlight>
              </a:rPr>
              <a:t>A party has compared the bottom cost necessary to manufacture goods to what the Pentagon has had to pay for them. </a:t>
            </a:r>
            <a:endParaRPr lang="en-US" sz="2000" i="1" dirty="0">
              <a:highlight>
                <a:srgbClr val="FFFF00"/>
              </a:highlight>
            </a:endParaRPr>
          </a:p>
          <a:p>
            <a:pPr marL="1200150" lvl="2" indent="-285750">
              <a:buFont typeface="Arial" panose="020B0604020202020204" pitchFamily="34" charset="0"/>
              <a:buChar char="•"/>
            </a:pPr>
            <a:r>
              <a:rPr lang="en-US" sz="2000" dirty="0"/>
              <a:t>(</a:t>
            </a:r>
            <a:r>
              <a:rPr lang="en-US" dirty="0"/>
              <a:t>MC</a:t>
            </a:r>
            <a:r>
              <a:rPr lang="en-US" sz="2000" dirty="0"/>
              <a:t>) What kinds of evidence would be required to make an inference that </a:t>
            </a:r>
          </a:p>
          <a:p>
            <a:pPr marL="1200150" lvl="2" indent="-285750">
              <a:buFont typeface="Arial" panose="020B0604020202020204" pitchFamily="34" charset="0"/>
              <a:buChar char="•"/>
            </a:pPr>
            <a:r>
              <a:rPr lang="en-US" dirty="0"/>
              <a:t>(MC) Select the meaning of the following: the future of national defense is evidence-based policy. </a:t>
            </a:r>
          </a:p>
          <a:p>
            <a:pPr marL="742950" lvl="1" indent="-285750">
              <a:buFont typeface="Arial" panose="020B0604020202020204" pitchFamily="34" charset="0"/>
              <a:buChar char="•"/>
            </a:pPr>
            <a:r>
              <a:rPr lang="en-US" sz="2400" dirty="0"/>
              <a:t>Advanced</a:t>
            </a:r>
            <a:endParaRPr lang="en-US" dirty="0"/>
          </a:p>
          <a:p>
            <a:pPr marL="1200150" lvl="2" indent="-285750">
              <a:buFont typeface="Arial" panose="020B0604020202020204" pitchFamily="34" charset="0"/>
              <a:buChar char="•"/>
            </a:pPr>
            <a:r>
              <a:rPr lang="en-US" sz="2000" dirty="0">
                <a:highlight>
                  <a:srgbClr val="FFFF00"/>
                </a:highlight>
              </a:rPr>
              <a:t>(MC) List the type of inference (computational or human) that each of these examples requires: (a) </a:t>
            </a:r>
            <a:r>
              <a:rPr lang="en-US" sz="2000" dirty="0">
                <a:highlight>
                  <a:srgbClr val="FFFF00"/>
                </a:highlight>
                <a:hlinkClick r:id="rId4"/>
              </a:rPr>
              <a:t>Kintsch's</a:t>
            </a:r>
            <a:r>
              <a:rPr lang="en-US" sz="2000" dirty="0">
                <a:highlight>
                  <a:srgbClr val="FFFF00"/>
                </a:highlight>
              </a:rPr>
              <a:t> computational model of reading successfully rewrites an Air Force text. (b) Bayesian stats predict that AFRS will fall short of its goals by 10%. ( c ) Bayesian stats are often the test case to algorithm effectiveness, so an AFRS statistician guesses Bayesian statistics are the best to predict the future of Force recruitment. </a:t>
            </a:r>
          </a:p>
          <a:p>
            <a:pPr marL="1200150" lvl="2" indent="-285750"/>
            <a:r>
              <a:rPr lang="en-US" dirty="0">
                <a:highlight>
                  <a:srgbClr val="FFFF00"/>
                </a:highlight>
              </a:rPr>
              <a:t>(MC) Select the most logical inference to the following set of circumstances: </a:t>
            </a:r>
            <a:r>
              <a:rPr lang="en-US" dirty="0" err="1">
                <a:highlight>
                  <a:srgbClr val="FFFF00"/>
                </a:highlight>
              </a:rPr>
              <a:t>i</a:t>
            </a:r>
            <a:r>
              <a:rPr lang="en-US" dirty="0">
                <a:highlight>
                  <a:srgbClr val="FFFF00"/>
                </a:highlight>
              </a:rPr>
              <a:t>.  ii. </a:t>
            </a:r>
            <a:r>
              <a:rPr lang="en-US" dirty="0" err="1">
                <a:highlight>
                  <a:srgbClr val="FFFF00"/>
                </a:highlight>
              </a:rPr>
              <a:t>Iii</a:t>
            </a:r>
            <a:r>
              <a:rPr lang="en-US" dirty="0">
                <a:highlight>
                  <a:srgbClr val="FFFF00"/>
                </a:highlight>
              </a:rPr>
              <a:t>. </a:t>
            </a:r>
            <a:endParaRPr lang="en-US" sz="2000" dirty="0">
              <a:highlight>
                <a:srgbClr val="FFFF00"/>
              </a:highlight>
            </a:endParaRPr>
          </a:p>
          <a:p>
            <a:pPr marL="1200150" lvl="2" indent="-285750"/>
            <a:r>
              <a:rPr lang="en-US" sz="2000" dirty="0"/>
              <a:t>(MC) What is the best meaning of the Air Force motto “</a:t>
            </a:r>
            <a:r>
              <a:rPr lang="en-US" sz="2000" dirty="0">
                <a:hlinkClick r:id="rId5"/>
              </a:rPr>
              <a:t>Aim High … Fly-Fight-Win</a:t>
            </a:r>
            <a:r>
              <a:rPr lang="en-US" sz="2000" dirty="0"/>
              <a:t>”? </a:t>
            </a:r>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347117" cy="369332"/>
          </a:xfrm>
          <a:prstGeom prst="rect">
            <a:avLst/>
          </a:prstGeom>
          <a:noFill/>
        </p:spPr>
        <p:txBody>
          <a:bodyPr wrap="none" rtlCol="0">
            <a:spAutoFit/>
          </a:bodyPr>
          <a:lstStyle/>
          <a:p>
            <a:r>
              <a:rPr lang="en-US" dirty="0"/>
              <a:t>1. Domain of Cognition</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4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2 / 3</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1 / 2</a:t>
            </a:r>
          </a:p>
        </p:txBody>
      </p:sp>
    </p:spTree>
    <p:extLst>
      <p:ext uri="{BB962C8B-B14F-4D97-AF65-F5344CB8AC3E}">
        <p14:creationId xmlns:p14="http://schemas.microsoft.com/office/powerpoint/2010/main" val="41506316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Reasoning and Problem Solving</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11008364" cy="4570430"/>
          </a:xfrm>
        </p:spPr>
        <p:txBody>
          <a:bodyPr>
            <a:normAutofit/>
          </a:bodyPr>
          <a:lstStyle/>
          <a:p>
            <a:r>
              <a:rPr lang="en-US" sz="2400" dirty="0"/>
              <a:t>Making inferences (</a:t>
            </a:r>
            <a:r>
              <a:rPr lang="en-US" sz="2400" dirty="0">
                <a:highlight>
                  <a:srgbClr val="FFFF00"/>
                </a:highlight>
              </a:rPr>
              <a:t>highlighted: new</a:t>
            </a:r>
            <a:r>
              <a:rPr lang="en-US" sz="2400" dirty="0"/>
              <a:t>; not highlighted: filler)</a:t>
            </a:r>
          </a:p>
          <a:p>
            <a:pPr lvl="1"/>
            <a:r>
              <a:rPr lang="en-US" sz="2000" dirty="0"/>
              <a:t>Expert</a:t>
            </a:r>
          </a:p>
          <a:p>
            <a:pPr lvl="2"/>
            <a:r>
              <a:rPr lang="en-US" sz="1700" dirty="0"/>
              <a:t>(MC) With the creation of the Space Force’s own policies and procedures, select the most accurate comparison/contrast between SF and AF. </a:t>
            </a:r>
          </a:p>
          <a:p>
            <a:pPr marL="1200150" lvl="2" indent="-285750">
              <a:buFont typeface="Arial" panose="020B0604020202020204" pitchFamily="34" charset="0"/>
              <a:buChar char="•"/>
            </a:pPr>
            <a:r>
              <a:rPr lang="en-US" sz="1700" dirty="0"/>
              <a:t>(MC/ER) What sources or line of logic might you use to decide when the right time to go to war is? </a:t>
            </a:r>
          </a:p>
          <a:p>
            <a:pPr marL="1200150" lvl="2" indent="-285750"/>
            <a:r>
              <a:rPr lang="en-US" sz="1700" dirty="0">
                <a:highlight>
                  <a:srgbClr val="FFFF00"/>
                </a:highlight>
              </a:rPr>
              <a:t>(MC/ER) Consider the following military scenario split into two sentences: (1) identified elevated risk to </a:t>
            </a:r>
            <a:r>
              <a:rPr lang="en-US" sz="1700" dirty="0">
                <a:highlight>
                  <a:srgbClr val="FFFF00"/>
                </a:highlight>
                <a:hlinkClick r:id="rId2"/>
              </a:rPr>
              <a:t>PTSD</a:t>
            </a:r>
            <a:r>
              <a:rPr lang="en-US" sz="1700" dirty="0">
                <a:highlight>
                  <a:srgbClr val="FFFF00"/>
                </a:highlight>
              </a:rPr>
              <a:t> in military and veterans (2) Increases in mental health resources. Each choice below contains three rewordings of the above scenario as an “inference,” “evidence,” and “response” sentence. Select the response below that best outlines each of these categories.  </a:t>
            </a:r>
            <a:endParaRPr lang="en-US" sz="1700" i="1" dirty="0">
              <a:highlight>
                <a:srgbClr val="FFFF00"/>
              </a:highlight>
            </a:endParaRPr>
          </a:p>
          <a:p>
            <a:pPr marL="742950" lvl="1" indent="-285750"/>
            <a:r>
              <a:rPr lang="en-US" sz="2000" dirty="0"/>
              <a:t>Master</a:t>
            </a:r>
          </a:p>
          <a:p>
            <a:pPr marL="1200150" lvl="2" indent="-285750"/>
            <a:r>
              <a:rPr lang="en-US" sz="1700" dirty="0">
                <a:highlight>
                  <a:srgbClr val="FFFF00"/>
                </a:highlight>
              </a:rPr>
              <a:t>(MC/ER) Consider the following military scenario: recruiting  </a:t>
            </a:r>
            <a:endParaRPr lang="en-US" sz="1700" i="1" dirty="0">
              <a:highlight>
                <a:srgbClr val="FFFF00"/>
              </a:highlight>
            </a:endParaRPr>
          </a:p>
          <a:p>
            <a:pPr marL="1200150" lvl="2" indent="-285750">
              <a:buFont typeface="Arial" panose="020B0604020202020204" pitchFamily="34" charset="0"/>
              <a:buChar char="•"/>
            </a:pPr>
            <a:r>
              <a:rPr lang="en-US" sz="1700" dirty="0"/>
              <a:t>(MC/ER) Choose the most effective description of what the Force Development Environment Assessment should include in its next iteration. [</a:t>
            </a:r>
            <a:r>
              <a:rPr lang="en-US" sz="1700" i="1" dirty="0"/>
              <a:t>Perhaps also/rather suited for another variable?]</a:t>
            </a:r>
            <a:endParaRPr lang="en-US" sz="1700" dirty="0"/>
          </a:p>
          <a:p>
            <a:pPr marL="1200150" lvl="2" indent="-285750">
              <a:buFont typeface="Arial" panose="020B0604020202020204" pitchFamily="34" charset="0"/>
              <a:buChar char="•"/>
            </a:pPr>
            <a:r>
              <a:rPr lang="en-US" sz="1700" dirty="0"/>
              <a:t>(MC/ER) Select the most effective combination/schedule of roles [in a specific MAJCOM?] to achieve a mission-centric operation. </a:t>
            </a:r>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347117" cy="369332"/>
          </a:xfrm>
          <a:prstGeom prst="rect">
            <a:avLst/>
          </a:prstGeom>
          <a:noFill/>
        </p:spPr>
        <p:txBody>
          <a:bodyPr wrap="none" rtlCol="0">
            <a:spAutoFit/>
          </a:bodyPr>
          <a:lstStyle/>
          <a:p>
            <a:r>
              <a:rPr lang="en-US" dirty="0"/>
              <a:t>1. Domain of Cognition</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4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2 / 3</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2 / 2</a:t>
            </a:r>
          </a:p>
        </p:txBody>
      </p:sp>
    </p:spTree>
    <p:extLst>
      <p:ext uri="{BB962C8B-B14F-4D97-AF65-F5344CB8AC3E}">
        <p14:creationId xmlns:p14="http://schemas.microsoft.com/office/powerpoint/2010/main" val="19047740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Reasoning and Problem Solving</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46284" y="1690688"/>
            <a:ext cx="11099432" cy="4570430"/>
          </a:xfrm>
        </p:spPr>
        <p:txBody>
          <a:bodyPr>
            <a:normAutofit fontScale="85000" lnSpcReduction="10000"/>
          </a:bodyPr>
          <a:lstStyle/>
          <a:p>
            <a:r>
              <a:rPr lang="en-US" dirty="0"/>
              <a:t>Providing solutions (</a:t>
            </a:r>
            <a:r>
              <a:rPr lang="en-US" dirty="0">
                <a:highlight>
                  <a:srgbClr val="FFFF00"/>
                </a:highlight>
              </a:rPr>
              <a:t>highlighted: new</a:t>
            </a:r>
            <a:r>
              <a:rPr lang="en-US" dirty="0"/>
              <a:t>; not highlighted: filler)</a:t>
            </a:r>
          </a:p>
          <a:p>
            <a:pPr lvl="1"/>
            <a:r>
              <a:rPr lang="en-US" dirty="0"/>
              <a:t>Basic</a:t>
            </a:r>
          </a:p>
          <a:p>
            <a:pPr lvl="2"/>
            <a:r>
              <a:rPr lang="en-US" dirty="0"/>
              <a:t>(T/F) Is the </a:t>
            </a:r>
          </a:p>
          <a:p>
            <a:pPr lvl="2"/>
            <a:r>
              <a:rPr lang="en-US" dirty="0"/>
              <a:t>(MC) Select the keywords in this sentence: the future of the Air Force is evidence-based policy. </a:t>
            </a:r>
          </a:p>
          <a:p>
            <a:pPr lvl="2"/>
            <a:r>
              <a:rPr lang="en-US" dirty="0"/>
              <a:t>(SR) Provide spelling corrections to the following military vocabulary: (a) </a:t>
            </a:r>
            <a:r>
              <a:rPr lang="en-US" dirty="0" err="1"/>
              <a:t>c</a:t>
            </a:r>
            <a:r>
              <a:rPr lang="en-US" dirty="0" err="1">
                <a:solidFill>
                  <a:srgbClr val="FF0000"/>
                </a:solidFill>
              </a:rPr>
              <a:t>o</a:t>
            </a:r>
            <a:r>
              <a:rPr lang="en-US" dirty="0" err="1"/>
              <a:t>orps</a:t>
            </a:r>
            <a:r>
              <a:rPr lang="en-US" dirty="0"/>
              <a:t>, (b) </a:t>
            </a:r>
            <a:r>
              <a:rPr lang="en-US" dirty="0">
                <a:solidFill>
                  <a:srgbClr val="0563C1"/>
                </a:solidFill>
                <a:hlinkClick r:id="rId2">
                  <a:extLst>
                    <a:ext uri="{A12FA001-AC4F-418D-AE19-62706E023703}">
                      <ahyp:hlinkClr xmlns:ahyp="http://schemas.microsoft.com/office/drawing/2018/hyperlinkcolor" val="tx"/>
                    </a:ext>
                  </a:extLst>
                </a:hlinkClick>
              </a:rPr>
              <a:t>Ton</a:t>
            </a:r>
            <a:r>
              <a:rPr lang="en-US" dirty="0">
                <a:solidFill>
                  <a:srgbClr val="FF0000"/>
                </a:solidFill>
                <a:hlinkClick r:id="rId2">
                  <a:extLst>
                    <a:ext uri="{A12FA001-AC4F-418D-AE19-62706E023703}">
                      <ahyp:hlinkClr xmlns:ahyp="http://schemas.microsoft.com/office/drawing/2018/hyperlinkcolor" val="tx"/>
                    </a:ext>
                  </a:extLst>
                </a:hlinkClick>
              </a:rPr>
              <a:t>e</a:t>
            </a:r>
            <a:r>
              <a:rPr lang="en-US" dirty="0">
                <a:solidFill>
                  <a:srgbClr val="0563C1"/>
                </a:solidFill>
                <a:hlinkClick r:id="rId2">
                  <a:extLst>
                    <a:ext uri="{A12FA001-AC4F-418D-AE19-62706E023703}">
                      <ahyp:hlinkClr xmlns:ahyp="http://schemas.microsoft.com/office/drawing/2018/hyperlinkcolor" val="tx"/>
                    </a:ext>
                  </a:extLst>
                </a:hlinkClick>
              </a:rPr>
              <a:t> and Quill</a:t>
            </a:r>
            <a:r>
              <a:rPr lang="en-US" dirty="0"/>
              <a:t>, ( c) N</a:t>
            </a:r>
            <a:r>
              <a:rPr lang="en-US" dirty="0">
                <a:solidFill>
                  <a:srgbClr val="FF0000"/>
                </a:solidFill>
              </a:rPr>
              <a:t>A</a:t>
            </a:r>
            <a:r>
              <a:rPr lang="en-US" dirty="0"/>
              <a:t>ATO</a:t>
            </a:r>
          </a:p>
          <a:p>
            <a:pPr marL="742950" lvl="1" indent="-285750">
              <a:buFont typeface="Arial" panose="020B0604020202020204" pitchFamily="34" charset="0"/>
              <a:buChar char="•"/>
            </a:pPr>
            <a:r>
              <a:rPr lang="en-US" sz="2400" dirty="0"/>
              <a:t>Intermediate</a:t>
            </a:r>
          </a:p>
          <a:p>
            <a:pPr marL="1200150" lvl="2" indent="-285750">
              <a:buFont typeface="Arial" panose="020B0604020202020204" pitchFamily="34" charset="0"/>
              <a:buChar char="•"/>
            </a:pPr>
            <a:r>
              <a:rPr lang="en-US" sz="2000" dirty="0"/>
              <a:t>(SR) Identify the subject and provide the corrected spelling of the word based off of context: Militia and volunteer </a:t>
            </a:r>
            <a:r>
              <a:rPr lang="en-US" sz="2000" dirty="0">
                <a:solidFill>
                  <a:srgbClr val="FF0000"/>
                </a:solidFill>
              </a:rPr>
              <a:t>cores</a:t>
            </a:r>
            <a:r>
              <a:rPr lang="en-US" sz="2000" dirty="0"/>
              <a:t> are lawful combatants. </a:t>
            </a:r>
          </a:p>
          <a:p>
            <a:pPr marL="1200150" lvl="2" indent="-285750">
              <a:buFont typeface="Arial" panose="020B0604020202020204" pitchFamily="34" charset="0"/>
              <a:buChar char="•"/>
            </a:pPr>
            <a:r>
              <a:rPr lang="en-US" sz="2000" dirty="0"/>
              <a:t>(T/F) Did the Italian team </a:t>
            </a:r>
            <a:r>
              <a:rPr lang="en-US" sz="2000" dirty="0" err="1">
                <a:hlinkClick r:id="rId3"/>
              </a:rPr>
              <a:t>mHACKeroni</a:t>
            </a:r>
            <a:r>
              <a:rPr lang="en-US" sz="2000" dirty="0"/>
              <a:t> hack into an Air Force satellite in order to help the US strengthen its </a:t>
            </a:r>
            <a:r>
              <a:rPr lang="en-US" dirty="0"/>
              <a:t>defense strategy? </a:t>
            </a:r>
            <a:endParaRPr lang="en-US" sz="2000" dirty="0"/>
          </a:p>
          <a:p>
            <a:pPr marL="1200150" lvl="2" indent="-285750">
              <a:buFont typeface="Arial" panose="020B0604020202020204" pitchFamily="34" charset="0"/>
              <a:buChar char="•"/>
            </a:pPr>
            <a:r>
              <a:rPr lang="en-US" dirty="0"/>
              <a:t>(MC) Select the meaning of the following: the future of national defense is evidence-based policy. </a:t>
            </a:r>
          </a:p>
          <a:p>
            <a:pPr marL="742950" lvl="1" indent="-285750">
              <a:buFont typeface="Arial" panose="020B0604020202020204" pitchFamily="34" charset="0"/>
              <a:buChar char="•"/>
            </a:pPr>
            <a:r>
              <a:rPr lang="en-US" sz="2400" dirty="0"/>
              <a:t>Advanced</a:t>
            </a:r>
            <a:endParaRPr lang="en-US" dirty="0"/>
          </a:p>
          <a:p>
            <a:pPr marL="1200150" lvl="2" indent="-285750"/>
            <a:r>
              <a:rPr lang="en-US" sz="2000" dirty="0">
                <a:highlight>
                  <a:srgbClr val="FFFF00"/>
                </a:highlight>
              </a:rPr>
              <a:t>(MC) State the relationship between ”What is the basic training timeline?” and “the AF basic training website has all of your basic training FAQs answered”? (</a:t>
            </a:r>
            <a:r>
              <a:rPr lang="en-US" sz="2000" i="1" dirty="0">
                <a:highlight>
                  <a:srgbClr val="FFFF00"/>
                </a:highlight>
              </a:rPr>
              <a:t>answer: the latter offers a potential path to answer the first</a:t>
            </a:r>
            <a:r>
              <a:rPr lang="en-US" sz="2000" dirty="0">
                <a:highlight>
                  <a:srgbClr val="FFFF00"/>
                </a:highlight>
              </a:rPr>
              <a:t>)</a:t>
            </a:r>
          </a:p>
          <a:p>
            <a:pPr marL="1200150" lvl="2" indent="-285750"/>
            <a:r>
              <a:rPr lang="en-US" dirty="0"/>
              <a:t>(MC) Select the statement that best describes the relationship between the Air Force and the Space Force. </a:t>
            </a:r>
            <a:endParaRPr lang="en-US" sz="2000" dirty="0"/>
          </a:p>
          <a:p>
            <a:pPr marL="1200150" lvl="2" indent="-285750"/>
            <a:r>
              <a:rPr lang="en-US" sz="2000" dirty="0"/>
              <a:t>(MC) What is the best meaning of the Air Force motto “</a:t>
            </a:r>
            <a:r>
              <a:rPr lang="en-US" sz="2000" dirty="0">
                <a:hlinkClick r:id="rId4"/>
              </a:rPr>
              <a:t>Aim High … Fly-Fight-Win</a:t>
            </a:r>
            <a:r>
              <a:rPr lang="en-US" sz="2000" dirty="0"/>
              <a:t>”? </a:t>
            </a:r>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347117" cy="369332"/>
          </a:xfrm>
          <a:prstGeom prst="rect">
            <a:avLst/>
          </a:prstGeom>
          <a:noFill/>
        </p:spPr>
        <p:txBody>
          <a:bodyPr wrap="none" rtlCol="0">
            <a:spAutoFit/>
          </a:bodyPr>
          <a:lstStyle/>
          <a:p>
            <a:r>
              <a:rPr lang="en-US" dirty="0"/>
              <a:t>1. Domain of Cognition</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4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3 / 3</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1 / 2</a:t>
            </a:r>
          </a:p>
        </p:txBody>
      </p:sp>
    </p:spTree>
    <p:extLst>
      <p:ext uri="{BB962C8B-B14F-4D97-AF65-F5344CB8AC3E}">
        <p14:creationId xmlns:p14="http://schemas.microsoft.com/office/powerpoint/2010/main" val="33418535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Reasoning and Problem Solving</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11008364" cy="4570430"/>
          </a:xfrm>
        </p:spPr>
        <p:txBody>
          <a:bodyPr>
            <a:normAutofit/>
          </a:bodyPr>
          <a:lstStyle/>
          <a:p>
            <a:r>
              <a:rPr lang="en-US" sz="2400" dirty="0"/>
              <a:t>Providing solutions (</a:t>
            </a:r>
            <a:r>
              <a:rPr lang="en-US" sz="2400" dirty="0">
                <a:highlight>
                  <a:srgbClr val="FFFF00"/>
                </a:highlight>
              </a:rPr>
              <a:t>highlighted: new</a:t>
            </a:r>
            <a:r>
              <a:rPr lang="en-US" sz="2400" dirty="0"/>
              <a:t>; not highlighted: filler)</a:t>
            </a:r>
          </a:p>
          <a:p>
            <a:pPr lvl="1"/>
            <a:r>
              <a:rPr lang="en-US" sz="2000" dirty="0"/>
              <a:t>Expert</a:t>
            </a:r>
          </a:p>
          <a:p>
            <a:pPr lvl="2"/>
            <a:r>
              <a:rPr lang="en-US" sz="1700" dirty="0"/>
              <a:t>(MC) With the creation of the Space Force’s own policies and procedures, select the most accurate comparison/contrast between SF and AF. </a:t>
            </a:r>
          </a:p>
          <a:p>
            <a:pPr marL="1200150" lvl="2" indent="-285750">
              <a:buFont typeface="Arial" panose="020B0604020202020204" pitchFamily="34" charset="0"/>
              <a:buChar char="•"/>
            </a:pPr>
            <a:r>
              <a:rPr lang="en-US" sz="1700" dirty="0"/>
              <a:t>(MC/ER) What sources or line of logic might you use to decide when the right time to go to war is? </a:t>
            </a:r>
          </a:p>
          <a:p>
            <a:pPr marL="1200150" lvl="2" indent="-285750"/>
            <a:r>
              <a:rPr lang="en-US" sz="1700" dirty="0">
                <a:highlight>
                  <a:srgbClr val="FFFF00"/>
                </a:highlight>
              </a:rPr>
              <a:t>(MC/ER) If you are asked to create a more optimal fiscal budget using current events, an optimization algorithm, and national defense priorities, where might you look to get the resources that enable you to best answer this? Select from the below options. </a:t>
            </a:r>
          </a:p>
          <a:p>
            <a:pPr marL="742950" lvl="1" indent="-285750"/>
            <a:r>
              <a:rPr lang="en-US" sz="2000" dirty="0"/>
              <a:t>Master</a:t>
            </a:r>
          </a:p>
          <a:p>
            <a:pPr marL="1200150" lvl="2" indent="-285750"/>
            <a:r>
              <a:rPr lang="en-US" sz="1700" dirty="0">
                <a:highlight>
                  <a:srgbClr val="FFFF00"/>
                </a:highlight>
              </a:rPr>
              <a:t>(MC/ER) If you are asked to optimize the current fiscal budget, what factors would enable you to best create a solution? (Select) write (from) below.  </a:t>
            </a:r>
            <a:endParaRPr lang="en-US" sz="1700" i="1" dirty="0">
              <a:highlight>
                <a:srgbClr val="FFFF00"/>
              </a:highlight>
            </a:endParaRPr>
          </a:p>
          <a:p>
            <a:pPr marL="1200150" lvl="2" indent="-285750">
              <a:buFont typeface="Arial" panose="020B0604020202020204" pitchFamily="34" charset="0"/>
              <a:buChar char="•"/>
            </a:pPr>
            <a:r>
              <a:rPr lang="en-US" sz="1700" dirty="0"/>
              <a:t>(MC/ER) Choose the most effective description of what the Force Development Environment Assessment should include in its next iteration. [</a:t>
            </a:r>
            <a:r>
              <a:rPr lang="en-US" sz="1700" i="1" dirty="0"/>
              <a:t>Perhaps also/rather suited for another variable?]</a:t>
            </a:r>
            <a:endParaRPr lang="en-US" sz="1700" dirty="0"/>
          </a:p>
          <a:p>
            <a:pPr marL="1200150" lvl="2" indent="-285750">
              <a:buFont typeface="Arial" panose="020B0604020202020204" pitchFamily="34" charset="0"/>
              <a:buChar char="•"/>
            </a:pPr>
            <a:r>
              <a:rPr lang="en-US" sz="1700" dirty="0"/>
              <a:t>(MC/ER) Select the most effective combination/schedule of roles [in a specific MAJCOM?] to achieve a mission-centric operation. </a:t>
            </a:r>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347117" cy="369332"/>
          </a:xfrm>
          <a:prstGeom prst="rect">
            <a:avLst/>
          </a:prstGeom>
          <a:noFill/>
        </p:spPr>
        <p:txBody>
          <a:bodyPr wrap="none" rtlCol="0">
            <a:spAutoFit/>
          </a:bodyPr>
          <a:lstStyle/>
          <a:p>
            <a:r>
              <a:rPr lang="en-US" dirty="0"/>
              <a:t>1. Domain of Cognition</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4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3 / 3</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2 / 2</a:t>
            </a:r>
          </a:p>
        </p:txBody>
      </p:sp>
    </p:spTree>
    <p:extLst>
      <p:ext uri="{BB962C8B-B14F-4D97-AF65-F5344CB8AC3E}">
        <p14:creationId xmlns:p14="http://schemas.microsoft.com/office/powerpoint/2010/main" val="899448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r>
              <a:rPr lang="en-US" dirty="0"/>
              <a:t>Type of Processing</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838200" y="1825625"/>
            <a:ext cx="5348844" cy="4351338"/>
          </a:xfrm>
        </p:spPr>
        <p:txBody>
          <a:bodyPr>
            <a:normAutofit/>
          </a:bodyPr>
          <a:lstStyle/>
          <a:p>
            <a:r>
              <a:rPr lang="en-US" dirty="0"/>
              <a:t>Automatic Processing</a:t>
            </a:r>
          </a:p>
          <a:p>
            <a:pPr lvl="1"/>
            <a:r>
              <a:rPr lang="en-US" dirty="0"/>
              <a:t>Basic text parsing</a:t>
            </a:r>
          </a:p>
          <a:p>
            <a:pPr lvl="1"/>
            <a:r>
              <a:rPr lang="en-US" dirty="0"/>
              <a:t>Grammar checks</a:t>
            </a:r>
          </a:p>
          <a:p>
            <a:r>
              <a:rPr lang="en-US" dirty="0"/>
              <a:t>Controlled Processing</a:t>
            </a:r>
          </a:p>
          <a:p>
            <a:pPr lvl="1"/>
            <a:r>
              <a:rPr lang="en-US" dirty="0"/>
              <a:t>Contextual understanding</a:t>
            </a:r>
          </a:p>
          <a:p>
            <a:pPr lvl="1"/>
            <a:r>
              <a:rPr lang="en-US" dirty="0"/>
              <a:t>Logical reasoning</a:t>
            </a:r>
          </a:p>
          <a:p>
            <a:pPr lvl="1"/>
            <a:r>
              <a:rPr lang="en-US" dirty="0"/>
              <a:t>Creative responses</a:t>
            </a:r>
          </a:p>
          <a:p>
            <a:endParaRPr lang="en-US" dirty="0"/>
          </a:p>
        </p:txBody>
      </p:sp>
      <p:sp>
        <p:nvSpPr>
          <p:cNvPr id="5" name="TextBox 4">
            <a:extLst>
              <a:ext uri="{FF2B5EF4-FFF2-40B4-BE49-F238E27FC236}">
                <a16:creationId xmlns:a16="http://schemas.microsoft.com/office/drawing/2014/main" id="{F07AB50D-0BCE-05B8-256E-A1201E2FC65A}"/>
              </a:ext>
            </a:extLst>
          </p:cNvPr>
          <p:cNvSpPr txBox="1"/>
          <p:nvPr/>
        </p:nvSpPr>
        <p:spPr>
          <a:xfrm>
            <a:off x="11683527" y="6488668"/>
            <a:ext cx="508473" cy="369332"/>
          </a:xfrm>
          <a:prstGeom prst="rect">
            <a:avLst/>
          </a:prstGeom>
          <a:noFill/>
        </p:spPr>
        <p:txBody>
          <a:bodyPr wrap="none" rtlCol="0">
            <a:spAutoFit/>
          </a:bodyPr>
          <a:lstStyle/>
          <a:p>
            <a:r>
              <a:rPr lang="en-US" dirty="0"/>
              <a:t>2/8</a:t>
            </a:r>
          </a:p>
        </p:txBody>
      </p:sp>
    </p:spTree>
    <p:extLst>
      <p:ext uri="{BB962C8B-B14F-4D97-AF65-F5344CB8AC3E}">
        <p14:creationId xmlns:p14="http://schemas.microsoft.com/office/powerpoint/2010/main" val="30023710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Automatic Processing</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2899" y="1690688"/>
            <a:ext cx="5549716" cy="4570430"/>
          </a:xfrm>
        </p:spPr>
        <p:txBody>
          <a:bodyPr>
            <a:normAutofit fontScale="55000" lnSpcReduction="20000"/>
          </a:bodyPr>
          <a:lstStyle/>
          <a:p>
            <a:r>
              <a:rPr lang="en-US" sz="2000" dirty="0"/>
              <a:t>Basic text Parsing: prompt 1 </a:t>
            </a:r>
          </a:p>
          <a:p>
            <a:r>
              <a:rPr lang="en-US" sz="2000" dirty="0"/>
              <a:t>[1] Chapter 3 of "Tongue and Quill" focuses on effective writing principles and techniques. [2] It emphasizes the importance of clear and concise communication in written form. [3] The chapter begins by discussing the purpose of writing, which is to convey information and ideas to the reader. [4] It highlights the need for writers to </a:t>
            </a:r>
            <a:r>
              <a:rPr lang="en-US" sz="2000" u="sng" dirty="0"/>
              <a:t>understand their audience </a:t>
            </a:r>
            <a:r>
              <a:rPr lang="en-US" sz="2000" dirty="0"/>
              <a:t>and tailor their message accordingly.</a:t>
            </a:r>
            <a:br>
              <a:rPr lang="en-US" sz="2000" dirty="0"/>
            </a:br>
            <a:br>
              <a:rPr lang="en-US" sz="2000" dirty="0"/>
            </a:br>
            <a:r>
              <a:rPr lang="en-US" sz="2000" dirty="0"/>
              <a:t>[5] The chapter then delves into the writing process, emphasizing the importance of </a:t>
            </a:r>
            <a:r>
              <a:rPr lang="en-US" sz="2000" u="sng" dirty="0"/>
              <a:t>planning and organizing </a:t>
            </a:r>
            <a:r>
              <a:rPr lang="en-US" sz="2000" dirty="0"/>
              <a:t>before putting words on paper. [6] It provides guidance on how to structure a document, including the use of headings, subheadings, and bullet points to enhance readability.</a:t>
            </a:r>
            <a:br>
              <a:rPr lang="en-US" sz="2000" dirty="0"/>
            </a:br>
            <a:br>
              <a:rPr lang="en-US" sz="2000" dirty="0"/>
            </a:br>
            <a:r>
              <a:rPr lang="en-US" sz="2000" dirty="0"/>
              <a:t>[7] Additionally, the chapter covers the importance of using </a:t>
            </a:r>
            <a:r>
              <a:rPr lang="en-US" sz="2000" u="sng" dirty="0"/>
              <a:t>plain language </a:t>
            </a:r>
            <a:r>
              <a:rPr lang="en-US" sz="2000" dirty="0"/>
              <a:t>and avoiding jargon or technical terms that may confuse the reader. [8] It encourages writers to use active voice, concrete language, and specific examples to make their writing more engaging and understandable.</a:t>
            </a:r>
            <a:br>
              <a:rPr lang="en-US" sz="2000" dirty="0"/>
            </a:br>
            <a:br>
              <a:rPr lang="en-US" sz="2000" dirty="0"/>
            </a:br>
            <a:r>
              <a:rPr lang="en-US" sz="2000" dirty="0"/>
              <a:t>[9] Furthermore, the chapter discusses the use of </a:t>
            </a:r>
            <a:r>
              <a:rPr lang="en-US" sz="2000" u="sng" dirty="0"/>
              <a:t>grammar and punctuation </a:t>
            </a:r>
            <a:r>
              <a:rPr lang="en-US" sz="2000" dirty="0"/>
              <a:t>to ensure clarity and precision in writing. [10] It provides tips on avoiding common grammatical errors and offers guidance on proper sentence structure and punctuation usage.</a:t>
            </a:r>
            <a:br>
              <a:rPr lang="en-US" sz="2000" dirty="0"/>
            </a:br>
            <a:br>
              <a:rPr lang="en-US" sz="2000" dirty="0"/>
            </a:br>
            <a:r>
              <a:rPr lang="en-US" sz="2000" dirty="0"/>
              <a:t>[11] The chapter also addresses the importance of </a:t>
            </a:r>
            <a:r>
              <a:rPr lang="en-US" sz="2000" u="sng" dirty="0"/>
              <a:t>proofreading</a:t>
            </a:r>
            <a:r>
              <a:rPr lang="en-US" sz="2000" dirty="0"/>
              <a:t> and editing to eliminate errors and improve the overall quality of the written work. [12] It provides strategies for reviewing and revising a document, including seeking feedback from others.</a:t>
            </a:r>
            <a:br>
              <a:rPr lang="en-US" sz="2000" dirty="0"/>
            </a:br>
            <a:br>
              <a:rPr lang="en-US" sz="2000" dirty="0"/>
            </a:br>
            <a:r>
              <a:rPr lang="en-US" sz="2000" dirty="0"/>
              <a:t>[13] Lastly, the chapter emphasizes the need for </a:t>
            </a:r>
            <a:r>
              <a:rPr lang="en-US" sz="2000" u="sng" dirty="0"/>
              <a:t>professionalism</a:t>
            </a:r>
            <a:r>
              <a:rPr lang="en-US" sz="2000" dirty="0"/>
              <a:t> in writing, including maintaining a respectful tone, adhering to organizational guidelines, and ensuring accuracy in facts and data.</a:t>
            </a:r>
            <a:br>
              <a:rPr lang="en-US" sz="2000" dirty="0"/>
            </a:br>
            <a:br>
              <a:rPr lang="en-US" sz="2000" dirty="0"/>
            </a:br>
            <a:r>
              <a:rPr lang="en-US" sz="2000" dirty="0"/>
              <a:t>[14] Overall, Chapter 3 of "Tongue and Quill" serves as a comprehensive guide to effective writing principles and techniques, providing valuable insights and practical tips for improving written communication skills. [15] Reading this chapter streamlines the USAF grammar learning process.</a:t>
            </a:r>
            <a:br>
              <a:rPr lang="en-US" sz="1900" dirty="0"/>
            </a:br>
            <a:endParaRPr lang="en-US" sz="1200" dirty="0"/>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2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1</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0 / 2</a:t>
            </a:r>
          </a:p>
        </p:txBody>
      </p:sp>
      <p:sp>
        <p:nvSpPr>
          <p:cNvPr id="6" name="Content Placeholder 2">
            <a:extLst>
              <a:ext uri="{FF2B5EF4-FFF2-40B4-BE49-F238E27FC236}">
                <a16:creationId xmlns:a16="http://schemas.microsoft.com/office/drawing/2014/main" id="{592BF241-22D2-23F8-902C-20EF75C116EF}"/>
              </a:ext>
            </a:extLst>
          </p:cNvPr>
          <p:cNvSpPr txBox="1">
            <a:spLocks/>
          </p:cNvSpPr>
          <p:nvPr/>
        </p:nvSpPr>
        <p:spPr>
          <a:xfrm>
            <a:off x="6357609" y="1686391"/>
            <a:ext cx="5580154" cy="457043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dirty="0"/>
              <a:t>Grammar checks: prompt 2 [grammar messy version of left]</a:t>
            </a:r>
          </a:p>
          <a:p>
            <a:r>
              <a:rPr lang="en-US" sz="1100" dirty="0"/>
              <a:t>[1] Chapter 3 of "Tongue and Quill" focuses on effective writing principles and techniques</a:t>
            </a:r>
            <a:r>
              <a:rPr lang="en-US" sz="1100" dirty="0">
                <a:solidFill>
                  <a:srgbClr val="FF0000"/>
                </a:solidFill>
              </a:rPr>
              <a:t>_</a:t>
            </a:r>
            <a:r>
              <a:rPr lang="en-US" sz="1100" dirty="0"/>
              <a:t> [2] </a:t>
            </a:r>
            <a:r>
              <a:rPr lang="en-US" sz="1100" dirty="0">
                <a:solidFill>
                  <a:srgbClr val="FF0000"/>
                </a:solidFill>
              </a:rPr>
              <a:t>__ </a:t>
            </a:r>
            <a:r>
              <a:rPr lang="en-US" sz="1100" dirty="0"/>
              <a:t>emphasizes the importance of clear and concise communication in written form. [3] The chapter begins by discussing the purpose of writing for the reader, which is to convey information and ideas to </a:t>
            </a:r>
            <a:r>
              <a:rPr lang="en-US" sz="1100" dirty="0">
                <a:solidFill>
                  <a:srgbClr val="FF0000"/>
                </a:solidFill>
              </a:rPr>
              <a:t>them</a:t>
            </a:r>
            <a:r>
              <a:rPr lang="en-US" sz="1100" dirty="0"/>
              <a:t>. [4] It highlights the need for writers to understand their audience and tailor their message accordingly.</a:t>
            </a:r>
            <a:br>
              <a:rPr lang="en-US" sz="1100" dirty="0"/>
            </a:br>
            <a:br>
              <a:rPr lang="en-US" sz="1100" dirty="0"/>
            </a:br>
            <a:r>
              <a:rPr lang="en-US" sz="1100" dirty="0"/>
              <a:t>[5] This set of pages then </a:t>
            </a:r>
            <a:r>
              <a:rPr lang="en-US" sz="1100" dirty="0">
                <a:solidFill>
                  <a:srgbClr val="FF0000"/>
                </a:solidFill>
              </a:rPr>
              <a:t>delve</a:t>
            </a:r>
            <a:r>
              <a:rPr lang="en-US" sz="1100" dirty="0"/>
              <a:t> into the writing process, emphasizing the importance of planning and organizing before putting words on paper. [6]</a:t>
            </a:r>
            <a:r>
              <a:rPr lang="en-US" sz="1100" dirty="0">
                <a:solidFill>
                  <a:srgbClr val="FF0000"/>
                </a:solidFill>
              </a:rPr>
              <a:t> i</a:t>
            </a:r>
            <a:r>
              <a:rPr lang="en-US" sz="1100" dirty="0"/>
              <a:t>t provides guidance on how to structure a document, including the use of headings, subheadings, and bullet points to enhance readability.</a:t>
            </a:r>
            <a:br>
              <a:rPr lang="en-US" sz="1100" dirty="0"/>
            </a:br>
            <a:br>
              <a:rPr lang="en-US" sz="1100" dirty="0"/>
            </a:br>
            <a:r>
              <a:rPr lang="en-US" sz="1100" dirty="0"/>
              <a:t>[7] Additionally, the chapter as written today </a:t>
            </a:r>
            <a:r>
              <a:rPr lang="en-US" sz="1100" dirty="0">
                <a:solidFill>
                  <a:srgbClr val="FF0000"/>
                </a:solidFill>
              </a:rPr>
              <a:t>will cover</a:t>
            </a:r>
            <a:r>
              <a:rPr lang="en-US" sz="1100" dirty="0"/>
              <a:t> the importance of using ____ language and avoiding jargon or technical terms that may confuse the reader </a:t>
            </a:r>
            <a:r>
              <a:rPr lang="en-US" sz="1100" dirty="0">
                <a:solidFill>
                  <a:srgbClr val="FF0000"/>
                </a:solidFill>
              </a:rPr>
              <a:t>best</a:t>
            </a:r>
            <a:r>
              <a:rPr lang="en-US" sz="1100" dirty="0"/>
              <a:t> than ”Grammar for Dummies”. [8] It encourages writers to use active voice*, concrete language*, and specific examples* to make their writing more engaging and understandable.</a:t>
            </a:r>
            <a:br>
              <a:rPr lang="en-US" sz="1100" dirty="0"/>
            </a:br>
            <a:br>
              <a:rPr lang="en-US" sz="1100" dirty="0"/>
            </a:br>
            <a:r>
              <a:rPr lang="en-US" sz="1100" dirty="0"/>
              <a:t>[9] Furthermore, the chapter discusses the use of grammar and punctuation</a:t>
            </a:r>
            <a:r>
              <a:rPr lang="en-US" sz="1100" dirty="0">
                <a:solidFill>
                  <a:srgbClr val="FF0000"/>
                </a:solidFill>
              </a:rPr>
              <a:t>, it ensures </a:t>
            </a:r>
            <a:r>
              <a:rPr lang="en-US" sz="1100" dirty="0"/>
              <a:t>clarity and precision in writing. [10] It provides tips on </a:t>
            </a:r>
            <a:r>
              <a:rPr lang="en-US" sz="1100" dirty="0">
                <a:solidFill>
                  <a:srgbClr val="FF0000"/>
                </a:solidFill>
              </a:rPr>
              <a:t>not writing no </a:t>
            </a:r>
            <a:r>
              <a:rPr lang="en-US" sz="1100" dirty="0"/>
              <a:t>common grammatical errors; proper sentence structure and punctuation usage are some grammar types it offers guidance </a:t>
            </a:r>
            <a:r>
              <a:rPr lang="en-US" sz="1100" dirty="0">
                <a:solidFill>
                  <a:srgbClr val="FF0000"/>
                </a:solidFill>
              </a:rPr>
              <a:t>on</a:t>
            </a:r>
            <a:r>
              <a:rPr lang="en-US" sz="1100" dirty="0"/>
              <a:t>.</a:t>
            </a:r>
            <a:br>
              <a:rPr lang="en-US" sz="1100" dirty="0"/>
            </a:br>
            <a:br>
              <a:rPr lang="en-US" sz="1100" dirty="0"/>
            </a:br>
            <a:r>
              <a:rPr lang="en-US" sz="1100" dirty="0"/>
              <a:t>[11] The chapter also addresses the importance of proofreading and </a:t>
            </a:r>
            <a:r>
              <a:rPr lang="en-US" sz="1100" dirty="0">
                <a:solidFill>
                  <a:srgbClr val="FF0000"/>
                </a:solidFill>
              </a:rPr>
              <a:t>it addresses the importance of </a:t>
            </a:r>
            <a:r>
              <a:rPr lang="en-US" sz="1100" dirty="0"/>
              <a:t>editing to eliminate errors and improve the overall quality of the written work. [12] It provides strategies for reviewing and revising a document, including seeking feedback from others.</a:t>
            </a:r>
            <a:br>
              <a:rPr lang="en-US" sz="1100" dirty="0"/>
            </a:br>
            <a:br>
              <a:rPr lang="en-US" sz="1100" dirty="0"/>
            </a:br>
            <a:r>
              <a:rPr lang="en-US" sz="1100" dirty="0"/>
              <a:t>[13] Lastly, the chapter emphasizes the need for professionalism in writing, including maintaining a respectful tone, adhering to organizational guidelines, and </a:t>
            </a:r>
            <a:r>
              <a:rPr lang="en-US" sz="1100" dirty="0">
                <a:solidFill>
                  <a:srgbClr val="FF0000"/>
                </a:solidFill>
              </a:rPr>
              <a:t>to ensure </a:t>
            </a:r>
            <a:r>
              <a:rPr lang="en-US" sz="1100" dirty="0"/>
              <a:t>accuracy in facts and data. </a:t>
            </a:r>
            <a:br>
              <a:rPr lang="en-US" sz="1100" dirty="0"/>
            </a:br>
            <a:br>
              <a:rPr lang="en-US" sz="1100" dirty="0"/>
            </a:br>
            <a:r>
              <a:rPr lang="en-US" sz="1100" dirty="0"/>
              <a:t>[14] Read Chapter 3 of "Tongue and Quill" because it serves as a comprehensive guide to effective writing principles and techniques, providing valuable insights and practical tips for improving written communication skills. [15] Reading this chapter </a:t>
            </a:r>
            <a:r>
              <a:rPr lang="en-US" sz="1100" dirty="0">
                <a:solidFill>
                  <a:srgbClr val="FF0000"/>
                </a:solidFill>
              </a:rPr>
              <a:t>quickly</a:t>
            </a:r>
            <a:r>
              <a:rPr lang="en-US" sz="1100" dirty="0"/>
              <a:t> streamlines the USAF grammar learning process. </a:t>
            </a:r>
          </a:p>
        </p:txBody>
      </p:sp>
      <p:sp>
        <p:nvSpPr>
          <p:cNvPr id="8" name="TextBox 7">
            <a:extLst>
              <a:ext uri="{FF2B5EF4-FFF2-40B4-BE49-F238E27FC236}">
                <a16:creationId xmlns:a16="http://schemas.microsoft.com/office/drawing/2014/main" id="{BCA350AE-79C8-6EC4-AECE-DD66DE6BB44E}"/>
              </a:ext>
            </a:extLst>
          </p:cNvPr>
          <p:cNvSpPr txBox="1"/>
          <p:nvPr/>
        </p:nvSpPr>
        <p:spPr>
          <a:xfrm>
            <a:off x="10045002" y="6498477"/>
            <a:ext cx="2146998" cy="369332"/>
          </a:xfrm>
          <a:prstGeom prst="rect">
            <a:avLst/>
          </a:prstGeom>
          <a:noFill/>
        </p:spPr>
        <p:txBody>
          <a:bodyPr wrap="none" rtlCol="0">
            <a:spAutoFit/>
          </a:bodyPr>
          <a:lstStyle/>
          <a:p>
            <a:r>
              <a:rPr lang="en-US" dirty="0"/>
              <a:t>2. Type of Processing</a:t>
            </a:r>
          </a:p>
        </p:txBody>
      </p:sp>
    </p:spTree>
    <p:extLst>
      <p:ext uri="{BB962C8B-B14F-4D97-AF65-F5344CB8AC3E}">
        <p14:creationId xmlns:p14="http://schemas.microsoft.com/office/powerpoint/2010/main" val="41474668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Automatic Processing</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2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1</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0 / 2</a:t>
            </a:r>
          </a:p>
        </p:txBody>
      </p:sp>
      <p:sp>
        <p:nvSpPr>
          <p:cNvPr id="6" name="Content Placeholder 2">
            <a:extLst>
              <a:ext uri="{FF2B5EF4-FFF2-40B4-BE49-F238E27FC236}">
                <a16:creationId xmlns:a16="http://schemas.microsoft.com/office/drawing/2014/main" id="{592BF241-22D2-23F8-902C-20EF75C116EF}"/>
              </a:ext>
            </a:extLst>
          </p:cNvPr>
          <p:cNvSpPr txBox="1">
            <a:spLocks/>
          </p:cNvSpPr>
          <p:nvPr/>
        </p:nvSpPr>
        <p:spPr>
          <a:xfrm>
            <a:off x="667170" y="1690688"/>
            <a:ext cx="10089320"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Grammar checks: prompt 2 key</a:t>
            </a:r>
          </a:p>
          <a:p>
            <a:r>
              <a:rPr lang="en-US" sz="1600" dirty="0"/>
              <a:t>[1] punctuation: period [2] pronoun missing: fill in blank [3] pronoun antecedent agreement [4] grammatically correct</a:t>
            </a:r>
            <a:br>
              <a:rPr lang="en-US" sz="1600" dirty="0"/>
            </a:br>
            <a:r>
              <a:rPr lang="en-US" sz="1600" dirty="0"/>
              <a:t>[5] subject-verb agreement. [6] capitalization</a:t>
            </a:r>
            <a:br>
              <a:rPr lang="en-US" sz="1600" dirty="0"/>
            </a:br>
            <a:r>
              <a:rPr lang="en-US" sz="1600" dirty="0"/>
              <a:t>[7] lack of agreement in verb tense, faulty comparison [8] grammatically correct, asterisked to follow up w/ questions </a:t>
            </a:r>
            <a:br>
              <a:rPr lang="en-US" sz="1600" dirty="0"/>
            </a:br>
            <a:br>
              <a:rPr lang="en-US" sz="1600" dirty="0"/>
            </a:br>
            <a:r>
              <a:rPr lang="en-US" sz="1600" dirty="0"/>
              <a:t>[9] comma splice [10] double negative, dangling modifier</a:t>
            </a:r>
            <a:br>
              <a:rPr lang="en-US" sz="1600" dirty="0"/>
            </a:br>
            <a:r>
              <a:rPr lang="en-US" sz="1600" dirty="0"/>
              <a:t>[11] run-on sentence [12] grammatically correct</a:t>
            </a:r>
            <a:br>
              <a:rPr lang="en-US" sz="1600" dirty="0"/>
            </a:br>
            <a:r>
              <a:rPr lang="en-US" sz="1600" dirty="0"/>
              <a:t>[13] parallel structure </a:t>
            </a:r>
            <a:br>
              <a:rPr lang="en-US" sz="1600" dirty="0"/>
            </a:br>
            <a:r>
              <a:rPr lang="en-US" sz="1600" dirty="0"/>
              <a:t>[14] grammatically correct, command sentence [15] misplaced modifier</a:t>
            </a:r>
          </a:p>
        </p:txBody>
      </p:sp>
      <p:sp>
        <p:nvSpPr>
          <p:cNvPr id="3" name="TextBox 2">
            <a:extLst>
              <a:ext uri="{FF2B5EF4-FFF2-40B4-BE49-F238E27FC236}">
                <a16:creationId xmlns:a16="http://schemas.microsoft.com/office/drawing/2014/main" id="{DC7A9B23-DF34-E720-ACCD-0E4680F83567}"/>
              </a:ext>
            </a:extLst>
          </p:cNvPr>
          <p:cNvSpPr txBox="1"/>
          <p:nvPr/>
        </p:nvSpPr>
        <p:spPr>
          <a:xfrm>
            <a:off x="10097901" y="6488668"/>
            <a:ext cx="2146998" cy="369332"/>
          </a:xfrm>
          <a:prstGeom prst="rect">
            <a:avLst/>
          </a:prstGeom>
          <a:noFill/>
        </p:spPr>
        <p:txBody>
          <a:bodyPr wrap="none" rtlCol="0">
            <a:spAutoFit/>
          </a:bodyPr>
          <a:lstStyle/>
          <a:p>
            <a:r>
              <a:rPr lang="en-US" dirty="0"/>
              <a:t>2. Type of Processing</a:t>
            </a:r>
          </a:p>
        </p:txBody>
      </p:sp>
    </p:spTree>
    <p:extLst>
      <p:ext uri="{BB962C8B-B14F-4D97-AF65-F5344CB8AC3E}">
        <p14:creationId xmlns:p14="http://schemas.microsoft.com/office/powerpoint/2010/main" val="16294825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Automatic Processing</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46284" y="1690688"/>
            <a:ext cx="11099432" cy="4570430"/>
          </a:xfrm>
        </p:spPr>
        <p:txBody>
          <a:bodyPr>
            <a:normAutofit fontScale="55000" lnSpcReduction="20000"/>
          </a:bodyPr>
          <a:lstStyle/>
          <a:p>
            <a:r>
              <a:rPr lang="en-US" dirty="0"/>
              <a:t>Basic text parsing</a:t>
            </a:r>
          </a:p>
          <a:p>
            <a:pPr lvl="1"/>
            <a:r>
              <a:rPr lang="en-US" dirty="0"/>
              <a:t>Basic: </a:t>
            </a:r>
            <a:r>
              <a:rPr lang="en-US" i="1" dirty="0"/>
              <a:t>Knowledge</a:t>
            </a:r>
            <a:endParaRPr lang="en-US" dirty="0"/>
          </a:p>
          <a:p>
            <a:pPr lvl="2"/>
            <a:r>
              <a:rPr lang="en-US" dirty="0"/>
              <a:t>(MC/SR) According to sentence [1], what is the focus of chapter 3?</a:t>
            </a:r>
          </a:p>
          <a:p>
            <a:pPr lvl="2"/>
            <a:r>
              <a:rPr lang="en-US" dirty="0"/>
              <a:t>(T/F) Do both sentence [1] and sentence [14] summarize the gist of Tongue and Quill chapter 3? </a:t>
            </a:r>
          </a:p>
          <a:p>
            <a:pPr lvl="2"/>
            <a:r>
              <a:rPr lang="en-US" dirty="0"/>
              <a:t>(SR) What can streamline the grammar learning process, as stated in sentence [15]? </a:t>
            </a:r>
          </a:p>
          <a:p>
            <a:pPr lvl="2"/>
            <a:r>
              <a:rPr lang="en-US" dirty="0"/>
              <a:t>(MC/SR) Where is the passage’s main subject first mentioned? </a:t>
            </a:r>
          </a:p>
          <a:p>
            <a:pPr lvl="2"/>
            <a:r>
              <a:rPr lang="en-US" dirty="0"/>
              <a:t>(T/F) Does sentence [3] talk about the purpose of writing? </a:t>
            </a:r>
          </a:p>
          <a:p>
            <a:pPr marL="742950" lvl="1" indent="-285750">
              <a:buFont typeface="Arial" panose="020B0604020202020204" pitchFamily="34" charset="0"/>
              <a:buChar char="•"/>
            </a:pPr>
            <a:r>
              <a:rPr lang="en-US" sz="2400" dirty="0"/>
              <a:t>Intermediate: </a:t>
            </a:r>
            <a:r>
              <a:rPr lang="en-US" sz="2400" i="1" dirty="0"/>
              <a:t>Comprehension</a:t>
            </a:r>
            <a:endParaRPr lang="en-US" sz="2400" dirty="0"/>
          </a:p>
          <a:p>
            <a:pPr marL="1200150" lvl="2" indent="-285750"/>
            <a:r>
              <a:rPr lang="en-US" sz="2000" dirty="0"/>
              <a:t>(MC/SR) </a:t>
            </a:r>
            <a:r>
              <a:rPr lang="en-US" dirty="0"/>
              <a:t>According to sentence [1], what is the focus of chapter 3?</a:t>
            </a:r>
            <a:endParaRPr lang="en-US" sz="2000" dirty="0"/>
          </a:p>
          <a:p>
            <a:pPr marL="1200150" lvl="2" indent="-285750">
              <a:buFont typeface="Arial" panose="020B0604020202020204" pitchFamily="34" charset="0"/>
              <a:buChar char="•"/>
            </a:pPr>
            <a:r>
              <a:rPr lang="en-US" sz="2000" dirty="0"/>
              <a:t>(T/F) </a:t>
            </a:r>
            <a:r>
              <a:rPr lang="en-US" dirty="0"/>
              <a:t>What does the chapter delve into, according to sentence [5]?</a:t>
            </a:r>
            <a:endParaRPr lang="en-US" sz="2000" dirty="0"/>
          </a:p>
          <a:p>
            <a:pPr marL="1200150" lvl="2" indent="-285750">
              <a:buFont typeface="Arial" panose="020B0604020202020204" pitchFamily="34" charset="0"/>
              <a:buChar char="•"/>
            </a:pPr>
            <a:r>
              <a:rPr lang="en-US" dirty="0"/>
              <a:t>(SR) What can streamline the grammar learning process, as stated in sentence [15]?</a:t>
            </a:r>
          </a:p>
          <a:p>
            <a:pPr marL="1200150" lvl="2" indent="-285750"/>
            <a:r>
              <a:rPr lang="en-US" dirty="0"/>
              <a:t>(MC/SR) How does the passage suggest structuring a document for better readability?</a:t>
            </a:r>
          </a:p>
          <a:p>
            <a:pPr marL="1200150" lvl="2" indent="-285750">
              <a:buFont typeface="Arial" panose="020B0604020202020204" pitchFamily="34" charset="0"/>
              <a:buChar char="•"/>
            </a:pPr>
            <a:r>
              <a:rPr lang="en-US" dirty="0"/>
              <a:t>(MC/SR) What is the purpose of writing, according to the passage?</a:t>
            </a:r>
          </a:p>
          <a:p>
            <a:pPr marL="742950" lvl="1" indent="-285750">
              <a:buFont typeface="Arial" panose="020B0604020202020204" pitchFamily="34" charset="0"/>
              <a:buChar char="•"/>
            </a:pPr>
            <a:r>
              <a:rPr lang="en-US" sz="2400" dirty="0"/>
              <a:t>Advanced: </a:t>
            </a:r>
            <a:r>
              <a:rPr lang="en-US" sz="2400" i="1" dirty="0"/>
              <a:t>Application</a:t>
            </a:r>
            <a:endParaRPr lang="en-US" dirty="0"/>
          </a:p>
          <a:p>
            <a:pPr marL="1200150" lvl="2" indent="-285750"/>
            <a:r>
              <a:rPr lang="en-US" sz="2000" dirty="0"/>
              <a:t>(MC) </a:t>
            </a:r>
            <a:r>
              <a:rPr lang="en-US" dirty="0"/>
              <a:t>Select the option that contains the six main discussion points of chapter 3 of Tongue and Quill. (</a:t>
            </a:r>
            <a:r>
              <a:rPr lang="en-US" u="sng" dirty="0"/>
              <a:t>underlined)</a:t>
            </a:r>
            <a:endParaRPr lang="en-US" sz="2000" dirty="0"/>
          </a:p>
          <a:p>
            <a:pPr marL="1200150" lvl="2" indent="-285750"/>
            <a:r>
              <a:rPr lang="en-US" dirty="0"/>
              <a:t>(MC) How are the focus of sentence [7] and the focus of sentence [9] different? (</a:t>
            </a:r>
            <a:r>
              <a:rPr lang="en-US" i="1" dirty="0"/>
              <a:t>language vs grammar</a:t>
            </a:r>
            <a:r>
              <a:rPr lang="en-US" dirty="0"/>
              <a:t>)</a:t>
            </a:r>
            <a:endParaRPr lang="en-US" sz="2000" dirty="0"/>
          </a:p>
          <a:p>
            <a:pPr marL="1200150" lvl="2" indent="-285750"/>
            <a:r>
              <a:rPr lang="en-US" sz="2000" dirty="0"/>
              <a:t>(MC) </a:t>
            </a:r>
            <a:r>
              <a:rPr lang="en-US" dirty="0"/>
              <a:t>What three things does sentence [8] recommend to use for plain language? </a:t>
            </a:r>
            <a:endParaRPr lang="en-US" sz="2000" dirty="0"/>
          </a:p>
          <a:p>
            <a:pPr marL="1200150" lvl="2" indent="-285750"/>
            <a:r>
              <a:rPr lang="en-US" dirty="0"/>
              <a:t>(MC)  What does Chapter 3 of "Tongue and Quill" emphasize regarding the use of headings, subheadings, and bullet points?</a:t>
            </a:r>
            <a:br>
              <a:rPr lang="en-US" dirty="0"/>
            </a:br>
            <a:r>
              <a:rPr lang="en-US" dirty="0"/>
              <a:t>(a) They should be avoided as they make the document cluttered.</a:t>
            </a:r>
            <a:br>
              <a:rPr lang="en-US" dirty="0"/>
            </a:br>
            <a:r>
              <a:rPr lang="en-US" dirty="0"/>
              <a:t>(b) They should be used sparingly to maintain a formal tone.</a:t>
            </a:r>
            <a:br>
              <a:rPr lang="en-US" dirty="0"/>
            </a:br>
            <a:r>
              <a:rPr lang="en-US" dirty="0"/>
              <a:t>(c) They should be used to enhance readability and structure the document.</a:t>
            </a:r>
            <a:br>
              <a:rPr lang="en-US" dirty="0"/>
            </a:br>
            <a:r>
              <a:rPr lang="en-US" dirty="0"/>
              <a:t>(d) They should only be used in technical documents.</a:t>
            </a:r>
          </a:p>
          <a:p>
            <a:pPr marL="1200150" lvl="2" indent="-285750"/>
            <a:r>
              <a:rPr lang="en-US" dirty="0"/>
              <a:t>(</a:t>
            </a:r>
            <a:r>
              <a:rPr lang="en-US" sz="2000" dirty="0"/>
              <a:t>MC) Which of the following is NOT recommended in Chapter 3 of "Tongue and Quill" for effective writing?</a:t>
            </a:r>
            <a:br>
              <a:rPr lang="en-US" sz="2000" dirty="0"/>
            </a:br>
            <a:r>
              <a:rPr lang="en-US" sz="2000" dirty="0"/>
              <a:t>(a) Using plain language and avoiding jargon</a:t>
            </a:r>
            <a:br>
              <a:rPr lang="en-US" sz="2000" dirty="0"/>
            </a:br>
            <a:r>
              <a:rPr lang="en-US" sz="2000" dirty="0"/>
              <a:t>(b) Using concrete language and specific examples</a:t>
            </a:r>
            <a:br>
              <a:rPr lang="en-US" sz="2000" dirty="0"/>
            </a:br>
            <a:r>
              <a:rPr lang="en-US" sz="2000" dirty="0"/>
              <a:t>(c) Using passive voice to sound more professional</a:t>
            </a:r>
            <a:br>
              <a:rPr lang="en-US" sz="2000" dirty="0"/>
            </a:br>
            <a:r>
              <a:rPr lang="en-US" sz="2000" dirty="0"/>
              <a:t>(d) Tailoring the message to the audience</a:t>
            </a:r>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146998" cy="369332"/>
          </a:xfrm>
          <a:prstGeom prst="rect">
            <a:avLst/>
          </a:prstGeom>
          <a:noFill/>
        </p:spPr>
        <p:txBody>
          <a:bodyPr wrap="none" rtlCol="0">
            <a:spAutoFit/>
          </a:bodyPr>
          <a:lstStyle/>
          <a:p>
            <a:r>
              <a:rPr lang="en-US" dirty="0"/>
              <a:t>2. Type of Processing</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2</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2</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1 / 2</a:t>
            </a:r>
          </a:p>
        </p:txBody>
      </p:sp>
    </p:spTree>
    <p:extLst>
      <p:ext uri="{BB962C8B-B14F-4D97-AF65-F5344CB8AC3E}">
        <p14:creationId xmlns:p14="http://schemas.microsoft.com/office/powerpoint/2010/main" val="36167871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Automatic Processing</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11008364" cy="4570430"/>
          </a:xfrm>
        </p:spPr>
        <p:txBody>
          <a:bodyPr>
            <a:normAutofit fontScale="92500" lnSpcReduction="20000"/>
          </a:bodyPr>
          <a:lstStyle/>
          <a:p>
            <a:r>
              <a:rPr lang="en-US" sz="2400" dirty="0"/>
              <a:t>Basic Text Parsing</a:t>
            </a:r>
          </a:p>
          <a:p>
            <a:pPr lvl="1"/>
            <a:r>
              <a:rPr lang="en-US" sz="2000" dirty="0"/>
              <a:t>Expert: </a:t>
            </a:r>
            <a:r>
              <a:rPr lang="en-US" sz="2000" i="1" dirty="0"/>
              <a:t>Analysis/Synthesis</a:t>
            </a:r>
            <a:endParaRPr lang="en-US" sz="2000" dirty="0"/>
          </a:p>
          <a:p>
            <a:pPr lvl="2"/>
            <a:r>
              <a:rPr lang="en-US" sz="1700" dirty="0"/>
              <a:t>(MC) </a:t>
            </a:r>
            <a:r>
              <a:rPr lang="en-US" sz="1800" dirty="0"/>
              <a:t>Sentence [10] lists which things to be able to accomplish the objective stated in [9]?</a:t>
            </a:r>
            <a:endParaRPr lang="en-US" sz="1700" dirty="0"/>
          </a:p>
          <a:p>
            <a:pPr marL="1200150" lvl="2" indent="-285750">
              <a:buFont typeface="Arial" panose="020B0604020202020204" pitchFamily="34" charset="0"/>
              <a:buChar char="•"/>
            </a:pPr>
            <a:r>
              <a:rPr lang="en-US" sz="1700" dirty="0"/>
              <a:t>(MC) Select the best description of the relationship between sentences [11] and [12]: </a:t>
            </a:r>
            <a:r>
              <a:rPr lang="en-US" sz="1700" i="1" dirty="0"/>
              <a:t>Sentence 12 states methods to accomplish the objective in sentence 11. </a:t>
            </a:r>
            <a:endParaRPr lang="en-US" sz="1700" dirty="0"/>
          </a:p>
          <a:p>
            <a:pPr marL="1200150" lvl="2" indent="-285750"/>
            <a:r>
              <a:rPr lang="en-US" sz="1700" dirty="0"/>
              <a:t>(CZ) Fill in the blank: Chapter 3 of "Tongue and Quill" emphasizes the importance of clear and concise communication in ________ form.</a:t>
            </a:r>
          </a:p>
          <a:p>
            <a:pPr marL="1200150" lvl="2" indent="-285750"/>
            <a:r>
              <a:rPr lang="en-US" sz="1700" dirty="0"/>
              <a:t>(MC) Rewrite sentence [14] as an imperative sentence. </a:t>
            </a:r>
          </a:p>
          <a:p>
            <a:pPr marL="1200150" lvl="2" indent="-285750"/>
            <a:r>
              <a:rPr lang="en-US" sz="1700" dirty="0"/>
              <a:t>(MC) Rewrite sentence [15] as an interrogative sentence. </a:t>
            </a:r>
          </a:p>
          <a:p>
            <a:pPr marL="742950" lvl="1" indent="-285750"/>
            <a:r>
              <a:rPr lang="en-US" sz="2000" dirty="0"/>
              <a:t>Master: </a:t>
            </a:r>
            <a:r>
              <a:rPr lang="en-US" sz="2000" i="1" dirty="0"/>
              <a:t>Synthesis/Evaluation</a:t>
            </a:r>
            <a:endParaRPr lang="en-US" sz="2000" dirty="0"/>
          </a:p>
          <a:p>
            <a:pPr marL="1200150" lvl="2" indent="-285750"/>
            <a:r>
              <a:rPr lang="en-US" sz="1700" dirty="0"/>
              <a:t>(MC/SR) Using ”professionalism” (from sentence [13]) as a heading, create sub-headings based on relevant portions of the passage.  </a:t>
            </a:r>
            <a:r>
              <a:rPr lang="en-US" sz="1700" i="1" dirty="0"/>
              <a:t>Maintaining respectful tone, adhering to organizational guidelines, accuracy in facts and data. </a:t>
            </a:r>
          </a:p>
          <a:p>
            <a:pPr marL="1200150" lvl="2" indent="-285750"/>
            <a:r>
              <a:rPr lang="en-US" sz="1700" dirty="0"/>
              <a:t>(MA) Match the following likely result with the technique based on the passage:</a:t>
            </a:r>
            <a:br>
              <a:rPr lang="en-US" sz="1700" dirty="0"/>
            </a:br>
            <a:r>
              <a:rPr lang="en-US" sz="1700" dirty="0"/>
              <a:t>Techniques: understanding reader, sub headings and bullet points, active voice, </a:t>
            </a:r>
            <a:br>
              <a:rPr lang="en-US" sz="1700" dirty="0"/>
            </a:br>
            <a:r>
              <a:rPr lang="en-US" sz="1700" dirty="0"/>
              <a:t>results: reader engagement, increased readability, effective concept communication, </a:t>
            </a:r>
            <a:br>
              <a:rPr lang="en-US" sz="1700" dirty="0"/>
            </a:br>
            <a:r>
              <a:rPr lang="en-US" sz="1700" dirty="0"/>
              <a:t>(CZ) Fill in the blank: the six methods to writing effectively, as listed in this passage, are to “understand the audience,” “planning and organizing”, “plain language”, </a:t>
            </a:r>
            <a:r>
              <a:rPr lang="en-US" sz="1700" u="sng" dirty="0">
                <a:solidFill>
                  <a:srgbClr val="FF0000"/>
                </a:solidFill>
              </a:rPr>
              <a:t>grammar and punctuation</a:t>
            </a:r>
            <a:r>
              <a:rPr lang="en-US" sz="1700" dirty="0"/>
              <a:t>, “proofreading”, and </a:t>
            </a:r>
            <a:r>
              <a:rPr lang="en-US" sz="1700" u="sng" dirty="0">
                <a:solidFill>
                  <a:srgbClr val="FF0000"/>
                </a:solidFill>
              </a:rPr>
              <a:t>professionalism</a:t>
            </a:r>
            <a:r>
              <a:rPr lang="en-US" sz="1700" dirty="0"/>
              <a:t>.</a:t>
            </a:r>
          </a:p>
          <a:p>
            <a:pPr marL="1200150" lvl="2" indent="-285750"/>
            <a:r>
              <a:rPr lang="en-US" sz="1700" dirty="0"/>
              <a:t>(MC) Based on the passage’s description of plain language, which option would not comply with this guidance? (a) “AI” (b) “MAJCOM” ( c ) brigade (d) “Aim High ... Fight, Fly, Win”</a:t>
            </a:r>
          </a:p>
          <a:p>
            <a:pPr marL="1200150" lvl="2" indent="-285750"/>
            <a:r>
              <a:rPr lang="en-US" sz="1700" dirty="0"/>
              <a:t>(SR) Rewrite sentence [15], replacing the current object with “Airmen lessons” as the sentence object. </a:t>
            </a:r>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146998" cy="369332"/>
          </a:xfrm>
          <a:prstGeom prst="rect">
            <a:avLst/>
          </a:prstGeom>
          <a:noFill/>
        </p:spPr>
        <p:txBody>
          <a:bodyPr wrap="none" rtlCol="0">
            <a:spAutoFit/>
          </a:bodyPr>
          <a:lstStyle/>
          <a:p>
            <a:r>
              <a:rPr lang="en-US" dirty="0"/>
              <a:t>2. Type of Processing</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2</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2</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2 / 2</a:t>
            </a:r>
          </a:p>
        </p:txBody>
      </p:sp>
    </p:spTree>
    <p:extLst>
      <p:ext uri="{BB962C8B-B14F-4D97-AF65-F5344CB8AC3E}">
        <p14:creationId xmlns:p14="http://schemas.microsoft.com/office/powerpoint/2010/main" val="42006448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Automatic Processing</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46284" y="1690688"/>
            <a:ext cx="11099432" cy="4570430"/>
          </a:xfrm>
        </p:spPr>
        <p:txBody>
          <a:bodyPr>
            <a:normAutofit fontScale="70000" lnSpcReduction="20000"/>
          </a:bodyPr>
          <a:lstStyle/>
          <a:p>
            <a:r>
              <a:rPr lang="en-US" dirty="0"/>
              <a:t>Grammar checks: </a:t>
            </a:r>
            <a:r>
              <a:rPr lang="en-US" i="1" dirty="0"/>
              <a:t>prompt 2</a:t>
            </a:r>
            <a:endParaRPr lang="en-US" dirty="0"/>
          </a:p>
          <a:p>
            <a:pPr lvl="1"/>
            <a:r>
              <a:rPr lang="en-US" dirty="0"/>
              <a:t>Basic: </a:t>
            </a:r>
            <a:r>
              <a:rPr lang="en-US" i="1" dirty="0"/>
              <a:t>Knowledge</a:t>
            </a:r>
            <a:endParaRPr lang="en-US" dirty="0"/>
          </a:p>
          <a:p>
            <a:pPr lvl="2"/>
            <a:r>
              <a:rPr lang="en-US" dirty="0"/>
              <a:t>(MC/SR) What grammatical element is missing from sentence [1]? </a:t>
            </a:r>
          </a:p>
          <a:p>
            <a:pPr lvl="2"/>
            <a:r>
              <a:rPr lang="en-US" dirty="0"/>
              <a:t>(T/F) Are there any spelling errors in [1]? </a:t>
            </a:r>
          </a:p>
          <a:p>
            <a:pPr lvl="2"/>
            <a:r>
              <a:rPr lang="en-US" dirty="0"/>
              <a:t>(SR) What grammatical error is present in [6]?</a:t>
            </a:r>
          </a:p>
          <a:p>
            <a:pPr lvl="2"/>
            <a:r>
              <a:rPr lang="en-US" dirty="0"/>
              <a:t>(MC/SR) What part of speech is “it” in sentence [4]?</a:t>
            </a:r>
          </a:p>
          <a:p>
            <a:pPr lvl="2"/>
            <a:r>
              <a:rPr lang="en-US" dirty="0"/>
              <a:t>(T/F) Are there any interrogative sentences in the passage?</a:t>
            </a:r>
          </a:p>
          <a:p>
            <a:pPr marL="742950" lvl="1" indent="-285750">
              <a:buFont typeface="Arial" panose="020B0604020202020204" pitchFamily="34" charset="0"/>
              <a:buChar char="•"/>
            </a:pPr>
            <a:r>
              <a:rPr lang="en-US" sz="2400" dirty="0"/>
              <a:t>Intermediate: </a:t>
            </a:r>
            <a:r>
              <a:rPr lang="en-US" sz="2400" i="1" dirty="0"/>
              <a:t>Comprehension</a:t>
            </a:r>
            <a:endParaRPr lang="en-US" sz="2400" dirty="0"/>
          </a:p>
          <a:p>
            <a:pPr marL="1200150" lvl="2" indent="-285750">
              <a:buFont typeface="Arial" panose="020B0604020202020204" pitchFamily="34" charset="0"/>
              <a:buChar char="•"/>
            </a:pPr>
            <a:r>
              <a:rPr lang="en-US" sz="2000" dirty="0"/>
              <a:t>(</a:t>
            </a:r>
            <a:r>
              <a:rPr lang="en-US" dirty="0"/>
              <a:t>MC</a:t>
            </a:r>
            <a:r>
              <a:rPr lang="en-US" sz="2000" dirty="0"/>
              <a:t>) </a:t>
            </a:r>
            <a:r>
              <a:rPr lang="en-US" dirty="0"/>
              <a:t>In sentence [5], which verb tense error can be found? </a:t>
            </a:r>
            <a:r>
              <a:rPr lang="en-US" sz="2000" dirty="0"/>
              <a:t> </a:t>
            </a:r>
          </a:p>
          <a:p>
            <a:pPr marL="1200150" lvl="2" indent="-285750">
              <a:buFont typeface="Arial" panose="020B0604020202020204" pitchFamily="34" charset="0"/>
              <a:buChar char="•"/>
            </a:pPr>
            <a:r>
              <a:rPr lang="en-US" sz="2000" dirty="0"/>
              <a:t>(T/F) Which two types of grammatical errors appear in sentence [9]? </a:t>
            </a:r>
          </a:p>
          <a:p>
            <a:pPr marL="1200150" lvl="2" indent="-285750">
              <a:buFont typeface="Arial" panose="020B0604020202020204" pitchFamily="34" charset="0"/>
              <a:buChar char="•"/>
            </a:pPr>
            <a:r>
              <a:rPr lang="en-US" dirty="0"/>
              <a:t>(MC) What type of sentence is [13]? </a:t>
            </a:r>
          </a:p>
          <a:p>
            <a:pPr marL="1200150" lvl="2" indent="-285750">
              <a:buFont typeface="Arial" panose="020B0604020202020204" pitchFamily="34" charset="0"/>
              <a:buChar char="•"/>
            </a:pPr>
            <a:r>
              <a:rPr lang="en-US" dirty="0"/>
              <a:t>(MC) What pronoun should appear at the beginning of sentence [2]?</a:t>
            </a:r>
          </a:p>
          <a:p>
            <a:pPr marL="1200150" lvl="2" indent="-285750">
              <a:buFont typeface="Arial" panose="020B0604020202020204" pitchFamily="34" charset="0"/>
              <a:buChar char="•"/>
            </a:pPr>
            <a:r>
              <a:rPr lang="en-US" dirty="0"/>
              <a:t>(MC) What does “it” refer to in sentence [4]?</a:t>
            </a:r>
          </a:p>
          <a:p>
            <a:pPr marL="742950" lvl="1" indent="-285750">
              <a:buFont typeface="Arial" panose="020B0604020202020204" pitchFamily="34" charset="0"/>
              <a:buChar char="•"/>
            </a:pPr>
            <a:r>
              <a:rPr lang="en-US" sz="2400" dirty="0"/>
              <a:t>Advanced: </a:t>
            </a:r>
            <a:r>
              <a:rPr lang="en-US" sz="2400" i="1" dirty="0"/>
              <a:t>Application</a:t>
            </a:r>
            <a:endParaRPr lang="en-US" dirty="0"/>
          </a:p>
          <a:p>
            <a:pPr marL="1200150" lvl="2" indent="-285750"/>
            <a:r>
              <a:rPr lang="en-US" sz="2000" dirty="0"/>
              <a:t>(MC) In sentence [7], what comparative form of the adjective "good" should be used instead of "best"?</a:t>
            </a:r>
          </a:p>
          <a:p>
            <a:pPr marL="1200150" lvl="2" indent="-285750"/>
            <a:r>
              <a:rPr lang="en-US" dirty="0"/>
              <a:t>(MC) Which word in sentence [15] is a misplaced modifier? </a:t>
            </a:r>
            <a:endParaRPr lang="en-US" sz="2000" dirty="0"/>
          </a:p>
          <a:p>
            <a:pPr marL="1200150" lvl="2" indent="-285750"/>
            <a:r>
              <a:rPr lang="en-US" sz="2000" dirty="0"/>
              <a:t>(MC) </a:t>
            </a:r>
            <a:r>
              <a:rPr lang="en-US" dirty="0"/>
              <a:t>In sentence [3], what should you use instead of “them”? </a:t>
            </a:r>
            <a:endParaRPr lang="en-US" sz="2000" dirty="0"/>
          </a:p>
          <a:p>
            <a:pPr marL="1200150" lvl="2" indent="-285750"/>
            <a:r>
              <a:rPr lang="en-US" dirty="0"/>
              <a:t>(MC) Fill in the appropriate word in the blank for [7]: (a) plain (b) plainly (c) plainest (d) plainer</a:t>
            </a:r>
          </a:p>
          <a:p>
            <a:pPr marL="1200150" lvl="2" indent="-285750"/>
            <a:r>
              <a:rPr lang="en-US" sz="2000" dirty="0"/>
              <a:t>(MC) In sentence [10], what is the grammatical function of the phrase "some grammar types"? (a) Subject (b) Object </a:t>
            </a:r>
            <a:r>
              <a:rPr lang="en-US" sz="2000" dirty="0">
                <a:solidFill>
                  <a:srgbClr val="FF0000"/>
                </a:solidFill>
              </a:rPr>
              <a:t>(c) Adjective </a:t>
            </a:r>
            <a:r>
              <a:rPr lang="en-US" sz="2000" dirty="0"/>
              <a:t>(d) Adverb</a:t>
            </a:r>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146998" cy="369332"/>
          </a:xfrm>
          <a:prstGeom prst="rect">
            <a:avLst/>
          </a:prstGeom>
          <a:noFill/>
        </p:spPr>
        <p:txBody>
          <a:bodyPr wrap="none" rtlCol="0">
            <a:spAutoFit/>
          </a:bodyPr>
          <a:lstStyle/>
          <a:p>
            <a:r>
              <a:rPr lang="en-US" dirty="0"/>
              <a:t>2. Type of Processing</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2</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2 / 2</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1 / 2</a:t>
            </a:r>
          </a:p>
        </p:txBody>
      </p:sp>
    </p:spTree>
    <p:extLst>
      <p:ext uri="{BB962C8B-B14F-4D97-AF65-F5344CB8AC3E}">
        <p14:creationId xmlns:p14="http://schemas.microsoft.com/office/powerpoint/2010/main" val="10232952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Automatic Processing</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11008364" cy="4570430"/>
          </a:xfrm>
        </p:spPr>
        <p:txBody>
          <a:bodyPr>
            <a:normAutofit fontScale="77500" lnSpcReduction="20000"/>
          </a:bodyPr>
          <a:lstStyle/>
          <a:p>
            <a:r>
              <a:rPr lang="en-US" sz="2400" dirty="0"/>
              <a:t>Grammar checks: </a:t>
            </a:r>
            <a:r>
              <a:rPr lang="en-US" sz="2400" i="1" dirty="0"/>
              <a:t>prompt 2</a:t>
            </a:r>
            <a:endParaRPr lang="en-US" sz="2400" dirty="0"/>
          </a:p>
          <a:p>
            <a:pPr lvl="1"/>
            <a:r>
              <a:rPr lang="en-US" sz="2000" dirty="0"/>
              <a:t>Expert: </a:t>
            </a:r>
            <a:r>
              <a:rPr lang="en-US" sz="2000" i="1" dirty="0"/>
              <a:t>Analysis/Synthesis</a:t>
            </a:r>
            <a:endParaRPr lang="en-US" sz="2000" dirty="0"/>
          </a:p>
          <a:p>
            <a:pPr lvl="2"/>
            <a:r>
              <a:rPr lang="en-US" sz="1700" dirty="0"/>
              <a:t>(MA) Match the grammatical error to the sentence. Each sentence is paired with exactly one error: [3], [11], [13]. (a) run-on sentence, (b) parallel structure, ( c ) pronoun antecedent agreement</a:t>
            </a:r>
          </a:p>
          <a:p>
            <a:pPr marL="1200150" lvl="2" indent="-285750">
              <a:buFont typeface="Arial" panose="020B0604020202020204" pitchFamily="34" charset="0"/>
              <a:buChar char="•"/>
            </a:pPr>
            <a:r>
              <a:rPr lang="en-US" sz="1700" dirty="0"/>
              <a:t>(SR/MC) Correct sentence [9] by changing the comma splice. </a:t>
            </a:r>
          </a:p>
          <a:p>
            <a:pPr marL="1200150" lvl="2" indent="-285750"/>
            <a:r>
              <a:rPr lang="en-US" sz="1700" dirty="0"/>
              <a:t>(MC) Sentence [6] provides guidance on how to structure a document. Which grammatical concept does it emphasize? </a:t>
            </a:r>
            <a:r>
              <a:rPr lang="en-US" sz="1700" dirty="0">
                <a:solidFill>
                  <a:srgbClr val="FF0000"/>
                </a:solidFill>
              </a:rPr>
              <a:t>(a) Parallelism </a:t>
            </a:r>
            <a:r>
              <a:rPr lang="en-US" sz="1700" dirty="0"/>
              <a:t>(b) Subject-Verb Agreement (c) Sentence Fragments (d) Punctuation</a:t>
            </a:r>
          </a:p>
          <a:p>
            <a:pPr marL="1200150" lvl="2" indent="-285750"/>
            <a:r>
              <a:rPr lang="en-US" sz="1700" dirty="0"/>
              <a:t>(MC) Sentence [8] encourages writers to use active voice, concrete language, and specific examples. What is the grammatical term for this type of writing style? (a) Descriptive writing (b) Persuasive writing (c) Technical writing </a:t>
            </a:r>
            <a:r>
              <a:rPr lang="en-US" sz="1700" dirty="0">
                <a:solidFill>
                  <a:srgbClr val="FF0000"/>
                </a:solidFill>
              </a:rPr>
              <a:t>(d) Expository writing</a:t>
            </a:r>
          </a:p>
          <a:p>
            <a:pPr marL="1200150" lvl="2" indent="-285750"/>
            <a:r>
              <a:rPr lang="en-US" sz="1700" dirty="0"/>
              <a:t>(SR) Sentence [13] emphasizes the need for professionalism in writing. Which grammatical concept does it highlight? (a) Pronoun-Antecedent Agreement (b) Sentence Structure (c) Verb Tense (d) Tone and Style</a:t>
            </a:r>
          </a:p>
          <a:p>
            <a:pPr marL="742950" lvl="1" indent="-285750"/>
            <a:r>
              <a:rPr lang="en-US" sz="2000" dirty="0"/>
              <a:t>Master: </a:t>
            </a:r>
            <a:r>
              <a:rPr lang="en-US" sz="2000" i="1" dirty="0"/>
              <a:t>Synthesis/Evaluation</a:t>
            </a:r>
            <a:endParaRPr lang="en-US" sz="2000" dirty="0"/>
          </a:p>
          <a:p>
            <a:pPr marL="1200150" lvl="2" indent="-285750"/>
            <a:r>
              <a:rPr lang="en-US" sz="1700" dirty="0"/>
              <a:t>(SR) Rewrite sentence [15] two times. In each new sentence, move the misplaced modifier to a different location to change the meaning of the sentence. (</a:t>
            </a:r>
            <a:r>
              <a:rPr lang="en-US" sz="1700" i="1" dirty="0"/>
              <a:t>looking for placement at the beginning and at the end). </a:t>
            </a:r>
          </a:p>
          <a:p>
            <a:pPr marL="1200150" lvl="2" indent="-285750">
              <a:buFont typeface="Arial" panose="020B0604020202020204" pitchFamily="34" charset="0"/>
              <a:buChar char="•"/>
            </a:pPr>
            <a:r>
              <a:rPr lang="en-US" sz="1700" dirty="0"/>
              <a:t>(CL) Complete the following statements: If you place the misplaced modifier from sentence [15] at the ___ (</a:t>
            </a:r>
            <a:r>
              <a:rPr lang="en-US" sz="1700" dirty="0">
                <a:solidFill>
                  <a:srgbClr val="FF0000"/>
                </a:solidFill>
              </a:rPr>
              <a:t>beginning</a:t>
            </a:r>
            <a:r>
              <a:rPr lang="en-US" sz="1700" dirty="0"/>
              <a:t>) of the sentence, it suggests that the speed of reading the chapter helps to streamline. If you placed the misplaced modifier at the ___ (</a:t>
            </a:r>
            <a:r>
              <a:rPr lang="en-US" sz="1700" dirty="0">
                <a:solidFill>
                  <a:srgbClr val="FF0000"/>
                </a:solidFill>
              </a:rPr>
              <a:t>end</a:t>
            </a:r>
            <a:r>
              <a:rPr lang="en-US" sz="1700" dirty="0"/>
              <a:t>) of the sentence, it suggests the streamlining happens quickly.</a:t>
            </a:r>
          </a:p>
          <a:p>
            <a:pPr marL="1200150" lvl="2" indent="-285750">
              <a:buFont typeface="Arial" panose="020B0604020202020204" pitchFamily="34" charset="0"/>
              <a:buChar char="•"/>
            </a:pPr>
            <a:r>
              <a:rPr lang="en-US" sz="1700" dirty="0"/>
              <a:t>(MA) Match the grammatical error to the sentence. Each sentence may have none, one, or multiple of the following errors: [7], [10], [14]. (a) double negative, (b) verb tense, ( c ) dangling modifier, (d) faulty comparison</a:t>
            </a:r>
          </a:p>
          <a:p>
            <a:pPr marL="1200150" lvl="2" indent="-285750">
              <a:buFont typeface="Arial" panose="020B0604020202020204" pitchFamily="34" charset="0"/>
              <a:buChar char="•"/>
            </a:pPr>
            <a:r>
              <a:rPr lang="en-US" sz="1700" dirty="0"/>
              <a:t>(SR) You are writing a story about an AI that makes grammatical errors. In this story, the AI miswrites every sentence to contain a comma splicing error. Rewrite sentence [4] in the way that this fictitious AI would. </a:t>
            </a:r>
          </a:p>
          <a:p>
            <a:pPr marL="1200150" lvl="2" indent="-285750"/>
            <a:r>
              <a:rPr lang="en-US" sz="1700" dirty="0"/>
              <a:t>(MC) Which of the following sets would be grammatically incorrect to replace the asterisked words in sentence [8]: (a) active voice, concrete language, specific examples (b) active voice, tangible language, specific instances (</a:t>
            </a:r>
            <a:r>
              <a:rPr lang="en-US" sz="1700" dirty="0">
                <a:solidFill>
                  <a:srgbClr val="FF0000"/>
                </a:solidFill>
              </a:rPr>
              <a:t>c</a:t>
            </a:r>
            <a:r>
              <a:rPr lang="en-US" sz="1700" dirty="0"/>
              <a:t>) </a:t>
            </a:r>
            <a:r>
              <a:rPr lang="en-US" sz="1700" dirty="0">
                <a:solidFill>
                  <a:srgbClr val="FF0000"/>
                </a:solidFill>
              </a:rPr>
              <a:t>dynamic</a:t>
            </a:r>
            <a:r>
              <a:rPr lang="en-US" sz="1700" dirty="0"/>
              <a:t> voice, concrete language, specific examples (d) lively voice, concrete language, specific examples</a:t>
            </a:r>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146998" cy="369332"/>
          </a:xfrm>
          <a:prstGeom prst="rect">
            <a:avLst/>
          </a:prstGeom>
          <a:noFill/>
        </p:spPr>
        <p:txBody>
          <a:bodyPr wrap="none" rtlCol="0">
            <a:spAutoFit/>
          </a:bodyPr>
          <a:lstStyle/>
          <a:p>
            <a:r>
              <a:rPr lang="en-US" dirty="0"/>
              <a:t>2. Type of Processing</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2</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2 / 2</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2 / 2</a:t>
            </a:r>
          </a:p>
        </p:txBody>
      </p:sp>
    </p:spTree>
    <p:extLst>
      <p:ext uri="{BB962C8B-B14F-4D97-AF65-F5344CB8AC3E}">
        <p14:creationId xmlns:p14="http://schemas.microsoft.com/office/powerpoint/2010/main" val="15141786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Controlled Processing</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2898" y="1690688"/>
            <a:ext cx="11577729" cy="4570430"/>
          </a:xfrm>
        </p:spPr>
        <p:txBody>
          <a:bodyPr>
            <a:normAutofit lnSpcReduction="10000"/>
          </a:bodyPr>
          <a:lstStyle/>
          <a:p>
            <a:r>
              <a:rPr lang="en-US" sz="1900" dirty="0"/>
              <a:t>Contextual Understanding</a:t>
            </a:r>
            <a:endParaRPr lang="en-US" sz="1200" dirty="0"/>
          </a:p>
          <a:p>
            <a:r>
              <a:rPr lang="en-US" sz="1200" dirty="0"/>
              <a:t>The history of China-US relations can be traced back to the 19th century. Here are some important milestones and events in the history of China-US relations:</a:t>
            </a:r>
            <a:br>
              <a:rPr lang="en-US" sz="1200" dirty="0"/>
            </a:br>
            <a:br>
              <a:rPr lang="en-US" sz="1200" dirty="0"/>
            </a:br>
            <a:r>
              <a:rPr lang="en-US" sz="1200" dirty="0"/>
              <a:t>1. Late 19th to early 20th century: In the late 19th to early 20th century, the United States gradually developed an interest in China. During this period, the United States, along with other Western countries, engaged in trade and economic activities in China, as well as involvement in religious and educational affairs.</a:t>
            </a:r>
            <a:br>
              <a:rPr lang="en-US" sz="1200" dirty="0"/>
            </a:br>
            <a:br>
              <a:rPr lang="en-US" sz="1200" dirty="0"/>
            </a:br>
            <a:r>
              <a:rPr lang="en-US" sz="1200" dirty="0"/>
              <a:t>2. 1949: After the establishment of the People's Republic of China, significant changes occurred in China-US relations. The United States was one of the first countries to recognize the People's Republic of China, but in the following decades, the relationship between China and the United States experienced ups and downs and challenges.</a:t>
            </a:r>
            <a:br>
              <a:rPr lang="en-US" sz="1200" dirty="0"/>
            </a:br>
            <a:br>
              <a:rPr lang="en-US" sz="1200" dirty="0"/>
            </a:br>
            <a:r>
              <a:rPr lang="en-US" sz="1200" dirty="0"/>
              <a:t>3. 1972: Nixon's visit to China. In 1972, U.S. President Richard Nixon visited China, marking a significant turning point in China-US relations. This visit laid the foundation for dialogue and cooperation between the two countries and paved the way for the normalization of China-US relations.</a:t>
            </a:r>
            <a:br>
              <a:rPr lang="en-US" sz="1200" dirty="0"/>
            </a:br>
            <a:br>
              <a:rPr lang="en-US" sz="1200" dirty="0"/>
            </a:br>
            <a:r>
              <a:rPr lang="en-US" sz="1200" dirty="0"/>
              <a:t>4. 1979: Establishment of diplomatic relations. In 1979, China and the United States officially established diplomatic relations. This event marked the beginning of formal contact and communication between the two countries.</a:t>
            </a:r>
            <a:br>
              <a:rPr lang="en-US" sz="1200" dirty="0"/>
            </a:br>
            <a:br>
              <a:rPr lang="en-US" sz="1200" dirty="0"/>
            </a:br>
            <a:r>
              <a:rPr lang="en-US" sz="1200" dirty="0"/>
              <a:t>5. 1989: Tiananmen Square incident. In 1989, China experienced the famous Tiananmen Square protests, which had a significant impact on China-US relations. The United States condemned the Chinese government's crackdown and implemented a series of sanctions against China.</a:t>
            </a:r>
            <a:br>
              <a:rPr lang="en-US" sz="1200" dirty="0"/>
            </a:br>
            <a:br>
              <a:rPr lang="en-US" sz="1200" dirty="0"/>
            </a:br>
            <a:r>
              <a:rPr lang="en-US" sz="1200" dirty="0"/>
              <a:t>6. 2001: China's accession to the World Trade Organization. China joined the World Trade Organization (WTO) in 2001, marking further economic openness and closer ties with the international community. This also brought new opportunities and challenges to China-US trade relations.</a:t>
            </a:r>
            <a:br>
              <a:rPr lang="en-US" sz="1200" dirty="0"/>
            </a:br>
            <a:br>
              <a:rPr lang="en-US" sz="1200" dirty="0"/>
            </a:br>
            <a:r>
              <a:rPr lang="en-US" sz="1200" dirty="0"/>
              <a:t>7. Recent trade disputes: In recent years, trade disputes between China and the United States have become a focal point of bilateral relations. Trade frictions and tariff disputes between the two sides have had a significant impact on the global economy and have sparked a series of trade negotiations and confrontations.</a:t>
            </a:r>
            <a:br>
              <a:rPr lang="en-US" sz="1200" dirty="0"/>
            </a:br>
            <a:br>
              <a:rPr lang="en-US" sz="1200" dirty="0"/>
            </a:br>
            <a:r>
              <a:rPr lang="en-US" sz="1200" dirty="0"/>
              <a:t>It is important to note that China-US relations are a complex and multi-dimensional topic, involving politics, economics, military, culture, and other fields. The above information only covers some important events and milestones and does not encompass the entire history of China-US relations.</a:t>
            </a:r>
            <a:endParaRPr lang="en-US" sz="1900" dirty="0"/>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2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1</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0 / 2</a:t>
            </a:r>
          </a:p>
        </p:txBody>
      </p:sp>
      <p:sp>
        <p:nvSpPr>
          <p:cNvPr id="6" name="TextBox 5">
            <a:extLst>
              <a:ext uri="{FF2B5EF4-FFF2-40B4-BE49-F238E27FC236}">
                <a16:creationId xmlns:a16="http://schemas.microsoft.com/office/drawing/2014/main" id="{64A80497-E7B9-41E3-EB07-813D4D015018}"/>
              </a:ext>
            </a:extLst>
          </p:cNvPr>
          <p:cNvSpPr txBox="1"/>
          <p:nvPr/>
        </p:nvSpPr>
        <p:spPr>
          <a:xfrm>
            <a:off x="10045002" y="6488668"/>
            <a:ext cx="2146998" cy="369332"/>
          </a:xfrm>
          <a:prstGeom prst="rect">
            <a:avLst/>
          </a:prstGeom>
          <a:noFill/>
        </p:spPr>
        <p:txBody>
          <a:bodyPr wrap="none" rtlCol="0">
            <a:spAutoFit/>
          </a:bodyPr>
          <a:lstStyle/>
          <a:p>
            <a:r>
              <a:rPr lang="en-US" dirty="0"/>
              <a:t>2. Type of Processing</a:t>
            </a:r>
          </a:p>
        </p:txBody>
      </p:sp>
    </p:spTree>
    <p:extLst>
      <p:ext uri="{BB962C8B-B14F-4D97-AF65-F5344CB8AC3E}">
        <p14:creationId xmlns:p14="http://schemas.microsoft.com/office/powerpoint/2010/main" val="6869919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Controlled Processing</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46284" y="1690688"/>
            <a:ext cx="11099432" cy="4570430"/>
          </a:xfrm>
        </p:spPr>
        <p:txBody>
          <a:bodyPr>
            <a:normAutofit fontScale="55000" lnSpcReduction="20000"/>
          </a:bodyPr>
          <a:lstStyle/>
          <a:p>
            <a:r>
              <a:rPr lang="en-US" dirty="0"/>
              <a:t>Contextual understanding</a:t>
            </a:r>
          </a:p>
          <a:p>
            <a:pPr lvl="1"/>
            <a:r>
              <a:rPr lang="en-US" dirty="0"/>
              <a:t>Basic: </a:t>
            </a:r>
            <a:r>
              <a:rPr lang="en-US" i="1" dirty="0"/>
              <a:t>Knowledge</a:t>
            </a:r>
            <a:endParaRPr lang="en-US" dirty="0"/>
          </a:p>
          <a:p>
            <a:pPr lvl="2"/>
            <a:r>
              <a:rPr lang="en-US" dirty="0"/>
              <a:t>(T/F) </a:t>
            </a:r>
            <a:r>
              <a:rPr lang="en-US" kern="0" dirty="0">
                <a:effectLst/>
                <a:latin typeface="Calibri" panose="020F0502020204030204" pitchFamily="34" charset="0"/>
                <a:ea typeface="Times New Roman" panose="02020603050405020304" pitchFamily="18" charset="0"/>
                <a:cs typeface="Calibri" panose="020F0502020204030204" pitchFamily="34" charset="0"/>
              </a:rPr>
              <a:t>The United States was one of the first countries to recognize the People's Republic of China.</a:t>
            </a:r>
            <a:endParaRPr lang="en-US" dirty="0">
              <a:latin typeface="Calibri" panose="020F0502020204030204" pitchFamily="34" charset="0"/>
              <a:cs typeface="Calibri" panose="020F0502020204030204" pitchFamily="34" charset="0"/>
            </a:endParaRPr>
          </a:p>
          <a:p>
            <a:pPr lvl="2"/>
            <a:r>
              <a:rPr lang="en-US" dirty="0"/>
              <a:t>(MC) . What event marked a significant turning point in China-US relations? (a) Tiananmen Square incident (b) Nixon's visit to China (c) China's accession to the WTO (d) Establishment of diplomatic relations</a:t>
            </a:r>
          </a:p>
          <a:p>
            <a:pPr lvl="2"/>
            <a:r>
              <a:rPr lang="en-US" dirty="0"/>
              <a:t>(T/F) The United States gradually developed an interest in China in the late 19th to early 20th century.</a:t>
            </a:r>
          </a:p>
          <a:p>
            <a:pPr lvl="2"/>
            <a:r>
              <a:rPr lang="en-US" dirty="0"/>
              <a:t>(MC )Who visited China in 1972, marking a significant turning point in China-US relations? (a) Richard Nixon (b) Ronald Reagan(c) George H.W. Bush (d) Bill Clinton</a:t>
            </a:r>
          </a:p>
          <a:p>
            <a:pPr lvl="2"/>
            <a:r>
              <a:rPr lang="en-US" dirty="0"/>
              <a:t>(T/F) The Tiananmen Square incident in 1989 had a significant impact on China-US relations.</a:t>
            </a:r>
          </a:p>
          <a:p>
            <a:pPr marL="742950" lvl="1" indent="-285750">
              <a:buFont typeface="Arial" panose="020B0604020202020204" pitchFamily="34" charset="0"/>
              <a:buChar char="•"/>
            </a:pPr>
            <a:r>
              <a:rPr lang="en-US" sz="2400" dirty="0"/>
              <a:t>Intermediate: </a:t>
            </a:r>
            <a:r>
              <a:rPr lang="en-US" sz="2400" i="1" dirty="0"/>
              <a:t>Comprehension</a:t>
            </a:r>
            <a:endParaRPr lang="en-US" sz="2400" dirty="0"/>
          </a:p>
          <a:p>
            <a:pPr marL="1200150" lvl="2" indent="-285750"/>
            <a:r>
              <a:rPr lang="en-US" sz="2000" dirty="0"/>
              <a:t>(</a:t>
            </a:r>
            <a:r>
              <a:rPr lang="en-US" dirty="0"/>
              <a:t>CZ</a:t>
            </a:r>
            <a:r>
              <a:rPr lang="en-US" sz="2000" dirty="0"/>
              <a:t>) Trade frictions and tariff disputes between China and the United States have had a significant impact on the ________ economy</a:t>
            </a:r>
          </a:p>
          <a:p>
            <a:pPr marL="1200150" lvl="2" indent="-285750"/>
            <a:r>
              <a:rPr lang="en-US" sz="2000" dirty="0"/>
              <a:t>(T/F) Nixon's visit to China in 1972 marked a significant turning point in China-US relations.</a:t>
            </a:r>
          </a:p>
          <a:p>
            <a:pPr marL="1200150" lvl="2" indent="-285750"/>
            <a:r>
              <a:rPr lang="en-US" dirty="0"/>
              <a:t>(MC) What was the impact of the Tiananmen Square incident on China-US relations? (a) Strengthened diplomatic ties (b) Increased trade cooperation (c) Imposed sanctions by the US (d) Improved cultural exchange</a:t>
            </a:r>
          </a:p>
          <a:p>
            <a:pPr marL="1200150" lvl="2" indent="-285750"/>
            <a:r>
              <a:rPr lang="en-US" dirty="0"/>
              <a:t>(MC) What has become a focal point of bilateral relations between China and the United States in recent years? a) Military cooperation b) Cultural exchanges c) Trade disputes d) Educational collaborations</a:t>
            </a:r>
          </a:p>
          <a:p>
            <a:pPr marL="1200150" lvl="2" indent="-285750"/>
            <a:r>
              <a:rPr lang="en-US" dirty="0"/>
              <a:t>(MC) What has become a focal point of bilateral relations between China and the United States in recent years? a) Military cooperation b) Cultural exchanges c) Trade disputes d) Educational collaborations</a:t>
            </a:r>
            <a:br>
              <a:rPr lang="en-US" dirty="0"/>
            </a:br>
            <a:endParaRPr lang="en-US" dirty="0"/>
          </a:p>
          <a:p>
            <a:pPr marL="742950" lvl="1" indent="-285750">
              <a:buFont typeface="Arial" panose="020B0604020202020204" pitchFamily="34" charset="0"/>
              <a:buChar char="•"/>
            </a:pPr>
            <a:r>
              <a:rPr lang="en-US" sz="2400" dirty="0"/>
              <a:t>Advanced: </a:t>
            </a:r>
            <a:r>
              <a:rPr lang="en-US" sz="2400" i="1" dirty="0"/>
              <a:t>Application</a:t>
            </a:r>
            <a:endParaRPr lang="en-US" dirty="0"/>
          </a:p>
          <a:p>
            <a:pPr marL="1200150" lvl="2" indent="-285750"/>
            <a:r>
              <a:rPr lang="en-US" sz="2000" dirty="0"/>
              <a:t>(MA)</a:t>
            </a:r>
            <a:r>
              <a:rPr lang="en-US" dirty="0"/>
              <a:t> </a:t>
            </a:r>
            <a:r>
              <a:rPr lang="en-US" sz="2000" dirty="0"/>
              <a:t>Match the following events with their corresponding years: (1) Nixon's visit to China (2) Establishment of diplomatic relations (3) China's accession to the WTO</a:t>
            </a:r>
            <a:br>
              <a:rPr lang="en-US" sz="2000" dirty="0"/>
            </a:br>
            <a:r>
              <a:rPr lang="en-US" sz="2000" dirty="0"/>
              <a:t>(a) 1972 (b) 1979 (c) 2001</a:t>
            </a:r>
          </a:p>
          <a:p>
            <a:pPr marL="1200150" lvl="2" indent="-285750"/>
            <a:r>
              <a:rPr lang="en-US" sz="2000" dirty="0"/>
              <a:t>(</a:t>
            </a:r>
            <a:r>
              <a:rPr lang="en-US" dirty="0"/>
              <a:t>CZ</a:t>
            </a:r>
            <a:r>
              <a:rPr lang="en-US" sz="2000" dirty="0"/>
              <a:t>) China's accession to the World Trade Organization in 2001 marked further economic ________ and closer ties with the international community.</a:t>
            </a:r>
          </a:p>
          <a:p>
            <a:pPr marL="1200150" lvl="2" indent="-285750"/>
            <a:r>
              <a:rPr lang="en-US" dirty="0"/>
              <a:t>(SR) What was the US response to Tiananmen Square? </a:t>
            </a:r>
          </a:p>
          <a:p>
            <a:pPr marL="1200150" lvl="2" indent="-285750"/>
            <a:r>
              <a:rPr lang="en-US" sz="2000" dirty="0"/>
              <a:t>(MC) According to the passage, besides the economy, what other facets of life did the US and China develop </a:t>
            </a:r>
            <a:r>
              <a:rPr lang="en-US" dirty="0"/>
              <a:t>mutual interest? Select all that apply: (a) religion, (b) education ( c ) democracy (d) sports </a:t>
            </a:r>
            <a:endParaRPr lang="en-US" sz="2000" dirty="0"/>
          </a:p>
          <a:p>
            <a:pPr marL="1200150" lvl="2" indent="-285750"/>
            <a:r>
              <a:rPr lang="en-US" dirty="0"/>
              <a:t>(CZ) </a:t>
            </a:r>
            <a:r>
              <a:rPr lang="en-US" sz="2000" dirty="0"/>
              <a:t>China's accession to the </a:t>
            </a:r>
            <a:r>
              <a:rPr lang="en-US" sz="2000" u="sng" dirty="0">
                <a:solidFill>
                  <a:srgbClr val="FF0000"/>
                </a:solidFill>
              </a:rPr>
              <a:t>World Trade Organization </a:t>
            </a:r>
            <a:r>
              <a:rPr lang="en-US" sz="2000" dirty="0"/>
              <a:t>in 2001 posed both challenges and opportunities for China-US trade relations.</a:t>
            </a:r>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146998" cy="369332"/>
          </a:xfrm>
          <a:prstGeom prst="rect">
            <a:avLst/>
          </a:prstGeom>
          <a:noFill/>
        </p:spPr>
        <p:txBody>
          <a:bodyPr wrap="none" rtlCol="0">
            <a:spAutoFit/>
          </a:bodyPr>
          <a:lstStyle/>
          <a:p>
            <a:r>
              <a:rPr lang="en-US" dirty="0"/>
              <a:t>2. Type of Processing</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2 / 2</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3</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1 / 2</a:t>
            </a:r>
          </a:p>
        </p:txBody>
      </p:sp>
    </p:spTree>
    <p:extLst>
      <p:ext uri="{BB962C8B-B14F-4D97-AF65-F5344CB8AC3E}">
        <p14:creationId xmlns:p14="http://schemas.microsoft.com/office/powerpoint/2010/main" val="38764045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Controlled Processing</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11008364" cy="4570430"/>
          </a:xfrm>
        </p:spPr>
        <p:txBody>
          <a:bodyPr>
            <a:normAutofit fontScale="85000" lnSpcReduction="10000"/>
          </a:bodyPr>
          <a:lstStyle/>
          <a:p>
            <a:r>
              <a:rPr lang="en-US" sz="2400" dirty="0"/>
              <a:t>Contextual understanding</a:t>
            </a:r>
          </a:p>
          <a:p>
            <a:pPr lvl="1"/>
            <a:r>
              <a:rPr lang="en-US" sz="2000" dirty="0"/>
              <a:t>Expert: </a:t>
            </a:r>
            <a:r>
              <a:rPr lang="en-US" sz="2000" i="1" dirty="0"/>
              <a:t>Analysis/Synthesis</a:t>
            </a:r>
            <a:endParaRPr lang="en-US" sz="2000" dirty="0"/>
          </a:p>
          <a:p>
            <a:pPr lvl="2"/>
            <a:r>
              <a:rPr lang="en-US" sz="1700" dirty="0"/>
              <a:t>(MC) </a:t>
            </a:r>
            <a:r>
              <a:rPr lang="en-US" sz="1800" dirty="0"/>
              <a:t>What are the main fields involved in China-US relations, as mentioned in the passage? a) Politics and economics b) Military and culture c) Politics, economics, military, and culture d) Economics and culture</a:t>
            </a:r>
            <a:endParaRPr lang="en-US" sz="1700" dirty="0"/>
          </a:p>
          <a:p>
            <a:pPr marL="1200150" lvl="2" indent="-285750">
              <a:buFont typeface="Arial" panose="020B0604020202020204" pitchFamily="34" charset="0"/>
              <a:buChar char="•"/>
            </a:pPr>
            <a:r>
              <a:rPr lang="en-US" sz="1700" dirty="0"/>
              <a:t>(MA) Using the passage, rank the following years from 1 (strongest) to 4 (weakest) by how strong US-China relations were. (a) 2001 (b) 1949 ( c ) 1972) (d) 1989</a:t>
            </a:r>
          </a:p>
          <a:p>
            <a:pPr marL="1200150" lvl="2" indent="-285750">
              <a:buFont typeface="Arial" panose="020B0604020202020204" pitchFamily="34" charset="0"/>
              <a:buChar char="•"/>
            </a:pPr>
            <a:r>
              <a:rPr lang="en-US" sz="1700" dirty="0"/>
              <a:t>(CZ) Fill in the blank: the US and China have engaged in both ____ as well as ____ in response to tariff and trade disagreements. </a:t>
            </a:r>
          </a:p>
          <a:p>
            <a:pPr marL="1200150" lvl="2" indent="-285750"/>
            <a:r>
              <a:rPr lang="en-US" sz="1700" dirty="0"/>
              <a:t>(SR) Which factors led to China's accession to the World Trade Organization in 2001?</a:t>
            </a:r>
            <a:endParaRPr lang="en-US" sz="1700" dirty="0">
              <a:solidFill>
                <a:srgbClr val="FF0000"/>
              </a:solidFill>
            </a:endParaRPr>
          </a:p>
          <a:p>
            <a:pPr marL="1200150" lvl="2" indent="-285750"/>
            <a:r>
              <a:rPr lang="en-US" sz="1700" dirty="0"/>
              <a:t>(MC) According to the passage, a milestone in US-China relations involves a change in which of the following factors? Select all that apply: (a) political (b) military ( c ) economics (d) none of the above</a:t>
            </a:r>
          </a:p>
          <a:p>
            <a:pPr marL="742950" lvl="1" indent="-285750"/>
            <a:r>
              <a:rPr lang="en-US" sz="2000" dirty="0"/>
              <a:t>Master: </a:t>
            </a:r>
            <a:r>
              <a:rPr lang="en-US" sz="2000" i="1" dirty="0"/>
              <a:t>Synthesis/Evaluation</a:t>
            </a:r>
            <a:endParaRPr lang="en-US" sz="2000" dirty="0"/>
          </a:p>
          <a:p>
            <a:pPr marL="1200150" lvl="2" indent="-285750"/>
            <a:r>
              <a:rPr lang="en-US" sz="1700" dirty="0"/>
              <a:t>(MC/ER) In one sentence, describe how relations between the US and China changed between 1949 and 1972. </a:t>
            </a:r>
          </a:p>
          <a:p>
            <a:pPr marL="1200150" lvl="2" indent="-285750"/>
            <a:r>
              <a:rPr lang="en-US" sz="1700" dirty="0"/>
              <a:t>(MA) Using the passage, rank the following years from 1 (strongest) to 4 (weakest) by how strong US-China relations were. (a) 2001 (b) 1949 ( c ) 1972) (d) 1989</a:t>
            </a:r>
          </a:p>
          <a:p>
            <a:pPr marL="1200150" lvl="2" indent="-285750"/>
            <a:r>
              <a:rPr lang="en-US" sz="1700" dirty="0"/>
              <a:t>(MC) According to the passage, based on recent disputes, which one of these would China least want to engage with the US? (a) media (b) Taiwan territory negotiations ( c ) climate change (d) negotiating microchip exports and imports  </a:t>
            </a:r>
          </a:p>
          <a:p>
            <a:pPr marL="1200150" lvl="2" indent="-285750"/>
            <a:r>
              <a:rPr lang="en-US" sz="1700" dirty="0"/>
              <a:t>(MC) Which countries are likely to have been affected by tariff and trade disagreements between the US and China? Select all that apply </a:t>
            </a:r>
            <a:r>
              <a:rPr lang="en-US" sz="1700" i="1" dirty="0"/>
              <a:t>goal: select all of them because of the word “global”</a:t>
            </a:r>
            <a:r>
              <a:rPr lang="en-US" sz="1700" dirty="0"/>
              <a:t>: </a:t>
            </a:r>
            <a:r>
              <a:rPr lang="en-US" sz="1700" dirty="0">
                <a:solidFill>
                  <a:srgbClr val="FF0000"/>
                </a:solidFill>
              </a:rPr>
              <a:t>(a) Eswatini (b) South Korea ( c ) Taiwan (d) England</a:t>
            </a:r>
            <a:endParaRPr lang="en-US" sz="1700" dirty="0"/>
          </a:p>
          <a:p>
            <a:pPr marL="1200150" lvl="2" indent="-285750">
              <a:buFont typeface="Arial" panose="020B0604020202020204" pitchFamily="34" charset="0"/>
              <a:buChar char="•"/>
            </a:pPr>
            <a:r>
              <a:rPr lang="en-US" sz="1700" dirty="0"/>
              <a:t>(CL) Whereas interactions with China were largely with </a:t>
            </a:r>
            <a:r>
              <a:rPr lang="en-US" sz="1700" u="sng" dirty="0">
                <a:solidFill>
                  <a:srgbClr val="FF0000"/>
                </a:solidFill>
              </a:rPr>
              <a:t>western</a:t>
            </a:r>
            <a:r>
              <a:rPr lang="en-US" sz="1700" dirty="0"/>
              <a:t> countries in the 19</a:t>
            </a:r>
            <a:r>
              <a:rPr lang="en-US" sz="1700" baseline="30000" dirty="0"/>
              <a:t>th</a:t>
            </a:r>
            <a:r>
              <a:rPr lang="en-US" sz="1700" dirty="0"/>
              <a:t> century, by the 21</a:t>
            </a:r>
            <a:r>
              <a:rPr lang="en-US" sz="1700" baseline="30000" dirty="0"/>
              <a:t>st</a:t>
            </a:r>
            <a:r>
              <a:rPr lang="en-US" sz="1700" dirty="0"/>
              <a:t> century China and the west interacted with the entire </a:t>
            </a:r>
            <a:r>
              <a:rPr lang="en-US" sz="1700" u="sng" dirty="0">
                <a:solidFill>
                  <a:srgbClr val="FF0000"/>
                </a:solidFill>
              </a:rPr>
              <a:t>globe/world</a:t>
            </a:r>
            <a:r>
              <a:rPr lang="en-US" sz="1700" dirty="0"/>
              <a:t>.  </a:t>
            </a:r>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146998" cy="369332"/>
          </a:xfrm>
          <a:prstGeom prst="rect">
            <a:avLst/>
          </a:prstGeom>
          <a:noFill/>
        </p:spPr>
        <p:txBody>
          <a:bodyPr wrap="none" rtlCol="0">
            <a:spAutoFit/>
          </a:bodyPr>
          <a:lstStyle/>
          <a:p>
            <a:r>
              <a:rPr lang="en-US" dirty="0"/>
              <a:t>2. Type of Processing</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2 / 2</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3</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2 / 2</a:t>
            </a:r>
          </a:p>
        </p:txBody>
      </p:sp>
    </p:spTree>
    <p:extLst>
      <p:ext uri="{BB962C8B-B14F-4D97-AF65-F5344CB8AC3E}">
        <p14:creationId xmlns:p14="http://schemas.microsoft.com/office/powerpoint/2010/main" val="18145352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Controlled Processing</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2898" y="1690688"/>
            <a:ext cx="11577729" cy="4570430"/>
          </a:xfrm>
        </p:spPr>
        <p:txBody>
          <a:bodyPr>
            <a:normAutofit fontScale="85000" lnSpcReduction="20000"/>
          </a:bodyPr>
          <a:lstStyle/>
          <a:p>
            <a:r>
              <a:rPr lang="en-US" sz="1900" dirty="0"/>
              <a:t>Logical reasoning</a:t>
            </a:r>
            <a:endParaRPr lang="en-US" sz="800" dirty="0"/>
          </a:p>
          <a:p>
            <a:pPr marL="800100" lvl="1" indent="-342900">
              <a:buFont typeface="+mj-lt"/>
              <a:buAutoNum type="arabicPeriod"/>
            </a:pPr>
            <a:r>
              <a:rPr lang="en-US" sz="1500" b="1" i="1" dirty="0"/>
              <a:t>General Bradley: </a:t>
            </a:r>
            <a:r>
              <a:rPr lang="en-US" sz="1500" dirty="0"/>
              <a:t>Advanced military technology provides us with new capabilities that contribute to mission success and safeguarding our nation. Even more valuable than this, however, is its role in expanding our knowledge and providing innovative strategies. </a:t>
            </a:r>
            <a:br>
              <a:rPr lang="en-US" sz="1500" dirty="0"/>
            </a:br>
            <a:r>
              <a:rPr lang="en-US" sz="1500" b="1" i="1" dirty="0"/>
              <a:t>Colonel Johnson: </a:t>
            </a:r>
            <a:r>
              <a:rPr lang="en-US" sz="1500" dirty="0"/>
              <a:t>Your priorities are mistaken. Mission success is what counts most of all. Without advanced military technology, our military capabilities would not be as effective as they are.</a:t>
            </a:r>
          </a:p>
          <a:p>
            <a:pPr marL="800100" lvl="1" indent="-342900">
              <a:buFont typeface="+mj-lt"/>
              <a:buAutoNum type="arabicPeriod"/>
            </a:pPr>
            <a:r>
              <a:rPr lang="en-US" sz="1500" b="1" i="1" dirty="0"/>
              <a:t>Commander</a:t>
            </a:r>
            <a:r>
              <a:rPr lang="en-US" sz="1500" dirty="0"/>
              <a:t>: We recently conducted a series of recruitment campaigns on social media platforms and through traditional print advertisements. We were unable to gather direct information about the number of recruits generated from the print ads. However, we found that the number of recruits from the social media campaigns was significantly lower than our previous campaigns. Based on this, we concluded that the number of recruits from the print ads was likely below our expectations as well.</a:t>
            </a:r>
          </a:p>
          <a:p>
            <a:pPr marL="800100" lvl="1" indent="-342900">
              <a:buFont typeface="+mj-lt"/>
              <a:buAutoNum type="arabicPeriod"/>
            </a:pPr>
            <a:r>
              <a:rPr lang="en-US" sz="1500" b="1" i="1" dirty="0"/>
              <a:t>Military strategist</a:t>
            </a:r>
            <a:r>
              <a:rPr lang="en-US" sz="1500" dirty="0"/>
              <a:t>: As a military doctrine, air superiority does not guarantee victory in a conflict. There have been historical examples where forces with air superiority failed to achieve their objectives, while other forces without air superiority were able to secure decisive victories. Likewise, there have been instances where ground forces, despite lacking air superiority, were able to successfully defend their positions and repel enemy attacks.</a:t>
            </a:r>
          </a:p>
          <a:p>
            <a:pPr marL="800100" lvl="1" indent="-342900">
              <a:buFont typeface="+mj-lt"/>
              <a:buAutoNum type="arabicPeriod"/>
            </a:pPr>
            <a:r>
              <a:rPr lang="en-US" sz="1500" b="1" i="1" dirty="0"/>
              <a:t>Military Physicist</a:t>
            </a:r>
            <a:r>
              <a:rPr lang="en-US" sz="1500" dirty="0"/>
              <a:t>: The detonation event of a classified explosive in 1987 is interesting in that there is still no evidence of the classified weapon fragment that current theory says should have remained after such a detonation. This is in spite of the fact that many of the most advanced detection systems ever developed have searched for the trace signatures that these weapon fragments emit. Thus, current theory is wrong in claiming that detonations of a certain type always leave behind identifiable fragments.</a:t>
            </a:r>
          </a:p>
          <a:p>
            <a:pPr marL="800100" lvl="1" indent="-342900">
              <a:buFont typeface="+mj-lt"/>
              <a:buAutoNum type="arabicPeriod"/>
            </a:pPr>
            <a:r>
              <a:rPr lang="en-US" sz="1500" dirty="0"/>
              <a:t>The commander carried around the first coin commissioned to him until the day he retired. One day after retirement, however, he lost it. When one of the commander’s former subordinates, who did not see the coin beforehand, found a coin on the ground, the subordinate concluded that it must belong to the commander. </a:t>
            </a:r>
          </a:p>
          <a:p>
            <a:pPr marL="800100" lvl="1" indent="-342900">
              <a:buFont typeface="+mj-lt"/>
              <a:buAutoNum type="arabicPeriod"/>
            </a:pPr>
            <a:r>
              <a:rPr lang="en-US" sz="1500" b="1" i="1" dirty="0"/>
              <a:t>Air Force Spokesperson</a:t>
            </a:r>
            <a:r>
              <a:rPr lang="en-US" sz="1500" dirty="0"/>
              <a:t>: To reconcile the need for advanced aircraft development with the moral imperative to provide air defense capabilities to nations in need, some aerospace companies feel justified in selling aircraft to wealthier nations at a higher price and to poorer nations at a lower price. But this practice is unjustified. A nation with a lower average income may still have a substantial air force better able to pay for advanced aircraft than are many of the less affluent citizens of an overall wealthier nation.</a:t>
            </a:r>
          </a:p>
          <a:p>
            <a:pPr marL="800100" lvl="1" indent="-342900">
              <a:buFont typeface="+mj-lt"/>
              <a:buAutoNum type="arabicPeriod"/>
            </a:pPr>
            <a:r>
              <a:rPr lang="en-US" sz="1500" dirty="0"/>
              <a:t>During a critical military operation, General Doe received intelligence that the enemy's defensive line was weakening. Before he could relay the information to his troops, the entire flank collapsed, resulting in heavy casualties and a setback for the mission. It was a devastating blow to the military campaign. As a direct consequence of the subsequent investigation, military strategists abandoned their reliance on outdated tactics and began implementing more advanced and strategic approaches.</a:t>
            </a:r>
          </a:p>
          <a:p>
            <a:pPr marL="457200" lvl="1" indent="0">
              <a:buNone/>
            </a:pPr>
            <a:endParaRPr lang="en-US" sz="1500" dirty="0"/>
          </a:p>
          <a:p>
            <a:pPr marL="800100" lvl="1" indent="-342900">
              <a:buFont typeface="+mj-lt"/>
              <a:buAutoNum type="arabicPeriod"/>
            </a:pPr>
            <a:endParaRPr lang="en-US" sz="1500" dirty="0"/>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2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1</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0 / 3</a:t>
            </a:r>
          </a:p>
        </p:txBody>
      </p:sp>
      <p:sp>
        <p:nvSpPr>
          <p:cNvPr id="6" name="TextBox 5">
            <a:extLst>
              <a:ext uri="{FF2B5EF4-FFF2-40B4-BE49-F238E27FC236}">
                <a16:creationId xmlns:a16="http://schemas.microsoft.com/office/drawing/2014/main" id="{64A80497-E7B9-41E3-EB07-813D4D015018}"/>
              </a:ext>
            </a:extLst>
          </p:cNvPr>
          <p:cNvSpPr txBox="1"/>
          <p:nvPr/>
        </p:nvSpPr>
        <p:spPr>
          <a:xfrm>
            <a:off x="10045002" y="6488668"/>
            <a:ext cx="2146998" cy="369332"/>
          </a:xfrm>
          <a:prstGeom prst="rect">
            <a:avLst/>
          </a:prstGeom>
          <a:noFill/>
        </p:spPr>
        <p:txBody>
          <a:bodyPr wrap="none" rtlCol="0">
            <a:spAutoFit/>
          </a:bodyPr>
          <a:lstStyle/>
          <a:p>
            <a:r>
              <a:rPr lang="en-US" dirty="0"/>
              <a:t>2. Type of Processing</a:t>
            </a:r>
          </a:p>
        </p:txBody>
      </p:sp>
      <p:sp>
        <p:nvSpPr>
          <p:cNvPr id="4" name="TextBox 3">
            <a:extLst>
              <a:ext uri="{FF2B5EF4-FFF2-40B4-BE49-F238E27FC236}">
                <a16:creationId xmlns:a16="http://schemas.microsoft.com/office/drawing/2014/main" id="{A6E38DFA-5A26-09D1-7597-71CFD0763A47}"/>
              </a:ext>
            </a:extLst>
          </p:cNvPr>
          <p:cNvSpPr txBox="1"/>
          <p:nvPr/>
        </p:nvSpPr>
        <p:spPr>
          <a:xfrm>
            <a:off x="1204332" y="6634976"/>
            <a:ext cx="7424277" cy="276999"/>
          </a:xfrm>
          <a:prstGeom prst="rect">
            <a:avLst/>
          </a:prstGeom>
          <a:noFill/>
        </p:spPr>
        <p:txBody>
          <a:bodyPr wrap="none" rtlCol="0">
            <a:spAutoFit/>
          </a:bodyPr>
          <a:lstStyle/>
          <a:p>
            <a:r>
              <a:rPr lang="en-US" sz="1200" dirty="0"/>
              <a:t>Drawn from: https://</a:t>
            </a:r>
            <a:r>
              <a:rPr lang="en-US" sz="1200" dirty="0" err="1"/>
              <a:t>www.lsac.org</a:t>
            </a:r>
            <a:r>
              <a:rPr lang="en-US" sz="1200" dirty="0"/>
              <a:t>/</a:t>
            </a:r>
            <a:r>
              <a:rPr lang="en-US" sz="1200" dirty="0" err="1"/>
              <a:t>lsat</a:t>
            </a:r>
            <a:r>
              <a:rPr lang="en-US" sz="1200" dirty="0"/>
              <a:t>/taking-</a:t>
            </a:r>
            <a:r>
              <a:rPr lang="en-US" sz="1200" dirty="0" err="1"/>
              <a:t>lsat</a:t>
            </a:r>
            <a:r>
              <a:rPr lang="en-US" sz="1200" dirty="0"/>
              <a:t>/test-format/logical-reasoning/logical-reasoning-sample-questions</a:t>
            </a:r>
          </a:p>
        </p:txBody>
      </p:sp>
    </p:spTree>
    <p:extLst>
      <p:ext uri="{BB962C8B-B14F-4D97-AF65-F5344CB8AC3E}">
        <p14:creationId xmlns:p14="http://schemas.microsoft.com/office/powerpoint/2010/main" val="37787338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Controlled Processing</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46284" y="1690688"/>
            <a:ext cx="5549716" cy="4570430"/>
          </a:xfrm>
        </p:spPr>
        <p:txBody>
          <a:bodyPr>
            <a:normAutofit fontScale="40000" lnSpcReduction="20000"/>
          </a:bodyPr>
          <a:lstStyle/>
          <a:p>
            <a:r>
              <a:rPr lang="en-US" dirty="0"/>
              <a:t>Logical reasoning</a:t>
            </a:r>
          </a:p>
          <a:p>
            <a:pPr lvl="1"/>
            <a:r>
              <a:rPr lang="en-US" dirty="0"/>
              <a:t>Basic</a:t>
            </a:r>
          </a:p>
          <a:p>
            <a:pPr lvl="2"/>
            <a:r>
              <a:rPr lang="en-US" dirty="0"/>
              <a:t>(T/F) According to passage 7, if the 1</a:t>
            </a:r>
            <a:r>
              <a:rPr lang="en-US" baseline="30000" dirty="0"/>
              <a:t>st</a:t>
            </a:r>
            <a:r>
              <a:rPr lang="en-US" dirty="0"/>
              <a:t> fighter squadron was under General Doe’s flank, and the entire flank collapsed, then did the 1</a:t>
            </a:r>
            <a:r>
              <a:rPr lang="en-US" baseline="30000" dirty="0"/>
              <a:t>st</a:t>
            </a:r>
            <a:r>
              <a:rPr lang="en-US" dirty="0"/>
              <a:t> fighter squadron collapse? </a:t>
            </a:r>
          </a:p>
          <a:p>
            <a:pPr lvl="2"/>
            <a:r>
              <a:rPr lang="en-US" dirty="0"/>
              <a:t>(T/F) According to General Bradley in passage 1, mission success is more important than advanced military technology.</a:t>
            </a:r>
          </a:p>
          <a:p>
            <a:pPr lvl="2"/>
            <a:r>
              <a:rPr lang="en-US" dirty="0"/>
              <a:t>(T/F) According to passage 1, there is a disagreement between the two personnel. </a:t>
            </a:r>
          </a:p>
          <a:p>
            <a:pPr lvl="2"/>
            <a:r>
              <a:rPr lang="en-US" dirty="0"/>
              <a:t>(SR) Which passages (1-7) come to a conclusion? State all that apply.</a:t>
            </a:r>
          </a:p>
          <a:p>
            <a:pPr lvl="2"/>
            <a:r>
              <a:rPr lang="en-US" dirty="0"/>
              <a:t>(SR) Which passages (1-7) cite evidence? State all that apply. </a:t>
            </a:r>
          </a:p>
          <a:p>
            <a:pPr marL="742950" lvl="1" indent="-285750">
              <a:buFont typeface="Arial" panose="020B0604020202020204" pitchFamily="34" charset="0"/>
              <a:buChar char="•"/>
            </a:pPr>
            <a:r>
              <a:rPr lang="en-US" sz="2400" dirty="0"/>
              <a:t>Intermediate</a:t>
            </a:r>
          </a:p>
          <a:p>
            <a:pPr marL="1200150" lvl="2" indent="-285750"/>
            <a:r>
              <a:rPr lang="en-US" sz="2000" dirty="0"/>
              <a:t>(</a:t>
            </a:r>
            <a:r>
              <a:rPr lang="en-US" dirty="0"/>
              <a:t>MC</a:t>
            </a:r>
            <a:r>
              <a:rPr lang="en-US" sz="2000" dirty="0"/>
              <a:t>) What was the direct consequence of the investigation into the collapse of the enemy's defensive line?</a:t>
            </a:r>
            <a:br>
              <a:rPr lang="en-US" sz="2000" dirty="0"/>
            </a:br>
            <a:r>
              <a:rPr lang="en-US" sz="2000" dirty="0">
                <a:solidFill>
                  <a:srgbClr val="FF0000"/>
                </a:solidFill>
              </a:rPr>
              <a:t>a) The implementation of more advanced and strategic approaches.</a:t>
            </a:r>
            <a:br>
              <a:rPr lang="en-US" sz="2000" dirty="0"/>
            </a:br>
            <a:r>
              <a:rPr lang="en-US" sz="2000" dirty="0"/>
              <a:t>b) The abandonment of reliance on outdated tactics.</a:t>
            </a:r>
            <a:br>
              <a:rPr lang="en-US" sz="2000" dirty="0"/>
            </a:br>
            <a:r>
              <a:rPr lang="en-US" sz="2000" dirty="0"/>
              <a:t>c) The realization of the need for better intelligence.</a:t>
            </a:r>
            <a:br>
              <a:rPr lang="en-US" sz="2000" dirty="0"/>
            </a:br>
            <a:r>
              <a:rPr lang="en-US" sz="2000" dirty="0"/>
              <a:t>d) The recognition of the importance of troop communication.</a:t>
            </a:r>
          </a:p>
          <a:p>
            <a:pPr marL="1200150" lvl="2" indent="-285750"/>
            <a:r>
              <a:rPr lang="en-US" sz="2000" dirty="0"/>
              <a:t>(</a:t>
            </a:r>
            <a:r>
              <a:rPr lang="en-US" dirty="0"/>
              <a:t>MC</a:t>
            </a:r>
            <a:r>
              <a:rPr lang="en-US" sz="2000" dirty="0"/>
              <a:t>) What is the main point of disagreement between General Bradley and Colonel Johnson?</a:t>
            </a:r>
            <a:br>
              <a:rPr lang="en-US" sz="2000" dirty="0"/>
            </a:br>
            <a:r>
              <a:rPr lang="en-US" sz="2000" dirty="0"/>
              <a:t>a) The importance of mission success.</a:t>
            </a:r>
            <a:br>
              <a:rPr lang="en-US" sz="2000" dirty="0"/>
            </a:br>
            <a:r>
              <a:rPr lang="en-US" sz="2000" dirty="0">
                <a:solidFill>
                  <a:srgbClr val="FF0000"/>
                </a:solidFill>
              </a:rPr>
              <a:t>b) The role of advanced military technology.</a:t>
            </a:r>
            <a:br>
              <a:rPr lang="en-US" sz="2000" dirty="0"/>
            </a:br>
            <a:r>
              <a:rPr lang="en-US" sz="2000" dirty="0"/>
              <a:t>c) The effectiveness of military capabilities.</a:t>
            </a:r>
            <a:br>
              <a:rPr lang="en-US" sz="2000" dirty="0"/>
            </a:br>
            <a:r>
              <a:rPr lang="en-US" sz="2000" dirty="0"/>
              <a:t>d) The value of expanding knowledge.</a:t>
            </a:r>
          </a:p>
          <a:p>
            <a:pPr marL="1200150" lvl="2" indent="-285750"/>
            <a:r>
              <a:rPr lang="en-US" dirty="0"/>
              <a:t>(MC) Based on the information provided, why did the commander conclude that the number of recruits from the print ads was likely below expectations?</a:t>
            </a:r>
            <a:br>
              <a:rPr lang="en-US" dirty="0"/>
            </a:br>
            <a:r>
              <a:rPr lang="en-US" dirty="0"/>
              <a:t>a) The print ads were not effective.</a:t>
            </a:r>
            <a:br>
              <a:rPr lang="en-US" dirty="0">
                <a:solidFill>
                  <a:srgbClr val="FF0000"/>
                </a:solidFill>
              </a:rPr>
            </a:br>
            <a:r>
              <a:rPr lang="en-US" dirty="0">
                <a:solidFill>
                  <a:srgbClr val="FF0000"/>
                </a:solidFill>
              </a:rPr>
              <a:t>b) The number of recruits from social media campaigns was significantly lower.</a:t>
            </a:r>
            <a:br>
              <a:rPr lang="en-US" dirty="0">
                <a:solidFill>
                  <a:srgbClr val="FF0000"/>
                </a:solidFill>
              </a:rPr>
            </a:br>
            <a:r>
              <a:rPr lang="en-US" dirty="0"/>
              <a:t>c) The print ads did not generate any recruits.</a:t>
            </a:r>
            <a:br>
              <a:rPr lang="en-US" dirty="0"/>
            </a:br>
            <a:r>
              <a:rPr lang="en-US" dirty="0"/>
              <a:t>d) The commander did not have direct information about the number of recruits from the print ads.</a:t>
            </a:r>
          </a:p>
          <a:p>
            <a:pPr marL="1200150" lvl="2" indent="-285750"/>
            <a:r>
              <a:rPr lang="en-US" dirty="0"/>
              <a:t>(MC) According to the military strategist, which of the following statements is true?</a:t>
            </a:r>
            <a:br>
              <a:rPr lang="en-US" dirty="0"/>
            </a:br>
            <a:r>
              <a:rPr lang="en-US" dirty="0"/>
              <a:t>a) Air superiority always guarantees victory in a conflict.</a:t>
            </a:r>
            <a:br>
              <a:rPr lang="en-US" dirty="0"/>
            </a:br>
            <a:r>
              <a:rPr lang="en-US" dirty="0"/>
              <a:t>b) Ground forces without air superiority cannot defend their positions.</a:t>
            </a:r>
            <a:br>
              <a:rPr lang="en-US" dirty="0"/>
            </a:br>
            <a:r>
              <a:rPr lang="en-US" dirty="0"/>
              <a:t>c) Forces with air superiority always achieve their objectives.</a:t>
            </a:r>
            <a:br>
              <a:rPr lang="en-US" dirty="0"/>
            </a:br>
            <a:r>
              <a:rPr lang="en-US" dirty="0">
                <a:solidFill>
                  <a:srgbClr val="FF0000"/>
                </a:solidFill>
              </a:rPr>
              <a:t>d) Air superiority does not guarantee victory in a conflict.</a:t>
            </a:r>
          </a:p>
          <a:p>
            <a:pPr marL="1200150" lvl="2" indent="-285750"/>
            <a:r>
              <a:rPr lang="en-US" dirty="0"/>
              <a:t>(MC) According to the military physicist, why is current theory wrong regarding the detonation of a certain type of explosive?</a:t>
            </a:r>
            <a:br>
              <a:rPr lang="en-US" dirty="0"/>
            </a:br>
            <a:r>
              <a:rPr lang="en-US" dirty="0"/>
              <a:t>a) The detection systems used were not advanced enough.</a:t>
            </a:r>
            <a:br>
              <a:rPr lang="en-US" dirty="0"/>
            </a:br>
            <a:r>
              <a:rPr lang="en-US" dirty="0"/>
              <a:t>b) The detonation event did not occur as expected.</a:t>
            </a:r>
            <a:br>
              <a:rPr lang="en-US" dirty="0">
                <a:solidFill>
                  <a:srgbClr val="FF0000"/>
                </a:solidFill>
              </a:rPr>
            </a:br>
            <a:r>
              <a:rPr lang="en-US" dirty="0">
                <a:solidFill>
                  <a:srgbClr val="FF0000"/>
                </a:solidFill>
              </a:rPr>
              <a:t>c) The classified explosive does not leave behind identifiable fragments.</a:t>
            </a:r>
            <a:br>
              <a:rPr lang="en-US" dirty="0">
                <a:solidFill>
                  <a:srgbClr val="FF0000"/>
                </a:solidFill>
              </a:rPr>
            </a:br>
            <a:r>
              <a:rPr lang="en-US" dirty="0"/>
              <a:t>d) The detonation event happened before 1987.</a:t>
            </a:r>
            <a:br>
              <a:rPr lang="en-US" dirty="0"/>
            </a:br>
            <a:r>
              <a:rPr lang="en-US" dirty="0"/>
              <a:t>(Answer: c) The classified explosive does not leave behind identifiable fragments.)</a:t>
            </a:r>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146998" cy="369332"/>
          </a:xfrm>
          <a:prstGeom prst="rect">
            <a:avLst/>
          </a:prstGeom>
          <a:noFill/>
        </p:spPr>
        <p:txBody>
          <a:bodyPr wrap="none" rtlCol="0">
            <a:spAutoFit/>
          </a:bodyPr>
          <a:lstStyle/>
          <a:p>
            <a:r>
              <a:rPr lang="en-US" dirty="0"/>
              <a:t>2. Type of Processing</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2 / 2</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2 / 3</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1 / 3</a:t>
            </a:r>
          </a:p>
        </p:txBody>
      </p:sp>
      <p:sp>
        <p:nvSpPr>
          <p:cNvPr id="6" name="Content Placeholder 2">
            <a:extLst>
              <a:ext uri="{FF2B5EF4-FFF2-40B4-BE49-F238E27FC236}">
                <a16:creationId xmlns:a16="http://schemas.microsoft.com/office/drawing/2014/main" id="{934292C5-44D1-4BC6-B29B-38D3284607A8}"/>
              </a:ext>
            </a:extLst>
          </p:cNvPr>
          <p:cNvSpPr txBox="1">
            <a:spLocks/>
          </p:cNvSpPr>
          <p:nvPr/>
        </p:nvSpPr>
        <p:spPr>
          <a:xfrm>
            <a:off x="5804084" y="1671522"/>
            <a:ext cx="5549716" cy="457043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Logical reasoning</a:t>
            </a:r>
          </a:p>
          <a:p>
            <a:pPr marL="742950" lvl="1" indent="-285750"/>
            <a:r>
              <a:rPr lang="en-US" sz="1200" dirty="0"/>
              <a:t>Advanced</a:t>
            </a:r>
          </a:p>
          <a:p>
            <a:pPr marL="1200150" lvl="2" indent="-285750"/>
            <a:r>
              <a:rPr lang="en-US" sz="1000" dirty="0"/>
              <a:t>(MC) In scenario 2, the commander's reasoning does which one of the following?</a:t>
            </a:r>
            <a:br>
              <a:rPr lang="en-US" sz="1000" dirty="0"/>
            </a:br>
            <a:r>
              <a:rPr lang="en-US" sz="1000" dirty="0"/>
              <a:t>a. bases a prediction of the intensity of a phenomenon on information about the intensity of that phenomenon's cause</a:t>
            </a:r>
            <a:br>
              <a:rPr lang="en-US" sz="1000" dirty="0"/>
            </a:br>
            <a:r>
              <a:rPr lang="en-US" sz="1000" dirty="0"/>
              <a:t>b. uses information about the typical frequency of events of a general kind to draw a conclusion about the probability of a particular event of that kind</a:t>
            </a:r>
            <a:br>
              <a:rPr lang="en-US" sz="1000" dirty="0"/>
            </a:br>
            <a:r>
              <a:rPr lang="en-US" sz="1000" dirty="0"/>
              <a:t>c. infers a statistical generalization from claims about a large number of specific instances</a:t>
            </a:r>
            <a:br>
              <a:rPr lang="en-US" sz="1000" dirty="0"/>
            </a:br>
            <a:r>
              <a:rPr lang="en-US" sz="1000" dirty="0">
                <a:solidFill>
                  <a:srgbClr val="FF0000"/>
                </a:solidFill>
              </a:rPr>
              <a:t>d. uses a case in which direct evidence is available to draw a conclusion about an analogous case in which direct evidence is unavailable</a:t>
            </a:r>
            <a:br>
              <a:rPr lang="en-US" sz="1000" dirty="0"/>
            </a:br>
            <a:r>
              <a:rPr lang="en-US" sz="1000" dirty="0"/>
              <a:t>e. bases a prediction about future events on facts about recent comparable events</a:t>
            </a:r>
          </a:p>
          <a:p>
            <a:pPr marL="1200150" lvl="2" indent="-285750"/>
            <a:r>
              <a:rPr lang="en-US" sz="1000" dirty="0"/>
              <a:t>(MC) From prompt 6, Which one of the following principles, if valid, most helps to justify the Air Force spokesperson's reasoning?</a:t>
            </a:r>
            <a:br>
              <a:rPr lang="en-US" sz="1000" dirty="0"/>
            </a:br>
            <a:r>
              <a:rPr lang="en-US" sz="1000" dirty="0"/>
              <a:t>a. Pilots who are in combat deserve more consideration than those in training, regardless of their relative socioeconomic positions.</a:t>
            </a:r>
            <a:br>
              <a:rPr lang="en-US" sz="1000" dirty="0"/>
            </a:br>
            <a:r>
              <a:rPr lang="en-US" sz="1000" dirty="0"/>
              <a:t>b. Wealthy nations have an obligation to provide military assistance to nations incapable of defending themselves.</a:t>
            </a:r>
            <a:br>
              <a:rPr lang="en-US" sz="1000" dirty="0"/>
            </a:br>
            <a:r>
              <a:rPr lang="en-US" sz="1000" dirty="0">
                <a:solidFill>
                  <a:srgbClr val="FF0000"/>
                </a:solidFill>
              </a:rPr>
              <a:t>c. Whether a nation deserves special consideration depends on its defense needs rather than on characteristics of the society to which it belongs.</a:t>
            </a:r>
            <a:br>
              <a:rPr lang="en-US" sz="1000" dirty="0">
                <a:solidFill>
                  <a:srgbClr val="FF0000"/>
                </a:solidFill>
              </a:rPr>
            </a:br>
            <a:r>
              <a:rPr lang="en-US" sz="1000" dirty="0"/>
              <a:t>d. The people in wealthier nations should not have better access to advanced military technology than the people in poorer nations.</a:t>
            </a:r>
            <a:br>
              <a:rPr lang="en-US" sz="1000" dirty="0"/>
            </a:br>
            <a:r>
              <a:rPr lang="en-US" sz="1000" dirty="0"/>
              <a:t>e. Unequal access to advanced military technology is more unfair than an unequal distribution of wealth.</a:t>
            </a:r>
          </a:p>
          <a:p>
            <a:pPr marL="1200150" lvl="2" indent="-285750"/>
            <a:r>
              <a:rPr lang="en-US" sz="1000" dirty="0"/>
              <a:t>(CZ) The coin commissioned in passage 5 was a part of a collection of coins with different denominations. Complete the series of coin denominations based off the pattern: 2, 4, 8, </a:t>
            </a:r>
            <a:r>
              <a:rPr lang="en-US" sz="1000" u="sng" dirty="0">
                <a:solidFill>
                  <a:srgbClr val="FF0000"/>
                </a:solidFill>
              </a:rPr>
              <a:t>16</a:t>
            </a:r>
            <a:r>
              <a:rPr lang="en-US" sz="1000" dirty="0"/>
              <a:t>, 32, </a:t>
            </a:r>
            <a:r>
              <a:rPr lang="en-US" sz="1000" u="sng" dirty="0">
                <a:solidFill>
                  <a:srgbClr val="FF0000"/>
                </a:solidFill>
              </a:rPr>
              <a:t>64</a:t>
            </a:r>
          </a:p>
          <a:p>
            <a:pPr marL="1200150" lvl="2" indent="-285750"/>
            <a:r>
              <a:rPr lang="en-US" sz="1000" dirty="0"/>
              <a:t>(MA)* If the person in passage 4 reports to the person in passage 3, and the person in passage 3 reports to the person in passage 7, rank the personnel by their relative leadership seniority. </a:t>
            </a:r>
            <a:r>
              <a:rPr lang="en-US" sz="1000" dirty="0" err="1"/>
              <a:t>i</a:t>
            </a:r>
            <a:r>
              <a:rPr lang="en-US" sz="1000" dirty="0"/>
              <a:t>. (1) ii. (2) iii .(3) (a) General Doe (b) military physicist ( c ) military strategist</a:t>
            </a:r>
          </a:p>
          <a:p>
            <a:pPr marL="1200150" lvl="2" indent="-285750"/>
            <a:r>
              <a:rPr lang="en-US" sz="1000" dirty="0"/>
              <a:t>(CZ) The air force spokesperson argues that selling aircraft at different prices to wealthier and poorer nations is unjustified because it assumes that </a:t>
            </a:r>
            <a:r>
              <a:rPr lang="en-US" sz="1000" u="sng" dirty="0">
                <a:solidFill>
                  <a:srgbClr val="FF0000"/>
                </a:solidFill>
              </a:rPr>
              <a:t>poorer</a:t>
            </a:r>
            <a:r>
              <a:rPr lang="en-US" sz="1000" dirty="0"/>
              <a:t> citizens of wealthier nations cannot afford advanced aircraft.</a:t>
            </a:r>
          </a:p>
        </p:txBody>
      </p:sp>
    </p:spTree>
    <p:extLst>
      <p:ext uri="{BB962C8B-B14F-4D97-AF65-F5344CB8AC3E}">
        <p14:creationId xmlns:p14="http://schemas.microsoft.com/office/powerpoint/2010/main" val="37543715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Controlled Processing</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11038810" cy="4570430"/>
          </a:xfrm>
        </p:spPr>
        <p:txBody>
          <a:bodyPr>
            <a:normAutofit fontScale="85000" lnSpcReduction="20000"/>
          </a:bodyPr>
          <a:lstStyle/>
          <a:p>
            <a:r>
              <a:rPr lang="en-US" sz="2400" dirty="0"/>
              <a:t>Logical reasoning</a:t>
            </a:r>
          </a:p>
          <a:p>
            <a:pPr lvl="1"/>
            <a:r>
              <a:rPr lang="en-US" sz="2000" dirty="0"/>
              <a:t>Expert</a:t>
            </a:r>
          </a:p>
          <a:p>
            <a:pPr lvl="2"/>
            <a:r>
              <a:rPr lang="en-US" sz="1700" dirty="0"/>
              <a:t>(MC) According to scenario 1, Gen. Bradley and Col. Johnson disagree on whether advanced military technology:</a:t>
            </a:r>
            <a:br>
              <a:rPr lang="en-US" sz="1700" dirty="0"/>
            </a:br>
            <a:r>
              <a:rPr lang="en-US" sz="1700" dirty="0"/>
              <a:t>a. derives its significance in part from its providing new capabilities</a:t>
            </a:r>
            <a:br>
              <a:rPr lang="en-US" sz="1700" dirty="0"/>
            </a:br>
            <a:r>
              <a:rPr lang="en-US" sz="1700" dirty="0"/>
              <a:t>b. expands the boundaries of our knowledge of military strategy</a:t>
            </a:r>
            <a:br>
              <a:rPr lang="en-US" sz="1700" dirty="0"/>
            </a:br>
            <a:r>
              <a:rPr lang="en-US" sz="1700" dirty="0"/>
              <a:t>c. should have the success of military missions as an important goal</a:t>
            </a:r>
            <a:br>
              <a:rPr lang="en-US" sz="1700" dirty="0"/>
            </a:br>
            <a:r>
              <a:rPr lang="en-US" sz="1700" dirty="0">
                <a:solidFill>
                  <a:srgbClr val="FF0000"/>
                </a:solidFill>
              </a:rPr>
              <a:t>d. has its most valuable achievements in enhancing military capabilities</a:t>
            </a:r>
            <a:br>
              <a:rPr lang="en-US" sz="1700" dirty="0"/>
            </a:br>
            <a:r>
              <a:rPr lang="en-US" sz="1700" dirty="0"/>
              <a:t>e. has any value apart from its role in providing new technologies for mission success</a:t>
            </a:r>
          </a:p>
          <a:p>
            <a:pPr lvl="2"/>
            <a:r>
              <a:rPr lang="en-US" sz="1700" dirty="0"/>
              <a:t>(MC) Which one of the following statements can be properly inferred from the passage?</a:t>
            </a:r>
            <a:br>
              <a:rPr lang="en-US" sz="1700" dirty="0"/>
            </a:br>
            <a:br>
              <a:rPr lang="en-US" sz="1700" dirty="0"/>
            </a:br>
            <a:r>
              <a:rPr lang="en-US" sz="1700" dirty="0"/>
              <a:t>a. Military operations prior to the incident were conducted without thorough strategic planning and, therefore, were unsuccessful.</a:t>
            </a:r>
            <a:br>
              <a:rPr lang="en-US" sz="1700" dirty="0"/>
            </a:br>
            <a:r>
              <a:rPr lang="en-US" sz="1700" dirty="0"/>
              <a:t>b. General Doe’s absence from the battlefield led to the collapse of the enemy's defensive line.</a:t>
            </a:r>
            <a:br>
              <a:rPr lang="en-US" sz="1700" dirty="0"/>
            </a:br>
            <a:r>
              <a:rPr lang="en-US" sz="1700" dirty="0"/>
              <a:t>c. Military strategists in the past relied on outdated tactics because advanced approaches were insufficient to achieve success.</a:t>
            </a:r>
            <a:br>
              <a:rPr lang="en-US" sz="1700" dirty="0"/>
            </a:br>
            <a:r>
              <a:rPr lang="en-US" sz="1700" dirty="0"/>
              <a:t>d. Only the implementation of more advanced and strategic approaches could have prevented the collapse of the enemy's defensive line.</a:t>
            </a:r>
            <a:br>
              <a:rPr lang="en-US" sz="1700" dirty="0"/>
            </a:br>
            <a:r>
              <a:rPr lang="en-US" sz="1700" dirty="0">
                <a:solidFill>
                  <a:srgbClr val="FF0000"/>
                </a:solidFill>
              </a:rPr>
              <a:t>e. Prior to the incident, the outdated tactics employed by military strategists were inadequate to ensure the success of military operations. </a:t>
            </a:r>
          </a:p>
          <a:p>
            <a:pPr lvl="2"/>
            <a:r>
              <a:rPr lang="en-US" sz="1700" dirty="0"/>
              <a:t>(MC) If the military physicist in passage 4 reports to the colonel in passage 1, which of the following beliefs might the colonel in passage 1 hold? Select all that apply: (a) Until the physicist solves for the correct detonation theory, there is nothing of top priority for the military to gain from the physicist’s research. (b) Contributing detonation knowledge is more valuable that producing detonation technology successfully. ( c ) The colonel wants to replace the physicist. </a:t>
            </a:r>
            <a:r>
              <a:rPr lang="en-US" sz="1700" dirty="0">
                <a:solidFill>
                  <a:srgbClr val="FF0000"/>
                </a:solidFill>
              </a:rPr>
              <a:t>(d) If the physicist’s job is not to produce correctly detonating technology, there is nothing of top priority for the military to gain from the physicist’s research. </a:t>
            </a:r>
            <a:r>
              <a:rPr lang="en-US" sz="1700" dirty="0"/>
              <a:t>( e ) none of the above</a:t>
            </a:r>
          </a:p>
          <a:p>
            <a:pPr lvl="2"/>
            <a:r>
              <a:rPr lang="en-US" sz="1700" dirty="0"/>
              <a:t>(MA) If the person in passage 2 now reports to the person in passage 7, but the person in passage 3 does not report to the person in passage 2, re-rank the personnel in the question with *. You may use the same number more than once. </a:t>
            </a:r>
          </a:p>
          <a:p>
            <a:pPr lvl="2"/>
            <a:r>
              <a:rPr lang="en-US" sz="1700" dirty="0"/>
              <a:t>(CZ) Complete the following by adding two words in each set of brackets: If the commander most often aligns with the general in passage 1, then he does NOT believe [</a:t>
            </a:r>
            <a:r>
              <a:rPr lang="en-US" sz="1700" dirty="0">
                <a:solidFill>
                  <a:srgbClr val="FF0000"/>
                </a:solidFill>
              </a:rPr>
              <a:t>knowledge</a:t>
            </a:r>
            <a:r>
              <a:rPr lang="en-US" sz="1700" dirty="0"/>
              <a:t> and </a:t>
            </a:r>
            <a:r>
              <a:rPr lang="en-US" sz="1700" dirty="0">
                <a:solidFill>
                  <a:srgbClr val="FF0000"/>
                </a:solidFill>
              </a:rPr>
              <a:t>innovation</a:t>
            </a:r>
            <a:r>
              <a:rPr lang="en-US" sz="1700" dirty="0"/>
              <a:t>] are less important than [</a:t>
            </a:r>
            <a:r>
              <a:rPr lang="en-US" sz="1700" dirty="0">
                <a:solidFill>
                  <a:srgbClr val="FF0000"/>
                </a:solidFill>
              </a:rPr>
              <a:t>mission success</a:t>
            </a:r>
            <a:r>
              <a:rPr lang="en-US" sz="1700" dirty="0"/>
              <a:t>]. </a:t>
            </a:r>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146998" cy="369332"/>
          </a:xfrm>
          <a:prstGeom prst="rect">
            <a:avLst/>
          </a:prstGeom>
          <a:noFill/>
        </p:spPr>
        <p:txBody>
          <a:bodyPr wrap="none" rtlCol="0">
            <a:spAutoFit/>
          </a:bodyPr>
          <a:lstStyle/>
          <a:p>
            <a:r>
              <a:rPr lang="en-US" dirty="0"/>
              <a:t>2. Type of Processing</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2 / 2</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2 / 3</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2 / 3</a:t>
            </a:r>
          </a:p>
        </p:txBody>
      </p:sp>
    </p:spTree>
    <p:extLst>
      <p:ext uri="{BB962C8B-B14F-4D97-AF65-F5344CB8AC3E}">
        <p14:creationId xmlns:p14="http://schemas.microsoft.com/office/powerpoint/2010/main" val="21484058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Controlled Processing</a:t>
            </a:r>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146998" cy="369332"/>
          </a:xfrm>
          <a:prstGeom prst="rect">
            <a:avLst/>
          </a:prstGeom>
          <a:noFill/>
        </p:spPr>
        <p:txBody>
          <a:bodyPr wrap="none" rtlCol="0">
            <a:spAutoFit/>
          </a:bodyPr>
          <a:lstStyle/>
          <a:p>
            <a:r>
              <a:rPr lang="en-US" dirty="0"/>
              <a:t>2. Type of Processing</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2 / 2</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2 / 3</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3 / 3</a:t>
            </a:r>
          </a:p>
        </p:txBody>
      </p:sp>
      <p:sp>
        <p:nvSpPr>
          <p:cNvPr id="7" name="Content Placeholder 2">
            <a:extLst>
              <a:ext uri="{FF2B5EF4-FFF2-40B4-BE49-F238E27FC236}">
                <a16:creationId xmlns:a16="http://schemas.microsoft.com/office/drawing/2014/main" id="{8CF69B49-B07E-421E-2C83-441AD6390E15}"/>
              </a:ext>
            </a:extLst>
          </p:cNvPr>
          <p:cNvSpPr txBox="1">
            <a:spLocks/>
          </p:cNvSpPr>
          <p:nvPr/>
        </p:nvSpPr>
        <p:spPr>
          <a:xfrm>
            <a:off x="501805" y="1843088"/>
            <a:ext cx="11250777" cy="4570430"/>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Logical reasoning</a:t>
            </a:r>
          </a:p>
          <a:p>
            <a:pPr marL="742950" lvl="1" indent="-285750"/>
            <a:r>
              <a:rPr lang="en-US" sz="2000" dirty="0"/>
              <a:t>Master</a:t>
            </a:r>
          </a:p>
          <a:p>
            <a:pPr marL="1200150" lvl="2" indent="-285750"/>
            <a:r>
              <a:rPr lang="en-US" sz="1700" dirty="0"/>
              <a:t>(MC) Which one of the following contains a pattern of flawed reasoning most similar to that in prompt 5? </a:t>
            </a:r>
          </a:p>
          <a:p>
            <a:pPr marL="1371600" lvl="3" indent="0">
              <a:buNone/>
            </a:pPr>
            <a:r>
              <a:rPr lang="en-US" dirty="0"/>
              <a:t>a. Wearing blues has been a requirement for all Airmen since 1949. Capt. Smith, who started serving in 1986, has at some point worn his Blues. </a:t>
            </a:r>
          </a:p>
          <a:p>
            <a:pPr marL="1371600" lvl="3" indent="0">
              <a:buNone/>
            </a:pPr>
            <a:r>
              <a:rPr lang="en-US" dirty="0"/>
              <a:t>b. Marines eat crayons, so everyone in the military eats crayons.</a:t>
            </a:r>
          </a:p>
          <a:p>
            <a:pPr marL="1371600" lvl="3" indent="0">
              <a:buNone/>
            </a:pPr>
            <a:r>
              <a:rPr lang="en-US" dirty="0"/>
              <a:t> c. Aviators rely on air traffic controllers, so they must have turned off their radio equipment during the latest Class E mishap. </a:t>
            </a:r>
          </a:p>
          <a:p>
            <a:pPr marL="1371600" lvl="3" indent="0">
              <a:buNone/>
            </a:pPr>
            <a:r>
              <a:rPr lang="en-US" dirty="0">
                <a:solidFill>
                  <a:srgbClr val="FF0000"/>
                </a:solidFill>
              </a:rPr>
              <a:t>d. The first archived coded message during WWII was probably an AF message, as most AF communication during WWII involved code transmission.</a:t>
            </a:r>
          </a:p>
          <a:p>
            <a:pPr marL="1371600" lvl="3" indent="0">
              <a:buNone/>
            </a:pPr>
            <a:r>
              <a:rPr lang="en-US" dirty="0"/>
              <a:t>e. Since the Roosevelts commissioned a unique Truman coin collection, the long-lost coin with the Truman insignia probably belonged to this collection. </a:t>
            </a:r>
            <a:endParaRPr lang="en-US" i="1" dirty="0"/>
          </a:p>
          <a:p>
            <a:pPr marL="1200150" lvl="2" indent="-285750"/>
            <a:r>
              <a:rPr lang="en-US" sz="1700" dirty="0"/>
              <a:t>(MC) Which one of the following, if true, most strengthens the argument in prompt 4?</a:t>
            </a:r>
            <a:br>
              <a:rPr lang="en-US" sz="1700" dirty="0"/>
            </a:br>
            <a:br>
              <a:rPr lang="en-US" sz="1700" dirty="0"/>
            </a:br>
            <a:r>
              <a:rPr lang="en-US" sz="1700" dirty="0"/>
              <a:t>a. Most explosive remnants that military scientists have detected have identifiable fragments nearby.</a:t>
            </a:r>
            <a:br>
              <a:rPr lang="en-US" sz="1700" dirty="0"/>
            </a:br>
            <a:r>
              <a:rPr lang="en-US" sz="1700" dirty="0">
                <a:solidFill>
                  <a:srgbClr val="FF0000"/>
                </a:solidFill>
              </a:rPr>
              <a:t>b. Advanced detection systems have detected identifiable fragments from similar detonations much farther away than the location of the 1987 event.</a:t>
            </a:r>
            <a:br>
              <a:rPr lang="en-US" sz="1700" dirty="0">
                <a:solidFill>
                  <a:srgbClr val="FF0000"/>
                </a:solidFill>
              </a:rPr>
            </a:br>
            <a:r>
              <a:rPr lang="en-US" sz="1700" dirty="0"/>
              <a:t>c. The detonation event of 1987 was the first that military scientists were able to observe in real-time.</a:t>
            </a:r>
            <a:br>
              <a:rPr lang="en-US" sz="1700" dirty="0"/>
            </a:br>
            <a:r>
              <a:rPr lang="en-US" sz="1700" dirty="0"/>
              <a:t>d. Several important features of the 1987 detonation event are correctly predicted by the current theory.</a:t>
            </a:r>
            <a:br>
              <a:rPr lang="en-US" sz="1700" dirty="0"/>
            </a:br>
            <a:r>
              <a:rPr lang="en-US" sz="1700" dirty="0"/>
              <a:t>e. Some identifiable fragments are known to have come into existence by a cause other than explosive detonations.</a:t>
            </a:r>
          </a:p>
          <a:p>
            <a:pPr marL="1200150" lvl="2" indent="-285750"/>
            <a:r>
              <a:rPr lang="en-US" sz="1700" dirty="0"/>
              <a:t>(MC) The reasoning in the military strategist's argument in prompt 3 is flawed because it:</a:t>
            </a:r>
            <a:br>
              <a:rPr lang="en-US" sz="1700" dirty="0"/>
            </a:br>
            <a:r>
              <a:rPr lang="en-US" sz="1700" dirty="0"/>
              <a:t>a. confuses the conditions necessary for air superiority with the conditions sufficient to achieve victory</a:t>
            </a:r>
            <a:br>
              <a:rPr lang="en-US" sz="1700" dirty="0"/>
            </a:br>
            <a:r>
              <a:rPr lang="en-US" sz="1700" dirty="0"/>
              <a:t>b. fails to consider that a substantial increase in air superiority might cause a force to become more successful in achieving its objectives</a:t>
            </a:r>
            <a:br>
              <a:rPr lang="en-US" sz="1700" dirty="0"/>
            </a:br>
            <a:r>
              <a:rPr lang="en-US" sz="1700" dirty="0"/>
              <a:t>c. appeals to historical examples that are irrelevant to the causal claim being made</a:t>
            </a:r>
            <a:br>
              <a:rPr lang="en-US" sz="1700" dirty="0"/>
            </a:br>
            <a:r>
              <a:rPr lang="en-US" sz="1700" dirty="0">
                <a:solidFill>
                  <a:srgbClr val="FF0000"/>
                </a:solidFill>
              </a:rPr>
              <a:t>d. overlooks the possibility that air superiority contributes to victory without being necessary or sufficient by itself to guarantee it</a:t>
            </a:r>
            <a:br>
              <a:rPr lang="en-US" sz="1700" dirty="0"/>
            </a:br>
            <a:r>
              <a:rPr lang="en-US" sz="1700" dirty="0"/>
              <a:t>e. bases its historical case on a personal point of view</a:t>
            </a:r>
          </a:p>
          <a:p>
            <a:pPr marL="1200150" lvl="2" indent="-285750"/>
            <a:r>
              <a:rPr lang="en-US" sz="1700" dirty="0"/>
              <a:t>(MC) If the military physicist in passage 4 reports to the colonel in passage 1, and the colonel in passage 1 disagrees with the general in passage 1, which of the following beliefs might the general in passage 1 hold? Select all that apply: </a:t>
            </a:r>
            <a:r>
              <a:rPr lang="en-US" sz="1700" dirty="0">
                <a:solidFill>
                  <a:srgbClr val="FF0000"/>
                </a:solidFill>
              </a:rPr>
              <a:t>(a) If the physicist solves for the correct detonation theory, the physicist will expand military knowledge. (b) Contributing detonation knowledge is more valuable that producing detonation technology successfully. </a:t>
            </a:r>
            <a:r>
              <a:rPr lang="en-US" sz="1700" dirty="0"/>
              <a:t>( c ) The general wants to replace the physicist. (d) If the physicist’s job is not to produce correctly detonating technology, there is nothing of top priority for the military to gain from the physicist’s research. ( e ) none of the above </a:t>
            </a:r>
          </a:p>
          <a:p>
            <a:pPr marL="1200150" lvl="2" indent="-285750"/>
            <a:r>
              <a:rPr lang="en-US" sz="1700" dirty="0"/>
              <a:t>(CZ) At some point, there was a petition to change the denominations of the coin collection. The new sequence would be 25, 49, 121, 361, 1225, 4489. The mathematical conversion happened in two steps. Fill in the mathematical operation and the corresponding number.  (1) </a:t>
            </a:r>
            <a:r>
              <a:rPr lang="en-US" sz="1700" dirty="0">
                <a:solidFill>
                  <a:srgbClr val="FF0000"/>
                </a:solidFill>
              </a:rPr>
              <a:t>addition, 3 </a:t>
            </a:r>
            <a:r>
              <a:rPr lang="en-US" sz="1700" dirty="0"/>
              <a:t>(2) </a:t>
            </a:r>
            <a:r>
              <a:rPr lang="en-US" sz="1700" dirty="0">
                <a:solidFill>
                  <a:srgbClr val="FF0000"/>
                </a:solidFill>
              </a:rPr>
              <a:t>exponent, 2</a:t>
            </a:r>
          </a:p>
          <a:p>
            <a:pPr marL="914400" lvl="2" indent="0">
              <a:buNone/>
            </a:pPr>
            <a:endParaRPr lang="en-US" sz="1700" dirty="0"/>
          </a:p>
        </p:txBody>
      </p:sp>
    </p:spTree>
    <p:extLst>
      <p:ext uri="{BB962C8B-B14F-4D97-AF65-F5344CB8AC3E}">
        <p14:creationId xmlns:p14="http://schemas.microsoft.com/office/powerpoint/2010/main" val="26869957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Controlled Processing</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61372" y="1679576"/>
            <a:ext cx="9801827" cy="4100512"/>
          </a:xfrm>
        </p:spPr>
        <p:txBody>
          <a:bodyPr>
            <a:normAutofit/>
          </a:bodyPr>
          <a:lstStyle/>
          <a:p>
            <a:r>
              <a:rPr lang="en-US" sz="1900" dirty="0"/>
              <a:t>Creative responses</a:t>
            </a:r>
            <a:endParaRPr lang="en-US" sz="800" dirty="0"/>
          </a:p>
          <a:p>
            <a:pPr marL="800100" lvl="1" indent="-342900">
              <a:buFont typeface="+mj-lt"/>
              <a:buAutoNum type="arabicPeriod"/>
            </a:pPr>
            <a:r>
              <a:rPr lang="en-US" sz="1500" b="1" i="1" dirty="0"/>
              <a:t>Prompt 1: Use the following as a reference for some of the questions that follow</a:t>
            </a:r>
          </a:p>
          <a:p>
            <a:pPr marL="457200" lvl="1" indent="0">
              <a:buNone/>
            </a:pPr>
            <a:r>
              <a:rPr lang="en-US" sz="1500" dirty="0"/>
              <a:t>In the war game exercise, two teams representing opposing forces are pitted against each other in a simulated conflict scenario. The teams are given specific objectives, such as capturing a strategic location or defending a critical asset. Each team strategizes and deploys their forces, which may include infantry, armored vehicles, and aircraft, based on the available resources and intelligence. The teams engage in tactical maneuvers, employing various strategies and tactics to outmaneuver and defeat their opponent. The game progresses through multiple rounds, with each team adapting their plans based on the outcomes and evolving situation. The war game provides a realistic and dynamic environment for participants to test their decision-making skills, teamwork, and ability to respond to changing circumstances.</a:t>
            </a:r>
          </a:p>
          <a:p>
            <a:pPr marL="800100" lvl="1" indent="-342900">
              <a:buFont typeface="+mj-lt"/>
              <a:buAutoNum type="arabicPeriod"/>
            </a:pPr>
            <a:endParaRPr lang="en-US" sz="1500" dirty="0"/>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2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1</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0 / 3</a:t>
            </a:r>
          </a:p>
        </p:txBody>
      </p:sp>
      <p:sp>
        <p:nvSpPr>
          <p:cNvPr id="6" name="TextBox 5">
            <a:extLst>
              <a:ext uri="{FF2B5EF4-FFF2-40B4-BE49-F238E27FC236}">
                <a16:creationId xmlns:a16="http://schemas.microsoft.com/office/drawing/2014/main" id="{64A80497-E7B9-41E3-EB07-813D4D015018}"/>
              </a:ext>
            </a:extLst>
          </p:cNvPr>
          <p:cNvSpPr txBox="1"/>
          <p:nvPr/>
        </p:nvSpPr>
        <p:spPr>
          <a:xfrm>
            <a:off x="10045002" y="6488668"/>
            <a:ext cx="2146998" cy="369332"/>
          </a:xfrm>
          <a:prstGeom prst="rect">
            <a:avLst/>
          </a:prstGeom>
          <a:noFill/>
        </p:spPr>
        <p:txBody>
          <a:bodyPr wrap="none" rtlCol="0">
            <a:spAutoFit/>
          </a:bodyPr>
          <a:lstStyle/>
          <a:p>
            <a:r>
              <a:rPr lang="en-US" dirty="0"/>
              <a:t>2. Type of Processing</a:t>
            </a:r>
          </a:p>
        </p:txBody>
      </p:sp>
    </p:spTree>
    <p:extLst>
      <p:ext uri="{BB962C8B-B14F-4D97-AF65-F5344CB8AC3E}">
        <p14:creationId xmlns:p14="http://schemas.microsoft.com/office/powerpoint/2010/main" val="11169187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Controlled Processing</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0" y="1690688"/>
            <a:ext cx="11353800" cy="4570430"/>
          </a:xfrm>
        </p:spPr>
        <p:txBody>
          <a:bodyPr>
            <a:normAutofit fontScale="85000" lnSpcReduction="20000"/>
          </a:bodyPr>
          <a:lstStyle/>
          <a:p>
            <a:r>
              <a:rPr lang="en-US" sz="1800" dirty="0"/>
              <a:t>Creative responses</a:t>
            </a:r>
            <a:endParaRPr lang="en-US" sz="600" dirty="0"/>
          </a:p>
          <a:p>
            <a:pPr marL="800100" lvl="1" indent="-342900">
              <a:buFont typeface="+mj-lt"/>
              <a:buAutoNum type="arabicPeriod"/>
            </a:pPr>
            <a:r>
              <a:rPr lang="en-US" sz="1400" b="1" i="1" dirty="0"/>
              <a:t>Prompt 2: Use the following lists as references for some of the questions that follow</a:t>
            </a:r>
          </a:p>
          <a:p>
            <a:pPr marL="800100" lvl="1" indent="-342900">
              <a:buFont typeface="+mj-lt"/>
              <a:buAutoNum type="arabicPeriod"/>
            </a:pPr>
            <a:r>
              <a:rPr lang="en-US" sz="1400" dirty="0"/>
              <a:t>List 1:</a:t>
            </a:r>
            <a:br>
              <a:rPr lang="en-US" sz="1400" dirty="0"/>
            </a:br>
            <a:r>
              <a:rPr lang="en-US" sz="1400" dirty="0"/>
              <a:t>1. Aerial tourism: Aircraft can be used to provide scenic tours and sightseeing experiences for tourists.</a:t>
            </a:r>
            <a:br>
              <a:rPr lang="en-US" sz="1400" dirty="0"/>
            </a:br>
            <a:r>
              <a:rPr lang="en-US" sz="1400" dirty="0"/>
              <a:t>2. Cargo transportation: Aircraft can transport non-military goods and supplies efficiently over long distances.</a:t>
            </a:r>
            <a:br>
              <a:rPr lang="en-US" sz="1400" dirty="0"/>
            </a:br>
            <a:r>
              <a:rPr lang="en-US" sz="1400" dirty="0"/>
              <a:t>3. Military transport: Aircraft can be used to transport military personnel and equipment to different locations.</a:t>
            </a:r>
            <a:br>
              <a:rPr lang="en-US" sz="1400" dirty="0"/>
            </a:br>
            <a:r>
              <a:rPr lang="en-US" sz="1400" dirty="0"/>
              <a:t>4. Aerial refueling: Aircraft can refuel other aircraft in mid-air, extending their range and operational capabilities.</a:t>
            </a:r>
            <a:br>
              <a:rPr lang="en-US" sz="1400" dirty="0"/>
            </a:br>
            <a:r>
              <a:rPr lang="en-US" sz="1400" dirty="0"/>
              <a:t>5. Mobile command: Using aircraft as mobile command centers for rapid deployment and coordination of military operations.</a:t>
            </a:r>
            <a:br>
              <a:rPr lang="en-US" sz="1400" dirty="0"/>
            </a:br>
            <a:br>
              <a:rPr lang="en-US" sz="1400" dirty="0"/>
            </a:br>
            <a:r>
              <a:rPr lang="en-US" sz="1400" dirty="0"/>
              <a:t>List 2:</a:t>
            </a:r>
            <a:br>
              <a:rPr lang="en-US" sz="1400" dirty="0"/>
            </a:br>
            <a:r>
              <a:rPr lang="en-US" sz="1400" dirty="0"/>
              <a:t>1. Aerial advertising: Aircraft can carry banners or display messages for advertising purposes.</a:t>
            </a:r>
            <a:br>
              <a:rPr lang="en-US" sz="1400" dirty="0"/>
            </a:br>
            <a:r>
              <a:rPr lang="en-US" sz="1400" dirty="0"/>
              <a:t>2. Military reconnaissance: Aircraft can gather intelligence and surveillance data for military purposes.</a:t>
            </a:r>
            <a:br>
              <a:rPr lang="en-US" sz="1400" dirty="0"/>
            </a:br>
            <a:r>
              <a:rPr lang="en-US" sz="1400" dirty="0"/>
              <a:t>3. Combat air patrol: Aircraft can provide continuous aerial surveillance and protection of a designated area.</a:t>
            </a:r>
            <a:br>
              <a:rPr lang="en-US" sz="1400" dirty="0"/>
            </a:br>
            <a:r>
              <a:rPr lang="en-US" sz="1400" dirty="0"/>
              <a:t>4. Reconnaissance: Utilizing unmanned aircraft systems (drones) for stealthy reconnaissance and surveillance.</a:t>
            </a:r>
            <a:br>
              <a:rPr lang="en-US" sz="1400" dirty="0"/>
            </a:br>
            <a:r>
              <a:rPr lang="en-US" sz="1400" dirty="0"/>
              <a:t>5. Stealth: Developing aircraft with advanced stealth technology to evade enemy radar detection.</a:t>
            </a:r>
            <a:br>
              <a:rPr lang="en-US" sz="1400" dirty="0"/>
            </a:br>
            <a:br>
              <a:rPr lang="en-US" sz="1400" dirty="0"/>
            </a:br>
            <a:r>
              <a:rPr lang="en-US" sz="1400" dirty="0"/>
              <a:t>List 3:</a:t>
            </a:r>
            <a:br>
              <a:rPr lang="en-US" sz="1400" dirty="0"/>
            </a:br>
            <a:r>
              <a:rPr lang="en-US" sz="1400" dirty="0"/>
              <a:t>1. Military training: Aircraft can be used for training military pilots and aircrew in various operational scenarios.</a:t>
            </a:r>
            <a:br>
              <a:rPr lang="en-US" sz="1400" dirty="0"/>
            </a:br>
            <a:r>
              <a:rPr lang="en-US" sz="1400" dirty="0"/>
              <a:t>2. Airborne early warning: Aircraft equipped with radar systems can provide early warning of incoming threats.</a:t>
            </a:r>
            <a:br>
              <a:rPr lang="en-US" sz="1400" dirty="0"/>
            </a:br>
            <a:r>
              <a:rPr lang="en-US" sz="1400" dirty="0"/>
              <a:t>3. Close air support: Aircraft can provide direct air support to ground forces during combat operations.</a:t>
            </a:r>
            <a:br>
              <a:rPr lang="en-US" sz="1400" dirty="0"/>
            </a:br>
            <a:r>
              <a:rPr lang="en-US" sz="1400" dirty="0"/>
              <a:t>4. Medical: Using aircraft as mobile hospitals for providing medical support in remote or war-torn areas. </a:t>
            </a:r>
            <a:br>
              <a:rPr lang="en-US" sz="1400" dirty="0"/>
            </a:br>
            <a:r>
              <a:rPr lang="en-US" sz="1400" dirty="0"/>
              <a:t>5. Flexibility via Verticalization: Developing aircraft with vertical takeoff and landing capabilities for enhanced operational flexibility.</a:t>
            </a:r>
            <a:br>
              <a:rPr lang="en-US" sz="1400" dirty="0"/>
            </a:br>
            <a:br>
              <a:rPr lang="en-US" sz="1400" dirty="0"/>
            </a:br>
            <a:r>
              <a:rPr lang="en-US" sz="1400" dirty="0"/>
              <a:t>List 4:</a:t>
            </a:r>
            <a:br>
              <a:rPr lang="en-US" sz="1400" dirty="0"/>
            </a:br>
            <a:r>
              <a:rPr lang="en-US" sz="1400" dirty="0"/>
              <a:t>1. Electronic warfare: Aircraft can disrupt enemy communications and radar systems using electronic countermeasures.</a:t>
            </a:r>
            <a:br>
              <a:rPr lang="en-US" sz="1400" dirty="0"/>
            </a:br>
            <a:r>
              <a:rPr lang="en-US" sz="1400" dirty="0"/>
              <a:t>2. Unmanned combat aerial vehicles: Developing autonomous aircraft for combat missions without risking human lives.</a:t>
            </a:r>
            <a:br>
              <a:rPr lang="en-US" sz="1400" dirty="0"/>
            </a:br>
            <a:r>
              <a:rPr lang="en-US" sz="1400" dirty="0"/>
              <a:t>3. Airborne surveillance and reconnaissance: Aircraft equipped with advanced sensors and cameras for real-time intelligence gathering.</a:t>
            </a:r>
            <a:br>
              <a:rPr lang="en-US" sz="1400" dirty="0"/>
            </a:br>
            <a:r>
              <a:rPr lang="en-US" sz="1400" dirty="0"/>
              <a:t>4. Aerial drone swarm: Coordinating multiple drones to perform synchronized military operations.</a:t>
            </a:r>
            <a:br>
              <a:rPr lang="en-US" sz="1400" dirty="0"/>
            </a:br>
            <a:r>
              <a:rPr lang="en-US" sz="1400" dirty="0"/>
              <a:t>5. Aerial combat: Aircraft engaged in dogfights and air-to-air combat scenarios.</a:t>
            </a:r>
          </a:p>
          <a:p>
            <a:pPr marL="800100" lvl="1" indent="-342900">
              <a:buFont typeface="+mj-lt"/>
              <a:buAutoNum type="arabicPeriod"/>
            </a:pPr>
            <a:r>
              <a:rPr lang="en-US" sz="1400" b="1" dirty="0"/>
              <a:t>Prompt 3:</a:t>
            </a:r>
            <a:r>
              <a:rPr lang="en-US" sz="1400" dirty="0"/>
              <a:t> For questions with a * indication: Instructions: In this test, you will be given a series of words or phrases related to the military. Your task is to identify the word or phrase that bridges the associative gap between the given words. Choose the option that you think best connects the two given words. </a:t>
            </a:r>
          </a:p>
          <a:p>
            <a:pPr marL="457200" lvl="1" indent="0">
              <a:buNone/>
            </a:pPr>
            <a:endParaRPr lang="en-US" sz="1500" dirty="0"/>
          </a:p>
          <a:p>
            <a:pPr marL="800100" lvl="1" indent="-342900">
              <a:buFont typeface="+mj-lt"/>
              <a:buAutoNum type="arabicPeriod"/>
            </a:pPr>
            <a:endParaRPr lang="en-US" sz="1500" dirty="0"/>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2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1</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0 / 3</a:t>
            </a:r>
          </a:p>
        </p:txBody>
      </p:sp>
      <p:sp>
        <p:nvSpPr>
          <p:cNvPr id="6" name="TextBox 5">
            <a:extLst>
              <a:ext uri="{FF2B5EF4-FFF2-40B4-BE49-F238E27FC236}">
                <a16:creationId xmlns:a16="http://schemas.microsoft.com/office/drawing/2014/main" id="{64A80497-E7B9-41E3-EB07-813D4D015018}"/>
              </a:ext>
            </a:extLst>
          </p:cNvPr>
          <p:cNvSpPr txBox="1"/>
          <p:nvPr/>
        </p:nvSpPr>
        <p:spPr>
          <a:xfrm>
            <a:off x="10045002" y="6488668"/>
            <a:ext cx="2146998" cy="369332"/>
          </a:xfrm>
          <a:prstGeom prst="rect">
            <a:avLst/>
          </a:prstGeom>
          <a:noFill/>
        </p:spPr>
        <p:txBody>
          <a:bodyPr wrap="none" rtlCol="0">
            <a:spAutoFit/>
          </a:bodyPr>
          <a:lstStyle/>
          <a:p>
            <a:r>
              <a:rPr lang="en-US" dirty="0"/>
              <a:t>2. Type of Processing</a:t>
            </a:r>
          </a:p>
        </p:txBody>
      </p:sp>
    </p:spTree>
    <p:extLst>
      <p:ext uri="{BB962C8B-B14F-4D97-AF65-F5344CB8AC3E}">
        <p14:creationId xmlns:p14="http://schemas.microsoft.com/office/powerpoint/2010/main" val="24517086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Controlled Processing</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0" y="1690688"/>
            <a:ext cx="11099432" cy="4570430"/>
          </a:xfrm>
        </p:spPr>
        <p:txBody>
          <a:bodyPr>
            <a:normAutofit fontScale="77500" lnSpcReduction="20000"/>
          </a:bodyPr>
          <a:lstStyle/>
          <a:p>
            <a:r>
              <a:rPr lang="en-US" dirty="0"/>
              <a:t>Creative responses</a:t>
            </a:r>
          </a:p>
          <a:p>
            <a:pPr lvl="1"/>
            <a:r>
              <a:rPr lang="en-US" dirty="0"/>
              <a:t>Basic: </a:t>
            </a:r>
            <a:r>
              <a:rPr lang="en-US" i="1" dirty="0"/>
              <a:t>knowledge</a:t>
            </a:r>
            <a:endParaRPr lang="en-US" dirty="0"/>
          </a:p>
          <a:p>
            <a:pPr lvl="2"/>
            <a:r>
              <a:rPr lang="en-US" dirty="0"/>
              <a:t>(MC) (P1) Select all that apply of the elements requiring creativity for a team to win: </a:t>
            </a:r>
            <a:r>
              <a:rPr lang="en-US" dirty="0">
                <a:solidFill>
                  <a:srgbClr val="FF0000"/>
                </a:solidFill>
              </a:rPr>
              <a:t>(a) adaptation (b) trial and error (c) teamwork (d) strategy </a:t>
            </a:r>
            <a:r>
              <a:rPr lang="en-US" dirty="0"/>
              <a:t>( e ) none of the above</a:t>
            </a:r>
          </a:p>
          <a:p>
            <a:pPr lvl="2"/>
            <a:r>
              <a:rPr lang="en-US" dirty="0"/>
              <a:t>(</a:t>
            </a:r>
            <a:r>
              <a:rPr lang="en-US" dirty="0">
                <a:solidFill>
                  <a:srgbClr val="FF0000"/>
                </a:solidFill>
              </a:rPr>
              <a:t>T</a:t>
            </a:r>
            <a:r>
              <a:rPr lang="en-US" dirty="0"/>
              <a:t>/F) (P1) Successful tactical maneuvers may require creativity. </a:t>
            </a:r>
          </a:p>
          <a:p>
            <a:pPr lvl="2"/>
            <a:r>
              <a:rPr lang="en-US" dirty="0"/>
              <a:t>(T/</a:t>
            </a:r>
            <a:r>
              <a:rPr lang="en-US" dirty="0">
                <a:solidFill>
                  <a:srgbClr val="FF0000"/>
                </a:solidFill>
              </a:rPr>
              <a:t>F</a:t>
            </a:r>
            <a:r>
              <a:rPr lang="en-US" dirty="0"/>
              <a:t>) (P1) Wargaming is static and always has an obvious solution. </a:t>
            </a:r>
          </a:p>
          <a:p>
            <a:pPr lvl="2"/>
            <a:r>
              <a:rPr lang="en-US" dirty="0"/>
              <a:t>(MC) (P1) Select all of the elements that prompt creativity from a team, as per the passage: (a) military rank </a:t>
            </a:r>
            <a:r>
              <a:rPr lang="en-US" dirty="0">
                <a:solidFill>
                  <a:srgbClr val="FF0000"/>
                </a:solidFill>
              </a:rPr>
              <a:t>(b) availability (c) opponents </a:t>
            </a:r>
            <a:r>
              <a:rPr lang="en-US" dirty="0"/>
              <a:t>(d) none of the above</a:t>
            </a:r>
          </a:p>
          <a:p>
            <a:pPr lvl="2"/>
            <a:r>
              <a:rPr lang="en-US" dirty="0"/>
              <a:t>(T/</a:t>
            </a:r>
            <a:r>
              <a:rPr lang="en-US" dirty="0">
                <a:solidFill>
                  <a:srgbClr val="FF0000"/>
                </a:solidFill>
              </a:rPr>
              <a:t>F</a:t>
            </a:r>
            <a:r>
              <a:rPr lang="en-US" dirty="0"/>
              <a:t>) (P1) There is a set number of steps and trials required to creatively win in a wargame. </a:t>
            </a:r>
          </a:p>
          <a:p>
            <a:pPr marL="742950" lvl="1" indent="-285750">
              <a:buFont typeface="Arial" panose="020B0604020202020204" pitchFamily="34" charset="0"/>
              <a:buChar char="•"/>
            </a:pPr>
            <a:r>
              <a:rPr lang="en-US" sz="2400" dirty="0"/>
              <a:t>Intermediate: </a:t>
            </a:r>
            <a:r>
              <a:rPr lang="en-US" sz="2400" i="1" dirty="0"/>
              <a:t>comprehension</a:t>
            </a:r>
            <a:endParaRPr lang="en-US" sz="2400" dirty="0"/>
          </a:p>
          <a:p>
            <a:pPr marL="1200150" lvl="2" indent="-285750"/>
            <a:r>
              <a:rPr lang="en-US" sz="2000" dirty="0"/>
              <a:t>(MC) Prompt 2 (P2): For the items in list 1, state whether each item is (a) an invalid or irrelevant military application of aircraft, (b) relevant but not creative, or (c) creative </a:t>
            </a:r>
            <a:r>
              <a:rPr lang="en-US" sz="2000" dirty="0">
                <a:solidFill>
                  <a:srgbClr val="FF0000"/>
                </a:solidFill>
              </a:rPr>
              <a:t>a, a, b, b, c</a:t>
            </a:r>
            <a:endParaRPr lang="en-US" sz="2000" dirty="0"/>
          </a:p>
          <a:p>
            <a:pPr marL="1200150" lvl="2" indent="-285750"/>
            <a:r>
              <a:rPr lang="en-US" dirty="0"/>
              <a:t>(MC) (P2): </a:t>
            </a:r>
            <a:r>
              <a:rPr lang="en-US" sz="2000" dirty="0"/>
              <a:t>For the items in list 2, state whether each item is (a) an invalid or irrelevant military application of aircraft, (b) relevant but not creative, or (c) creative </a:t>
            </a:r>
            <a:r>
              <a:rPr lang="en-US" sz="2000" dirty="0">
                <a:solidFill>
                  <a:srgbClr val="FF0000"/>
                </a:solidFill>
              </a:rPr>
              <a:t>a, b, b, c, c</a:t>
            </a:r>
            <a:endParaRPr lang="en-US" sz="2000" dirty="0"/>
          </a:p>
          <a:p>
            <a:pPr marL="1200150" lvl="2" indent="-285750"/>
            <a:r>
              <a:rPr lang="en-US" sz="2000" dirty="0"/>
              <a:t>(MC) (P2): For the items in list 3, state whether each item is (a) an invalid or irrelevant military application of aircraft, (b) relevant but not creative, or (c) creative </a:t>
            </a:r>
            <a:r>
              <a:rPr lang="en-US" sz="2000" dirty="0">
                <a:solidFill>
                  <a:srgbClr val="FF0000"/>
                </a:solidFill>
              </a:rPr>
              <a:t>b, b, b/c, c, c</a:t>
            </a:r>
            <a:endParaRPr lang="en-US" sz="2000" dirty="0"/>
          </a:p>
          <a:p>
            <a:pPr marL="1200150" lvl="2" indent="-285750"/>
            <a:r>
              <a:rPr lang="en-US" dirty="0"/>
              <a:t>(MC) (P2): </a:t>
            </a:r>
            <a:r>
              <a:rPr lang="en-US" sz="2000" dirty="0"/>
              <a:t>For the items in list 4, state whether each item is (a) an invalid or irrelevant military application of aircraft, (b) relevant but not creative, or (c) creative </a:t>
            </a:r>
            <a:r>
              <a:rPr lang="en-US" dirty="0">
                <a:solidFill>
                  <a:srgbClr val="FF0000"/>
                </a:solidFill>
              </a:rPr>
              <a:t>c</a:t>
            </a:r>
            <a:r>
              <a:rPr lang="en-US" sz="2000" dirty="0">
                <a:solidFill>
                  <a:srgbClr val="FF0000"/>
                </a:solidFill>
              </a:rPr>
              <a:t>, c, c, c, c</a:t>
            </a:r>
            <a:endParaRPr lang="en-US" dirty="0"/>
          </a:p>
          <a:p>
            <a:pPr marL="1200150" lvl="2" indent="-285750"/>
            <a:r>
              <a:rPr lang="en-US" sz="2000" dirty="0"/>
              <a:t>(MC/SR) </a:t>
            </a:r>
            <a:r>
              <a:rPr lang="en-US" dirty="0"/>
              <a:t>P2: </a:t>
            </a:r>
            <a:r>
              <a:rPr lang="en-US" sz="2000" dirty="0"/>
              <a:t>From the lists provided in the prompt, which contains the most relevant, creative, and diverse use cases for military aircraft? </a:t>
            </a:r>
            <a:r>
              <a:rPr lang="en-US" sz="2000" dirty="0">
                <a:solidFill>
                  <a:srgbClr val="FF0000"/>
                </a:solidFill>
              </a:rPr>
              <a:t>List 4</a:t>
            </a:r>
            <a:endParaRPr lang="en-US" sz="2000" dirty="0"/>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146998" cy="369332"/>
          </a:xfrm>
          <a:prstGeom prst="rect">
            <a:avLst/>
          </a:prstGeom>
          <a:noFill/>
        </p:spPr>
        <p:txBody>
          <a:bodyPr wrap="none" rtlCol="0">
            <a:spAutoFit/>
          </a:bodyPr>
          <a:lstStyle/>
          <a:p>
            <a:r>
              <a:rPr lang="en-US" dirty="0"/>
              <a:t>2. Type of Processing</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2 / 2</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3 / 3</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1 / 2</a:t>
            </a:r>
          </a:p>
        </p:txBody>
      </p:sp>
    </p:spTree>
    <p:extLst>
      <p:ext uri="{BB962C8B-B14F-4D97-AF65-F5344CB8AC3E}">
        <p14:creationId xmlns:p14="http://schemas.microsoft.com/office/powerpoint/2010/main" val="32602882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Controlled Processing</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2899" y="1690688"/>
            <a:ext cx="5816416" cy="4570430"/>
          </a:xfrm>
        </p:spPr>
        <p:txBody>
          <a:bodyPr>
            <a:normAutofit lnSpcReduction="10000"/>
          </a:bodyPr>
          <a:lstStyle/>
          <a:p>
            <a:r>
              <a:rPr lang="en-US" sz="1400" dirty="0"/>
              <a:t>Creative responses</a:t>
            </a:r>
          </a:p>
          <a:p>
            <a:pPr marL="742950" lvl="1" indent="-285750">
              <a:buFont typeface="Arial" panose="020B0604020202020204" pitchFamily="34" charset="0"/>
              <a:buChar char="•"/>
            </a:pPr>
            <a:r>
              <a:rPr lang="en-US" sz="1200" dirty="0"/>
              <a:t>Advanced: </a:t>
            </a:r>
            <a:r>
              <a:rPr lang="en-US" sz="1200" i="1" dirty="0"/>
              <a:t>application (using Prompt 1): </a:t>
            </a:r>
          </a:p>
          <a:p>
            <a:pPr marL="1200150" lvl="2" indent="-285750"/>
            <a:r>
              <a:rPr lang="en-US" sz="1000" dirty="0"/>
              <a:t>(MC) Prompt 1 (P1): Which of the following strategies would demonstrate both creativity and effective decision-making in the war game scenario described in the passage?</a:t>
            </a:r>
            <a:br>
              <a:rPr lang="en-US" sz="1000" dirty="0"/>
            </a:br>
            <a:r>
              <a:rPr lang="en-US" sz="1000" dirty="0">
                <a:solidFill>
                  <a:srgbClr val="FF0000"/>
                </a:solidFill>
              </a:rPr>
              <a:t>(A) Deploying a diversionary force to distract the enemy while launching a surprise attack from the rear.</a:t>
            </a:r>
            <a:br>
              <a:rPr lang="en-US" sz="1000" dirty="0">
                <a:solidFill>
                  <a:srgbClr val="FF0000"/>
                </a:solidFill>
              </a:rPr>
            </a:br>
            <a:r>
              <a:rPr lang="en-US" sz="1000" dirty="0"/>
              <a:t>(B) Following a traditional frontal assault strategy to overwhelm the enemy with superior firepower.</a:t>
            </a:r>
            <a:br>
              <a:rPr lang="en-US" sz="1000" dirty="0"/>
            </a:br>
            <a:r>
              <a:rPr lang="en-US" sz="1000" dirty="0"/>
              <a:t>C) Maintaining a defensive posture and relying on fortified positions to repel enemy advances.</a:t>
            </a:r>
            <a:br>
              <a:rPr lang="en-US" sz="1000" dirty="0"/>
            </a:br>
            <a:r>
              <a:rPr lang="en-US" sz="1000" dirty="0"/>
              <a:t>D) Using a strictly reactive approach, waiting for the enemy to make the first move before responding.</a:t>
            </a:r>
          </a:p>
          <a:p>
            <a:pPr marL="1200150" lvl="2" indent="-285750"/>
            <a:r>
              <a:rPr lang="en-US" sz="1000" dirty="0"/>
              <a:t>(MC) (P1): In the war game scenario described in the passage, which of the following innovative technologies or tactics could be employed to gain a strategic advantage?</a:t>
            </a:r>
            <a:br>
              <a:rPr lang="en-US" sz="1000" dirty="0"/>
            </a:br>
            <a:r>
              <a:rPr lang="en-US" sz="1000" dirty="0">
                <a:solidFill>
                  <a:srgbClr val="FF0000"/>
                </a:solidFill>
              </a:rPr>
              <a:t>A) Utilizing unmanned aerial vehicles (UAVs) for reconnaissance and target acquisition.</a:t>
            </a:r>
            <a:br>
              <a:rPr lang="en-US" sz="1000" dirty="0">
                <a:solidFill>
                  <a:srgbClr val="FF0000"/>
                </a:solidFill>
              </a:rPr>
            </a:br>
            <a:r>
              <a:rPr lang="en-US" sz="1000" dirty="0"/>
              <a:t>B) Implementing a traditional cavalry charge to break through enemy lines.</a:t>
            </a:r>
            <a:br>
              <a:rPr lang="en-US" sz="1000" dirty="0"/>
            </a:br>
            <a:r>
              <a:rPr lang="en-US" sz="1000" dirty="0"/>
              <a:t>C) Relying solely on conventional infantry tactics without incorporating any technological advancements.</a:t>
            </a:r>
            <a:br>
              <a:rPr lang="en-US" sz="1000" dirty="0"/>
            </a:br>
            <a:r>
              <a:rPr lang="en-US" sz="1000" dirty="0"/>
              <a:t>D) Deploying a network of underground tunnels to surprise and flank the enemy.</a:t>
            </a:r>
          </a:p>
          <a:p>
            <a:pPr marL="1200150" lvl="2" indent="-285750"/>
            <a:r>
              <a:rPr lang="en-US" sz="1000" dirty="0"/>
              <a:t>(MC) (P1):  In the war game scenario described in the passage, which of the following approaches would demonstrate both creativity and effective teamwork?</a:t>
            </a:r>
            <a:br>
              <a:rPr lang="en-US" sz="1000" dirty="0"/>
            </a:br>
            <a:r>
              <a:rPr lang="en-US" sz="1000" dirty="0"/>
              <a:t>A) Implementing a decentralized command structure, allowing individual units to make independent decisions.</a:t>
            </a:r>
            <a:br>
              <a:rPr lang="en-US" sz="1000" dirty="0"/>
            </a:br>
            <a:r>
              <a:rPr lang="en-US" sz="1000" dirty="0">
                <a:solidFill>
                  <a:srgbClr val="FF0000"/>
                </a:solidFill>
              </a:rPr>
              <a:t>B) Assigning specific roles and responsibilities to each team member, ensuring clear communication and coordination.</a:t>
            </a:r>
            <a:br>
              <a:rPr lang="en-US" sz="1000" dirty="0">
                <a:solidFill>
                  <a:srgbClr val="FF0000"/>
                </a:solidFill>
              </a:rPr>
            </a:br>
            <a:r>
              <a:rPr lang="en-US" sz="1000" dirty="0"/>
              <a:t>C) Adopting a rigid and inflexible strategy, following predetermined plans without room for adaptation.</a:t>
            </a:r>
            <a:br>
              <a:rPr lang="en-US" sz="1000" dirty="0"/>
            </a:br>
            <a:r>
              <a:rPr lang="en-US" sz="1000" dirty="0"/>
              <a:t>D) Encouraging competition and rivalry among team members to foster a sense of urgency and motivation.</a:t>
            </a:r>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146998" cy="369332"/>
          </a:xfrm>
          <a:prstGeom prst="rect">
            <a:avLst/>
          </a:prstGeom>
          <a:noFill/>
        </p:spPr>
        <p:txBody>
          <a:bodyPr wrap="none" rtlCol="0">
            <a:spAutoFit/>
          </a:bodyPr>
          <a:lstStyle/>
          <a:p>
            <a:r>
              <a:rPr lang="en-US" dirty="0"/>
              <a:t>2. Type of Processing</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2 / 2</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3 / 3</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1 / 2</a:t>
            </a:r>
          </a:p>
        </p:txBody>
      </p:sp>
      <p:sp>
        <p:nvSpPr>
          <p:cNvPr id="6" name="Content Placeholder 2">
            <a:extLst>
              <a:ext uri="{FF2B5EF4-FFF2-40B4-BE49-F238E27FC236}">
                <a16:creationId xmlns:a16="http://schemas.microsoft.com/office/drawing/2014/main" id="{BFCD99C1-558F-FEDE-2C2A-5BCE44454F26}"/>
              </a:ext>
            </a:extLst>
          </p:cNvPr>
          <p:cNvSpPr txBox="1">
            <a:spLocks/>
          </p:cNvSpPr>
          <p:nvPr/>
        </p:nvSpPr>
        <p:spPr>
          <a:xfrm>
            <a:off x="5482966" y="1690688"/>
            <a:ext cx="5435416" cy="457043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Creative responses</a:t>
            </a:r>
          </a:p>
          <a:p>
            <a:pPr marL="742950" lvl="1" indent="-285750"/>
            <a:r>
              <a:rPr lang="en-US" sz="1200" dirty="0"/>
              <a:t>Advanced: </a:t>
            </a:r>
            <a:r>
              <a:rPr lang="en-US" sz="1200" i="1" dirty="0"/>
              <a:t>application (using Prompt 1): </a:t>
            </a:r>
          </a:p>
          <a:p>
            <a:pPr marL="1200150" lvl="2" indent="-285750"/>
            <a:r>
              <a:rPr lang="en-US" sz="1000" dirty="0"/>
              <a:t>(MA) (P1): Match the following innovative military technologies with their potential applications in the war game scenario described in the passage:</a:t>
            </a:r>
            <a:br>
              <a:rPr lang="en-US" sz="1000" dirty="0"/>
            </a:br>
            <a:r>
              <a:rPr lang="en-US" sz="1000" dirty="0">
                <a:solidFill>
                  <a:srgbClr val="FF0000"/>
                </a:solidFill>
              </a:rPr>
              <a:t>1. B 2. C 3. D 4. A </a:t>
            </a:r>
            <a:br>
              <a:rPr lang="en-US" sz="1000" dirty="0"/>
            </a:br>
            <a:r>
              <a:rPr lang="en-US" sz="1000" dirty="0"/>
              <a:t>1. Virtual Reality (VR) Training</a:t>
            </a:r>
            <a:br>
              <a:rPr lang="en-US" sz="1000" dirty="0"/>
            </a:br>
            <a:r>
              <a:rPr lang="en-US" sz="1000" dirty="0"/>
              <a:t>2. Artificial Intelligence (AI) for Decision Support</a:t>
            </a:r>
            <a:br>
              <a:rPr lang="en-US" sz="1000" dirty="0"/>
            </a:br>
            <a:r>
              <a:rPr lang="en-US" sz="1000" dirty="0"/>
              <a:t>3. Cyber Warfare Tools</a:t>
            </a:r>
            <a:br>
              <a:rPr lang="en-US" sz="1000" dirty="0"/>
            </a:br>
            <a:r>
              <a:rPr lang="en-US" sz="1000" dirty="0"/>
              <a:t>4. Drone Swarms</a:t>
            </a:r>
            <a:br>
              <a:rPr lang="en-US" sz="1000" dirty="0"/>
            </a:br>
            <a:br>
              <a:rPr lang="en-US" sz="1000" dirty="0"/>
            </a:br>
            <a:r>
              <a:rPr lang="en-US" sz="1000" dirty="0"/>
              <a:t>A. Enhancing situational awareness and reconnaissance capabilities.</a:t>
            </a:r>
            <a:br>
              <a:rPr lang="en-US" sz="1000" dirty="0"/>
            </a:br>
            <a:r>
              <a:rPr lang="en-US" sz="1000" dirty="0"/>
              <a:t>B. Simulating realistic combat scenarios for training purposes.</a:t>
            </a:r>
            <a:br>
              <a:rPr lang="en-US" sz="1000" dirty="0"/>
            </a:br>
            <a:r>
              <a:rPr lang="en-US" sz="1000" dirty="0"/>
              <a:t>C. Analyzing vast amounts of data to provide real-time insights and recommendations.</a:t>
            </a:r>
            <a:br>
              <a:rPr lang="en-US" sz="1000" dirty="0"/>
            </a:br>
            <a:r>
              <a:rPr lang="en-US" sz="1000" dirty="0"/>
              <a:t>D. Disrupting enemy communication networks and systems.</a:t>
            </a:r>
            <a:br>
              <a:rPr lang="en-US" sz="1000" dirty="0"/>
            </a:br>
            <a:endParaRPr lang="en-US" sz="1000" dirty="0"/>
          </a:p>
          <a:p>
            <a:pPr marL="1200150" lvl="2" indent="-285750"/>
            <a:r>
              <a:rPr lang="en-US" sz="1000" dirty="0"/>
              <a:t>(MA) (P1): Match the following military strategies with example scenarios where they might be used in the war game scenario described in the passage:</a:t>
            </a:r>
            <a:br>
              <a:rPr lang="en-US" sz="1000" dirty="0"/>
            </a:br>
            <a:r>
              <a:rPr lang="en-US" sz="1000" dirty="0">
                <a:solidFill>
                  <a:srgbClr val="FF0000"/>
                </a:solidFill>
              </a:rPr>
              <a:t>1. A 2. D 3. C 4. B</a:t>
            </a:r>
            <a:br>
              <a:rPr lang="en-US" sz="1000" dirty="0">
                <a:solidFill>
                  <a:srgbClr val="FF0000"/>
                </a:solidFill>
              </a:rPr>
            </a:br>
            <a:r>
              <a:rPr lang="en-US" sz="1000" dirty="0"/>
              <a:t>1. Flanking Maneuver</a:t>
            </a:r>
            <a:br>
              <a:rPr lang="en-US" sz="1000" dirty="0"/>
            </a:br>
            <a:r>
              <a:rPr lang="en-US" sz="1000" dirty="0"/>
              <a:t>2. Blitzkrieg</a:t>
            </a:r>
            <a:br>
              <a:rPr lang="en-US" sz="1000" dirty="0"/>
            </a:br>
            <a:r>
              <a:rPr lang="en-US" sz="1000" dirty="0"/>
              <a:t>3. Guerilla Warfare</a:t>
            </a:r>
            <a:br>
              <a:rPr lang="en-US" sz="1000" dirty="0"/>
            </a:br>
            <a:r>
              <a:rPr lang="en-US" sz="1000" dirty="0"/>
              <a:t>4. Defensive Counterattack</a:t>
            </a:r>
            <a:br>
              <a:rPr lang="en-US" sz="1000" dirty="0"/>
            </a:br>
            <a:br>
              <a:rPr lang="en-US" sz="1000" dirty="0"/>
            </a:br>
            <a:r>
              <a:rPr lang="en-US" sz="1000" dirty="0"/>
              <a:t>A. The enemy has a heavily fortified front line, and the objective is to bypass their defenses by attacking from the side or rear, encircling them, and cutting off their supply lines.</a:t>
            </a:r>
            <a:br>
              <a:rPr lang="en-US" sz="1000" dirty="0"/>
            </a:br>
            <a:r>
              <a:rPr lang="en-US" sz="1000" dirty="0"/>
              <a:t>B. The enemy launches a large-scale assault, and the objective is to absorb the initial attack, hold the defensive position, and then launch a counterattack to regain lost ground.</a:t>
            </a:r>
            <a:br>
              <a:rPr lang="en-US" sz="1000" dirty="0"/>
            </a:br>
            <a:r>
              <a:rPr lang="en-US" sz="1000" dirty="0"/>
              <a:t>C. The enemy has superior firepower and resources, and the objective is to engage in hit-and-run attacks, sabotage their operations, and disrupt their supply lines to weaken their overall strength.</a:t>
            </a:r>
            <a:br>
              <a:rPr lang="en-US" sz="1000" dirty="0"/>
            </a:br>
            <a:r>
              <a:rPr lang="en-US" sz="1000" dirty="0"/>
              <a:t>D. The enemy has spread their forces thin across multiple fronts, and the objective is to launch a rapid and overwhelming attack, quickly penetrating their lines, and disrupting their command and control.</a:t>
            </a:r>
          </a:p>
        </p:txBody>
      </p:sp>
    </p:spTree>
    <p:extLst>
      <p:ext uri="{BB962C8B-B14F-4D97-AF65-F5344CB8AC3E}">
        <p14:creationId xmlns:p14="http://schemas.microsoft.com/office/powerpoint/2010/main" val="2086378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Controlled Processing</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95670" y="1690688"/>
            <a:ext cx="11008364" cy="4570430"/>
          </a:xfrm>
        </p:spPr>
        <p:txBody>
          <a:bodyPr>
            <a:normAutofit fontScale="77500" lnSpcReduction="20000"/>
          </a:bodyPr>
          <a:lstStyle/>
          <a:p>
            <a:r>
              <a:rPr lang="en-US" sz="2400" dirty="0"/>
              <a:t>Creative responses</a:t>
            </a:r>
          </a:p>
          <a:p>
            <a:pPr lvl="1"/>
            <a:r>
              <a:rPr lang="en-US" sz="2000" dirty="0"/>
              <a:t>Expert: </a:t>
            </a:r>
            <a:r>
              <a:rPr lang="en-US" sz="2000" i="1" dirty="0"/>
              <a:t>analysis/synthesis</a:t>
            </a:r>
            <a:endParaRPr lang="en-US" sz="2000" dirty="0"/>
          </a:p>
          <a:p>
            <a:pPr lvl="2"/>
            <a:r>
              <a:rPr lang="en-US" sz="1700" dirty="0"/>
              <a:t>(MA/SR) Rank the following lists in order of most diverse to least diverse words: </a:t>
            </a:r>
            <a:r>
              <a:rPr lang="en-US" sz="1700" b="1" dirty="0"/>
              <a:t>List 1:</a:t>
            </a:r>
            <a:r>
              <a:rPr lang="en-US" sz="1700" dirty="0"/>
              <a:t> 1. Soldier 2. Army 3. Infantry 4. Battalion 5. Platoon 6. Squad 7. Company </a:t>
            </a:r>
            <a:r>
              <a:rPr lang="en-US" sz="1700" b="1" dirty="0"/>
              <a:t>List 2:</a:t>
            </a:r>
            <a:r>
              <a:rPr lang="en-US" sz="1700" dirty="0"/>
              <a:t> 1. General 2. Courage 3. Satellite 4. Trench 5. Regimen 6. Drone 7. Paratrooper </a:t>
            </a:r>
            <a:r>
              <a:rPr lang="en-US" sz="1700" b="1" dirty="0"/>
              <a:t>List 3: </a:t>
            </a:r>
            <a:r>
              <a:rPr lang="en-US" sz="1700" dirty="0"/>
              <a:t>1. soldier 2. army 3. infantry 4. fortification 5. integrity 6. reconnaissance 7. airborne </a:t>
            </a:r>
            <a:r>
              <a:rPr lang="en-US" sz="1700" b="1" dirty="0"/>
              <a:t>List 4: </a:t>
            </a:r>
            <a:r>
              <a:rPr lang="en-US" sz="1700" dirty="0"/>
              <a:t>1. medal 2. trench 3. uniform 4. honor 5. integrity 6. reconnaissance 7. paratrooper [</a:t>
            </a:r>
            <a:r>
              <a:rPr lang="en-US" sz="1700" dirty="0">
                <a:solidFill>
                  <a:srgbClr val="FF0000"/>
                </a:solidFill>
              </a:rPr>
              <a:t>4, 1, 3, 2</a:t>
            </a:r>
            <a:r>
              <a:rPr lang="en-US" sz="1700" dirty="0"/>
              <a:t>] (</a:t>
            </a:r>
            <a:r>
              <a:rPr lang="en-US" sz="1700" i="1" dirty="0"/>
              <a:t>scores: 53, 88, 67, 79</a:t>
            </a:r>
            <a:r>
              <a:rPr lang="en-US" sz="1700" dirty="0"/>
              <a:t>)</a:t>
            </a:r>
          </a:p>
          <a:p>
            <a:pPr marL="1200150" lvl="2" indent="-285750"/>
            <a:r>
              <a:rPr lang="en-US" sz="1700" dirty="0"/>
              <a:t>(MC)* (</a:t>
            </a:r>
            <a:r>
              <a:rPr lang="en-US" sz="1700" dirty="0" err="1"/>
              <a:t>i</a:t>
            </a:r>
            <a:r>
              <a:rPr lang="en-US" sz="1700" dirty="0"/>
              <a:t>) Given words: Camouflage – Stealth Options: a) Uniform b) Sniper </a:t>
            </a:r>
            <a:r>
              <a:rPr lang="en-US" sz="1700" dirty="0">
                <a:solidFill>
                  <a:srgbClr val="FF0000"/>
                </a:solidFill>
              </a:rPr>
              <a:t>c) Radar </a:t>
            </a:r>
            <a:r>
              <a:rPr lang="en-US" sz="1700" dirty="0"/>
              <a:t>d) Parachute</a:t>
            </a:r>
            <a:br>
              <a:rPr lang="en-US" sz="1700" dirty="0"/>
            </a:br>
            <a:endParaRPr lang="en-US" sz="1700" dirty="0">
              <a:solidFill>
                <a:srgbClr val="FF0000"/>
              </a:solidFill>
            </a:endParaRPr>
          </a:p>
          <a:p>
            <a:pPr marL="1200150" lvl="2" indent="-285750"/>
            <a:r>
              <a:rPr lang="en-US" sz="1700" dirty="0"/>
              <a:t>(MC)* (ii) Given words: Medal – Honor Options: a) Rank b) Uniform c) Ceremony </a:t>
            </a:r>
            <a:r>
              <a:rPr lang="en-US" sz="1700" dirty="0">
                <a:solidFill>
                  <a:srgbClr val="FF0000"/>
                </a:solidFill>
              </a:rPr>
              <a:t>d) Valor</a:t>
            </a:r>
          </a:p>
          <a:p>
            <a:pPr marL="1200150" lvl="2" indent="-285750"/>
            <a:r>
              <a:rPr lang="en-US" sz="1700" dirty="0"/>
              <a:t>(MC)* (iii) Given words: General – Soldier Options: a) Admiral </a:t>
            </a:r>
            <a:r>
              <a:rPr lang="en-US" sz="1700" dirty="0">
                <a:solidFill>
                  <a:srgbClr val="FF0000"/>
                </a:solidFill>
              </a:rPr>
              <a:t>b) Sergeant </a:t>
            </a:r>
            <a:r>
              <a:rPr lang="en-US" sz="1700" dirty="0"/>
              <a:t>c) Pilot d) Doctor</a:t>
            </a:r>
            <a:endParaRPr lang="en-US" sz="1700" dirty="0">
              <a:solidFill>
                <a:srgbClr val="FF0000"/>
              </a:solidFill>
            </a:endParaRPr>
          </a:p>
          <a:p>
            <a:pPr marL="1200150" lvl="2" indent="-285750"/>
            <a:r>
              <a:rPr lang="en-US" sz="1700" dirty="0"/>
              <a:t>(MA/SR)* Rank the following lists in order of most diverse to least diverse words: </a:t>
            </a:r>
            <a:r>
              <a:rPr lang="en-US" sz="1700" b="1" dirty="0"/>
              <a:t>List 1: </a:t>
            </a:r>
            <a:r>
              <a:rPr lang="en-US" sz="1700" dirty="0"/>
              <a:t>engage, defend, deploy, attack, infiltrate, ambush, launch</a:t>
            </a:r>
            <a:r>
              <a:rPr lang="en-US" sz="1700" b="1" dirty="0"/>
              <a:t> List 2: </a:t>
            </a:r>
            <a:r>
              <a:rPr lang="en-US" sz="1700" dirty="0"/>
              <a:t>deploy, reconnoiter, infiltrate, retreat, resupply, spy </a:t>
            </a:r>
            <a:r>
              <a:rPr lang="en-US" sz="1700" b="1" dirty="0"/>
              <a:t>List 3: </a:t>
            </a:r>
            <a:r>
              <a:rPr lang="en-US" sz="1700" dirty="0"/>
              <a:t>resupply, fortify, fly, mobilize, surrender, conquer, retreat </a:t>
            </a:r>
            <a:r>
              <a:rPr lang="en-US" sz="1700" b="1" dirty="0"/>
              <a:t>List 4: </a:t>
            </a:r>
            <a:r>
              <a:rPr lang="en-US" sz="1700" dirty="0"/>
              <a:t>suppress, attack, fortify, brief, mobilize, conquer, surrender [</a:t>
            </a:r>
            <a:r>
              <a:rPr lang="en-US" sz="1700" dirty="0">
                <a:solidFill>
                  <a:srgbClr val="FF0000"/>
                </a:solidFill>
              </a:rPr>
              <a:t>1,2,3,4</a:t>
            </a:r>
            <a:r>
              <a:rPr lang="en-US" sz="1700" dirty="0"/>
              <a:t>]</a:t>
            </a:r>
            <a:endParaRPr lang="en-US" sz="1700" dirty="0">
              <a:solidFill>
                <a:srgbClr val="FF0000"/>
              </a:solidFill>
            </a:endParaRPr>
          </a:p>
          <a:p>
            <a:pPr marL="742950" lvl="1" indent="-285750"/>
            <a:r>
              <a:rPr lang="en-US" sz="2000" dirty="0"/>
              <a:t>Master: </a:t>
            </a:r>
            <a:r>
              <a:rPr lang="en-US" sz="2000" i="1" dirty="0"/>
              <a:t>synthesis/evaluation</a:t>
            </a:r>
            <a:endParaRPr lang="en-US" sz="2000" dirty="0"/>
          </a:p>
          <a:p>
            <a:pPr marL="1200150" lvl="2" indent="-285750"/>
            <a:r>
              <a:rPr lang="en-US" sz="1700" dirty="0"/>
              <a:t>(ER) Please enter 7 words that are as different from each other as possible, in all meanings and uses of the words. The rules:</a:t>
            </a:r>
            <a:br>
              <a:rPr lang="en-US" sz="1700" dirty="0"/>
            </a:br>
            <a:r>
              <a:rPr lang="en-US" sz="1700" dirty="0"/>
              <a:t>Only single words in English.</a:t>
            </a:r>
            <a:br>
              <a:rPr lang="en-US" sz="1700" dirty="0"/>
            </a:br>
            <a:r>
              <a:rPr lang="en-US" sz="1700" dirty="0"/>
              <a:t>Only nouns (e.g., things, objects, concepts).</a:t>
            </a:r>
            <a:br>
              <a:rPr lang="en-US" sz="1700" dirty="0"/>
            </a:br>
            <a:r>
              <a:rPr lang="en-US" sz="1700" dirty="0"/>
              <a:t>No proper nouns (e.g., no specific people or places).</a:t>
            </a:r>
            <a:br>
              <a:rPr lang="en-US" sz="1700" dirty="0"/>
            </a:br>
            <a:r>
              <a:rPr lang="en-US" sz="1700" dirty="0"/>
              <a:t>No specialized vocabulary (e.g., no technical terms).</a:t>
            </a:r>
            <a:br>
              <a:rPr lang="en-US" sz="1700" dirty="0"/>
            </a:br>
            <a:r>
              <a:rPr lang="en-US" sz="1700" dirty="0"/>
              <a:t>Think of the words on your own (e.g., do not just look at objects in your surroundings).</a:t>
            </a:r>
            <a:br>
              <a:rPr lang="en-US" sz="1700" dirty="0"/>
            </a:br>
            <a:r>
              <a:rPr lang="en-US" sz="1700" dirty="0"/>
              <a:t>Loosely related to the military</a:t>
            </a:r>
          </a:p>
          <a:p>
            <a:pPr marL="1200150" lvl="2" indent="-285750"/>
            <a:r>
              <a:rPr lang="en-US" sz="1700" dirty="0"/>
              <a:t>(ER) List up to 15 creative and different uses for military aircraft. </a:t>
            </a:r>
          </a:p>
          <a:p>
            <a:pPr marL="1200150" lvl="2" indent="-285750">
              <a:buFont typeface="Arial" panose="020B0604020202020204" pitchFamily="34" charset="0"/>
              <a:buChar char="•"/>
            </a:pPr>
            <a:r>
              <a:rPr lang="en-US" sz="1700" dirty="0"/>
              <a:t>(SR) For the words in the question indicated by (</a:t>
            </a:r>
            <a:r>
              <a:rPr lang="en-US" sz="1700" dirty="0" err="1"/>
              <a:t>i</a:t>
            </a:r>
            <a:r>
              <a:rPr lang="en-US" sz="1700" dirty="0"/>
              <a:t>): in one word, what unifies the correct selection and the two provided words? </a:t>
            </a:r>
            <a:r>
              <a:rPr lang="en-US" sz="1700" dirty="0">
                <a:solidFill>
                  <a:srgbClr val="FF0000"/>
                </a:solidFill>
              </a:rPr>
              <a:t>detection</a:t>
            </a:r>
          </a:p>
          <a:p>
            <a:pPr marL="1200150" lvl="2" indent="-285750"/>
            <a:r>
              <a:rPr lang="en-US" sz="1700" dirty="0"/>
              <a:t>(SR) For the words in the question indicated by (ii): in one word, what unifies the correct selection and the two provided words? </a:t>
            </a:r>
            <a:r>
              <a:rPr lang="en-US" sz="1700" dirty="0">
                <a:solidFill>
                  <a:srgbClr val="FF0000"/>
                </a:solidFill>
              </a:rPr>
              <a:t>recognition</a:t>
            </a:r>
            <a:endParaRPr lang="en-US" sz="1700" dirty="0"/>
          </a:p>
          <a:p>
            <a:pPr marL="1200150" lvl="2" indent="-285750">
              <a:buFont typeface="Arial" panose="020B0604020202020204" pitchFamily="34" charset="0"/>
              <a:buChar char="•"/>
            </a:pPr>
            <a:r>
              <a:rPr lang="en-US" sz="1700" dirty="0"/>
              <a:t>(SR) For the words in the question indicated by (iii): in one word, what unifies the correct selection and the two provided words? </a:t>
            </a:r>
            <a:r>
              <a:rPr lang="en-US" sz="1700" dirty="0">
                <a:solidFill>
                  <a:srgbClr val="FF0000"/>
                </a:solidFill>
              </a:rPr>
              <a:t>rank</a:t>
            </a:r>
            <a:endParaRPr lang="en-US" sz="1700" dirty="0"/>
          </a:p>
        </p:txBody>
      </p:sp>
      <p:sp>
        <p:nvSpPr>
          <p:cNvPr id="4" name="TextBox 3">
            <a:extLst>
              <a:ext uri="{FF2B5EF4-FFF2-40B4-BE49-F238E27FC236}">
                <a16:creationId xmlns:a16="http://schemas.microsoft.com/office/drawing/2014/main" id="{09B3BD9E-F7AB-6D3E-B000-E68C16026097}"/>
              </a:ext>
            </a:extLst>
          </p:cNvPr>
          <p:cNvSpPr txBox="1"/>
          <p:nvPr/>
        </p:nvSpPr>
        <p:spPr>
          <a:xfrm>
            <a:off x="9844883" y="6506198"/>
            <a:ext cx="2146998" cy="369332"/>
          </a:xfrm>
          <a:prstGeom prst="rect">
            <a:avLst/>
          </a:prstGeom>
          <a:noFill/>
        </p:spPr>
        <p:txBody>
          <a:bodyPr wrap="none" rtlCol="0">
            <a:spAutoFit/>
          </a:bodyPr>
          <a:lstStyle/>
          <a:p>
            <a:r>
              <a:rPr lang="en-US" dirty="0"/>
              <a:t>2. Type of Processing</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2 / 2</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3 / 3</a:t>
            </a:r>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2 / 2</a:t>
            </a:r>
          </a:p>
        </p:txBody>
      </p:sp>
    </p:spTree>
    <p:extLst>
      <p:ext uri="{BB962C8B-B14F-4D97-AF65-F5344CB8AC3E}">
        <p14:creationId xmlns:p14="http://schemas.microsoft.com/office/powerpoint/2010/main" val="22268082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r>
              <a:rPr lang="en-US" dirty="0"/>
              <a:t>Modality</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838200" y="1825625"/>
            <a:ext cx="10515600" cy="4351338"/>
          </a:xfrm>
        </p:spPr>
        <p:txBody>
          <a:bodyPr>
            <a:normAutofit/>
          </a:bodyPr>
          <a:lstStyle/>
          <a:p>
            <a:r>
              <a:rPr lang="en-US" dirty="0"/>
              <a:t>Textual</a:t>
            </a:r>
          </a:p>
          <a:p>
            <a:pPr lvl="1"/>
            <a:r>
              <a:rPr lang="en-US" dirty="0"/>
              <a:t>Processing and generating text-based information</a:t>
            </a:r>
          </a:p>
        </p:txBody>
      </p:sp>
      <p:sp>
        <p:nvSpPr>
          <p:cNvPr id="5" name="TextBox 4">
            <a:extLst>
              <a:ext uri="{FF2B5EF4-FFF2-40B4-BE49-F238E27FC236}">
                <a16:creationId xmlns:a16="http://schemas.microsoft.com/office/drawing/2014/main" id="{F07AB50D-0BCE-05B8-256E-A1201E2FC65A}"/>
              </a:ext>
            </a:extLst>
          </p:cNvPr>
          <p:cNvSpPr txBox="1"/>
          <p:nvPr/>
        </p:nvSpPr>
        <p:spPr>
          <a:xfrm>
            <a:off x="11683527" y="6488668"/>
            <a:ext cx="508473" cy="369332"/>
          </a:xfrm>
          <a:prstGeom prst="rect">
            <a:avLst/>
          </a:prstGeom>
          <a:noFill/>
        </p:spPr>
        <p:txBody>
          <a:bodyPr wrap="none" rtlCol="0">
            <a:spAutoFit/>
          </a:bodyPr>
          <a:lstStyle/>
          <a:p>
            <a:r>
              <a:rPr lang="en-US" dirty="0"/>
              <a:t>3/8</a:t>
            </a:r>
          </a:p>
        </p:txBody>
      </p:sp>
    </p:spTree>
    <p:extLst>
      <p:ext uri="{BB962C8B-B14F-4D97-AF65-F5344CB8AC3E}">
        <p14:creationId xmlns:p14="http://schemas.microsoft.com/office/powerpoint/2010/main" val="34156675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Textual</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2898" y="1690688"/>
            <a:ext cx="11577729" cy="4570430"/>
          </a:xfrm>
        </p:spPr>
        <p:txBody>
          <a:bodyPr>
            <a:normAutofit lnSpcReduction="10000"/>
          </a:bodyPr>
          <a:lstStyle/>
          <a:p>
            <a:r>
              <a:rPr lang="en-US" sz="1900" dirty="0"/>
              <a:t>Processing and generating text-based information</a:t>
            </a:r>
            <a:endParaRPr lang="en-US" sz="800" dirty="0"/>
          </a:p>
          <a:p>
            <a:pPr lvl="1"/>
            <a:r>
              <a:rPr lang="en-US" sz="1200" b="0" i="0" u="none" strike="noStrike" dirty="0">
                <a:effectLst/>
                <a:latin typeface="Roboto" panose="02000000000000000000" pitchFamily="2" charset="0"/>
              </a:rPr>
              <a:t>[1] During World War II, platoons played a crucial role in the military operations of various nations. [2] A platoon is a small unit consisting of approximately 30 to 40 soldiers, led by a lieutenant or a sergeant. [3] These units were an essential component of the larger military structure and were deployed across different theaters of war.</a:t>
            </a:r>
            <a:br>
              <a:rPr lang="en-US" sz="1200" dirty="0"/>
            </a:br>
            <a:br>
              <a:rPr lang="en-US" sz="1200" dirty="0"/>
            </a:br>
            <a:r>
              <a:rPr lang="en-US" sz="1200" dirty="0"/>
              <a:t>[4] </a:t>
            </a:r>
            <a:r>
              <a:rPr lang="en-US" sz="1200" b="0" i="0" u="none" strike="noStrike" dirty="0">
                <a:effectLst/>
                <a:latin typeface="Roboto" panose="02000000000000000000" pitchFamily="2" charset="0"/>
              </a:rPr>
              <a:t>Platoons were utilized extensively in WWII for their versatility and effectiveness in combat. [5] They were employed in various roles, including infantry, artillery, and armored units. [6] In the infantry, platoons formed the backbone of ground forces, engaging in close-quarters combat and executing tactical maneuvers.</a:t>
            </a:r>
            <a:br>
              <a:rPr lang="en-US" sz="1200" dirty="0"/>
            </a:br>
            <a:br>
              <a:rPr lang="en-US" sz="1200" dirty="0"/>
            </a:br>
            <a:r>
              <a:rPr lang="en-US" sz="1200" dirty="0"/>
              <a:t>[7] </a:t>
            </a:r>
            <a:r>
              <a:rPr lang="en-US" sz="1200" b="0" i="0" u="none" strike="noStrike" dirty="0">
                <a:effectLst/>
                <a:latin typeface="Roboto" panose="02000000000000000000" pitchFamily="2" charset="0"/>
              </a:rPr>
              <a:t>Platoons were often tasked with specific objectives, such as capturing enemy positions, defending key locations, or conducting reconnaissance missions. [8] They operated in coordination with other platoons and larger units, forming a cohesive force on the battlefield.</a:t>
            </a:r>
            <a:br>
              <a:rPr lang="en-US" sz="1200" dirty="0"/>
            </a:br>
            <a:br>
              <a:rPr lang="en-US" sz="1200" dirty="0"/>
            </a:br>
            <a:r>
              <a:rPr lang="en-US" sz="1200" dirty="0"/>
              <a:t>[9] </a:t>
            </a:r>
            <a:r>
              <a:rPr lang="en-US" sz="1200" b="0" i="0" u="none" strike="noStrike" dirty="0">
                <a:effectLst/>
                <a:latin typeface="Roboto" panose="02000000000000000000" pitchFamily="2" charset="0"/>
              </a:rPr>
              <a:t>The soldiers within a platoon developed strong bonds and camaraderie, relying on each other for support and survival. [10] They underwent rigorous training to enhance their combat skills, endurance, and teamwork, preparing them for the challenges they would face in the war.</a:t>
            </a:r>
            <a:br>
              <a:rPr lang="en-US" sz="1200" dirty="0"/>
            </a:br>
            <a:br>
              <a:rPr lang="en-US" sz="1200" dirty="0"/>
            </a:br>
            <a:r>
              <a:rPr lang="en-US" sz="1200" dirty="0"/>
              <a:t>[11] </a:t>
            </a:r>
            <a:r>
              <a:rPr lang="en-US" sz="1200" b="0" i="0" u="none" strike="noStrike" dirty="0">
                <a:effectLst/>
                <a:latin typeface="Roboto" panose="02000000000000000000" pitchFamily="2" charset="0"/>
              </a:rPr>
              <a:t>Platoons faced immense dangers and hardships during WWII. [12] They endured harsh weather conditions, limited resources, and constant enemy fire. [13] Despite these challenges, platoons displayed remarkable courage and resilience, often achieving remarkable feats in the face of adversity.</a:t>
            </a:r>
            <a:br>
              <a:rPr lang="en-US" sz="1200" dirty="0"/>
            </a:br>
            <a:br>
              <a:rPr lang="en-US" sz="1200" dirty="0"/>
            </a:br>
            <a:r>
              <a:rPr lang="en-US" sz="1200" dirty="0"/>
              <a:t>[14] </a:t>
            </a:r>
            <a:r>
              <a:rPr lang="en-US" sz="1200" b="0" i="0" u="none" strike="noStrike" dirty="0">
                <a:effectLst/>
                <a:latin typeface="Roboto" panose="02000000000000000000" pitchFamily="2" charset="0"/>
              </a:rPr>
              <a:t>The success of platoons relied heavily on effective leadership. [15] Officers and non-commissioned officers played a critical role in guiding and motivating their soldiers. [16] They made crucial decisions on the battlefield, adapting to changing circumstances and ensuring the platoon's objectives were met.</a:t>
            </a:r>
            <a:br>
              <a:rPr lang="en-US" sz="1200" dirty="0"/>
            </a:br>
            <a:br>
              <a:rPr lang="en-US" sz="1200" dirty="0"/>
            </a:br>
            <a:r>
              <a:rPr lang="en-US" sz="1200" dirty="0"/>
              <a:t>[17] </a:t>
            </a:r>
            <a:r>
              <a:rPr lang="en-US" sz="1200" b="0" i="0" u="none" strike="noStrike" dirty="0">
                <a:effectLst/>
                <a:latin typeface="Roboto" panose="02000000000000000000" pitchFamily="2" charset="0"/>
              </a:rPr>
              <a:t>Platoons were involved in major WWII battles, such as the D-Day landings, the Battle of Stalingrad, and the Pacific island campaigns. [18] Their contributions were instrumental in turning the tide of war and securing victories for their respective nations.</a:t>
            </a:r>
            <a:br>
              <a:rPr lang="en-US" sz="1200" dirty="0"/>
            </a:br>
            <a:br>
              <a:rPr lang="en-US" sz="1200" dirty="0"/>
            </a:br>
            <a:r>
              <a:rPr lang="en-US" sz="1200" dirty="0"/>
              <a:t>[19] </a:t>
            </a:r>
            <a:r>
              <a:rPr lang="en-US" sz="1200" b="0" i="0" u="none" strike="noStrike" dirty="0">
                <a:effectLst/>
                <a:latin typeface="Roboto" panose="02000000000000000000" pitchFamily="2" charset="0"/>
              </a:rPr>
              <a:t>After the war, the experiences and lessons learned from platoons in WWII influenced military tactics and strategies. [20] The importance of small, agile units working together as a cohesive force became a cornerstone of modern warfare.</a:t>
            </a:r>
            <a:br>
              <a:rPr lang="en-US" sz="1200" dirty="0"/>
            </a:br>
            <a:br>
              <a:rPr lang="en-US" sz="1200" dirty="0"/>
            </a:br>
            <a:r>
              <a:rPr lang="en-US" sz="1200" dirty="0"/>
              <a:t>[21] </a:t>
            </a:r>
            <a:r>
              <a:rPr lang="en-US" sz="1200" b="0" i="0" u="none" strike="noStrike" dirty="0">
                <a:effectLst/>
                <a:latin typeface="Roboto" panose="02000000000000000000" pitchFamily="2" charset="0"/>
              </a:rPr>
              <a:t>In conclusion, platoons in WWII were vital components of military operations, demonstrating bravery, skill, and resilience. [22] Their contributions played a significant role in shaping the outcome of the war and continue to influence military practices to this day.</a:t>
            </a:r>
            <a:endParaRPr lang="en-US" sz="1500" dirty="0"/>
          </a:p>
          <a:p>
            <a:pPr marL="800100" lvl="1" indent="-342900">
              <a:buFont typeface="+mj-lt"/>
              <a:buAutoNum type="arabicPeriod"/>
            </a:pPr>
            <a:endParaRPr lang="en-US" sz="1500" dirty="0"/>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2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1</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0 / 3</a:t>
            </a:r>
          </a:p>
        </p:txBody>
      </p:sp>
      <p:sp>
        <p:nvSpPr>
          <p:cNvPr id="6" name="TextBox 5">
            <a:extLst>
              <a:ext uri="{FF2B5EF4-FFF2-40B4-BE49-F238E27FC236}">
                <a16:creationId xmlns:a16="http://schemas.microsoft.com/office/drawing/2014/main" id="{64A80497-E7B9-41E3-EB07-813D4D015018}"/>
              </a:ext>
            </a:extLst>
          </p:cNvPr>
          <p:cNvSpPr txBox="1"/>
          <p:nvPr/>
        </p:nvSpPr>
        <p:spPr>
          <a:xfrm>
            <a:off x="10045002" y="6488668"/>
            <a:ext cx="2146998" cy="369332"/>
          </a:xfrm>
          <a:prstGeom prst="rect">
            <a:avLst/>
          </a:prstGeom>
          <a:noFill/>
        </p:spPr>
        <p:txBody>
          <a:bodyPr wrap="none" rtlCol="0">
            <a:spAutoFit/>
          </a:bodyPr>
          <a:lstStyle/>
          <a:p>
            <a:r>
              <a:rPr lang="en-US" dirty="0"/>
              <a:t>2. Type of Processing</a:t>
            </a:r>
          </a:p>
        </p:txBody>
      </p:sp>
      <p:sp>
        <p:nvSpPr>
          <p:cNvPr id="4" name="TextBox 3">
            <a:extLst>
              <a:ext uri="{FF2B5EF4-FFF2-40B4-BE49-F238E27FC236}">
                <a16:creationId xmlns:a16="http://schemas.microsoft.com/office/drawing/2014/main" id="{A6E38DFA-5A26-09D1-7597-71CFD0763A47}"/>
              </a:ext>
            </a:extLst>
          </p:cNvPr>
          <p:cNvSpPr txBox="1"/>
          <p:nvPr/>
        </p:nvSpPr>
        <p:spPr>
          <a:xfrm>
            <a:off x="1204332" y="6634976"/>
            <a:ext cx="7424277" cy="276999"/>
          </a:xfrm>
          <a:prstGeom prst="rect">
            <a:avLst/>
          </a:prstGeom>
          <a:noFill/>
        </p:spPr>
        <p:txBody>
          <a:bodyPr wrap="none" rtlCol="0">
            <a:spAutoFit/>
          </a:bodyPr>
          <a:lstStyle/>
          <a:p>
            <a:r>
              <a:rPr lang="en-US" sz="1200" dirty="0"/>
              <a:t>Drawn from: https://</a:t>
            </a:r>
            <a:r>
              <a:rPr lang="en-US" sz="1200" dirty="0" err="1"/>
              <a:t>www.lsac.org</a:t>
            </a:r>
            <a:r>
              <a:rPr lang="en-US" sz="1200" dirty="0"/>
              <a:t>/</a:t>
            </a:r>
            <a:r>
              <a:rPr lang="en-US" sz="1200" dirty="0" err="1"/>
              <a:t>lsat</a:t>
            </a:r>
            <a:r>
              <a:rPr lang="en-US" sz="1200" dirty="0"/>
              <a:t>/taking-</a:t>
            </a:r>
            <a:r>
              <a:rPr lang="en-US" sz="1200" dirty="0" err="1"/>
              <a:t>lsat</a:t>
            </a:r>
            <a:r>
              <a:rPr lang="en-US" sz="1200" dirty="0"/>
              <a:t>/test-format/logical-reasoning/logical-reasoning-sample-questions</a:t>
            </a:r>
          </a:p>
        </p:txBody>
      </p:sp>
    </p:spTree>
    <p:extLst>
      <p:ext uri="{BB962C8B-B14F-4D97-AF65-F5344CB8AC3E}">
        <p14:creationId xmlns:p14="http://schemas.microsoft.com/office/powerpoint/2010/main" val="26057337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Textual</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46284" y="1690688"/>
            <a:ext cx="11099432" cy="4570430"/>
          </a:xfrm>
        </p:spPr>
        <p:txBody>
          <a:bodyPr>
            <a:normAutofit fontScale="62500" lnSpcReduction="20000"/>
          </a:bodyPr>
          <a:lstStyle/>
          <a:p>
            <a:r>
              <a:rPr lang="en-US" dirty="0"/>
              <a:t>Processing and generating text-based information</a:t>
            </a:r>
          </a:p>
          <a:p>
            <a:pPr lvl="1"/>
            <a:r>
              <a:rPr lang="en-US" dirty="0"/>
              <a:t>Basic: </a:t>
            </a:r>
            <a:r>
              <a:rPr lang="en-US" i="1" dirty="0"/>
              <a:t>Knowledge</a:t>
            </a:r>
            <a:endParaRPr lang="en-US" dirty="0"/>
          </a:p>
          <a:p>
            <a:pPr lvl="2"/>
            <a:r>
              <a:rPr lang="en-US" dirty="0"/>
              <a:t>(SR) A typical platoon would contain 41 soldiers. Return the “less than” sign if typically less, the “greater than” sign if typically more. </a:t>
            </a:r>
          </a:p>
          <a:p>
            <a:pPr lvl="2"/>
            <a:r>
              <a:rPr lang="en-US" dirty="0"/>
              <a:t>(SR) Write the first word of the first sentence and the last word of the last sentence in this passage. </a:t>
            </a:r>
            <a:r>
              <a:rPr lang="en-US" dirty="0">
                <a:solidFill>
                  <a:srgbClr val="FF0000"/>
                </a:solidFill>
              </a:rPr>
              <a:t>During, day</a:t>
            </a:r>
          </a:p>
          <a:p>
            <a:pPr lvl="2"/>
            <a:r>
              <a:rPr lang="en-US" dirty="0"/>
              <a:t>(SR) List the two verbs in sentence [8]. </a:t>
            </a:r>
            <a:r>
              <a:rPr lang="en-US" dirty="0">
                <a:solidFill>
                  <a:srgbClr val="FF0000"/>
                </a:solidFill>
              </a:rPr>
              <a:t>Operated, forming</a:t>
            </a:r>
          </a:p>
          <a:p>
            <a:pPr lvl="2"/>
            <a:r>
              <a:rPr lang="en-US" dirty="0"/>
              <a:t>(SR) List the two adjectives describing the “units” in sentence [20]. </a:t>
            </a:r>
            <a:r>
              <a:rPr lang="en-US" dirty="0">
                <a:solidFill>
                  <a:srgbClr val="FF0000"/>
                </a:solidFill>
              </a:rPr>
              <a:t>Small, agile</a:t>
            </a:r>
          </a:p>
          <a:p>
            <a:pPr lvl="2"/>
            <a:r>
              <a:rPr lang="en-US" dirty="0"/>
              <a:t>(SR) List the abbreviation used for “World War II” used in this passage. </a:t>
            </a:r>
            <a:r>
              <a:rPr lang="en-US" dirty="0">
                <a:solidFill>
                  <a:srgbClr val="FF0000"/>
                </a:solidFill>
              </a:rPr>
              <a:t>WWII</a:t>
            </a:r>
          </a:p>
          <a:p>
            <a:pPr marL="742950" lvl="1" indent="-285750">
              <a:buFont typeface="Arial" panose="020B0604020202020204" pitchFamily="34" charset="0"/>
              <a:buChar char="•"/>
            </a:pPr>
            <a:r>
              <a:rPr lang="en-US" sz="2400" dirty="0"/>
              <a:t>Intermediate: </a:t>
            </a:r>
            <a:r>
              <a:rPr lang="en-US" sz="2400" i="1" dirty="0"/>
              <a:t>Comprehension</a:t>
            </a:r>
            <a:endParaRPr lang="en-US" sz="2400" dirty="0"/>
          </a:p>
          <a:p>
            <a:pPr marL="1200150" lvl="2" indent="-285750"/>
            <a:r>
              <a:rPr lang="en-US" sz="2000" dirty="0"/>
              <a:t>(</a:t>
            </a:r>
            <a:r>
              <a:rPr lang="en-US" dirty="0"/>
              <a:t>CZ</a:t>
            </a:r>
            <a:r>
              <a:rPr lang="en-US" sz="2000" dirty="0"/>
              <a:t>) From sentence [10]: Platoons relied on </a:t>
            </a:r>
            <a:r>
              <a:rPr lang="en-US" sz="2000" u="sng" dirty="0">
                <a:solidFill>
                  <a:srgbClr val="FF0000"/>
                </a:solidFill>
              </a:rPr>
              <a:t>training</a:t>
            </a:r>
            <a:r>
              <a:rPr lang="en-US" sz="2000" dirty="0">
                <a:solidFill>
                  <a:srgbClr val="FF0000"/>
                </a:solidFill>
              </a:rPr>
              <a:t> </a:t>
            </a:r>
            <a:r>
              <a:rPr lang="en-US" sz="2000" dirty="0"/>
              <a:t>to enhance their combat skills during the war.</a:t>
            </a:r>
          </a:p>
          <a:p>
            <a:pPr marL="1200150" lvl="2" indent="-285750">
              <a:buFont typeface="Arial" panose="020B0604020202020204" pitchFamily="34" charset="0"/>
              <a:buChar char="•"/>
            </a:pPr>
            <a:r>
              <a:rPr lang="en-US" sz="2000" dirty="0"/>
              <a:t>(</a:t>
            </a:r>
            <a:r>
              <a:rPr lang="en-US" dirty="0"/>
              <a:t>CZ</a:t>
            </a:r>
            <a:r>
              <a:rPr lang="en-US" sz="2000" dirty="0"/>
              <a:t>) </a:t>
            </a:r>
            <a:r>
              <a:rPr lang="en-US" dirty="0"/>
              <a:t>Led by a lieutenant or sergeant, platoons comprised of </a:t>
            </a:r>
            <a:r>
              <a:rPr lang="en-US" u="sng" dirty="0">
                <a:solidFill>
                  <a:srgbClr val="FF0000"/>
                </a:solidFill>
              </a:rPr>
              <a:t>30</a:t>
            </a:r>
            <a:r>
              <a:rPr lang="en-US" dirty="0"/>
              <a:t> to </a:t>
            </a:r>
            <a:r>
              <a:rPr lang="en-US" u="sng" dirty="0">
                <a:solidFill>
                  <a:srgbClr val="FF0000"/>
                </a:solidFill>
              </a:rPr>
              <a:t>40 </a:t>
            </a:r>
            <a:r>
              <a:rPr lang="en-US" dirty="0"/>
              <a:t>soldiers.</a:t>
            </a:r>
            <a:endParaRPr lang="en-US" sz="2000" dirty="0"/>
          </a:p>
          <a:p>
            <a:pPr marL="1200150" lvl="2" indent="-285750"/>
            <a:r>
              <a:rPr lang="en-US" dirty="0"/>
              <a:t>(CZ) From sentence [5]: Platoon assumed various roles, including </a:t>
            </a:r>
            <a:r>
              <a:rPr lang="en-US" sz="2000" b="0" i="0" u="sng" strike="noStrike" dirty="0">
                <a:solidFill>
                  <a:srgbClr val="FF0000"/>
                </a:solidFill>
                <a:effectLst/>
                <a:latin typeface="Roboto" panose="02000000000000000000" pitchFamily="2" charset="0"/>
              </a:rPr>
              <a:t>infantry, artillery</a:t>
            </a:r>
            <a:r>
              <a:rPr lang="en-US" sz="2000" b="0" i="0" u="none" strike="noStrike" dirty="0">
                <a:effectLst/>
                <a:latin typeface="Roboto" panose="02000000000000000000" pitchFamily="2" charset="0"/>
              </a:rPr>
              <a:t>, and </a:t>
            </a:r>
            <a:r>
              <a:rPr lang="en-US" sz="2000" b="0" i="0" u="sng" strike="noStrike" dirty="0">
                <a:solidFill>
                  <a:srgbClr val="FF0000"/>
                </a:solidFill>
                <a:effectLst/>
                <a:latin typeface="Roboto" panose="02000000000000000000" pitchFamily="2" charset="0"/>
              </a:rPr>
              <a:t>armored units</a:t>
            </a:r>
            <a:r>
              <a:rPr lang="en-US" sz="2000" b="0" i="0" u="none" strike="noStrike" dirty="0">
                <a:effectLst/>
                <a:latin typeface="Roboto" panose="02000000000000000000" pitchFamily="2" charset="0"/>
              </a:rPr>
              <a:t>.</a:t>
            </a:r>
            <a:endParaRPr lang="en-US" dirty="0"/>
          </a:p>
          <a:p>
            <a:pPr marL="1200150" lvl="2" indent="-285750">
              <a:buFont typeface="Arial" panose="020B0604020202020204" pitchFamily="34" charset="0"/>
              <a:buChar char="•"/>
            </a:pPr>
            <a:r>
              <a:rPr lang="en-US" dirty="0"/>
              <a:t>(MC) According to sentence [4], which words correctly completes this thought? Select all that apply. Platoons were ____ and _____ in combat. (a) </a:t>
            </a:r>
            <a:r>
              <a:rPr lang="en-US" dirty="0">
                <a:solidFill>
                  <a:srgbClr val="FF0000"/>
                </a:solidFill>
              </a:rPr>
              <a:t>effective</a:t>
            </a:r>
            <a:r>
              <a:rPr lang="en-US" dirty="0"/>
              <a:t> (b) </a:t>
            </a:r>
            <a:r>
              <a:rPr lang="en-US" dirty="0">
                <a:solidFill>
                  <a:srgbClr val="FF0000"/>
                </a:solidFill>
              </a:rPr>
              <a:t>versatile</a:t>
            </a:r>
            <a:r>
              <a:rPr lang="en-US" dirty="0"/>
              <a:t> ( c ) exhausted (d) armed</a:t>
            </a:r>
          </a:p>
          <a:p>
            <a:pPr marL="1200150" lvl="2" indent="-285750"/>
            <a:r>
              <a:rPr lang="en-US" sz="2000" dirty="0"/>
              <a:t>(</a:t>
            </a:r>
            <a:r>
              <a:rPr lang="en-US" dirty="0"/>
              <a:t>T/F</a:t>
            </a:r>
            <a:r>
              <a:rPr lang="en-US" sz="2000" dirty="0"/>
              <a:t>) </a:t>
            </a:r>
            <a:r>
              <a:rPr lang="en-US" dirty="0"/>
              <a:t>Platoons were inconsequential in the outcome of WWII. Write “yes” for true and “no” for false.</a:t>
            </a:r>
            <a:endParaRPr lang="en-US" dirty="0">
              <a:solidFill>
                <a:srgbClr val="FF0000"/>
              </a:solidFill>
            </a:endParaRPr>
          </a:p>
          <a:p>
            <a:pPr marL="742950" lvl="1" indent="-285750">
              <a:buFont typeface="Arial" panose="020B0604020202020204" pitchFamily="34" charset="0"/>
              <a:buChar char="•"/>
            </a:pPr>
            <a:r>
              <a:rPr lang="en-US" sz="2400" dirty="0"/>
              <a:t>Advanced: </a:t>
            </a:r>
            <a:r>
              <a:rPr lang="en-US" sz="2400" i="1" dirty="0"/>
              <a:t>Application</a:t>
            </a:r>
            <a:endParaRPr lang="en-US" dirty="0"/>
          </a:p>
          <a:p>
            <a:pPr marL="1200150" lvl="2" indent="-285750"/>
            <a:r>
              <a:rPr lang="en-US" sz="2000" dirty="0"/>
              <a:t>(MA) Match the following challenges faced by platoons with their descriptions: (a) Harsh weather conditions (b) Limited resources (c) Constant enemy fire (</a:t>
            </a:r>
            <a:r>
              <a:rPr lang="en-US" sz="2000" dirty="0" err="1"/>
              <a:t>i</a:t>
            </a:r>
            <a:r>
              <a:rPr lang="en-US" sz="2000" dirty="0"/>
              <a:t>) Lack of ammunition and supplies (ii) Extreme temperatures and terrain (iii) Continuous threat from opposing forces</a:t>
            </a:r>
          </a:p>
          <a:p>
            <a:pPr marL="1200150" lvl="2" indent="-285750"/>
            <a:r>
              <a:rPr lang="en-US" dirty="0"/>
              <a:t>(MC) Summarize the responsibilities of platoons listed in sentence [7] in three key words: </a:t>
            </a:r>
            <a:r>
              <a:rPr lang="en-US" dirty="0">
                <a:solidFill>
                  <a:srgbClr val="FF0000"/>
                </a:solidFill>
              </a:rPr>
              <a:t>capture, defense, reconnaissance</a:t>
            </a:r>
            <a:endParaRPr lang="en-US" sz="2000" dirty="0">
              <a:solidFill>
                <a:srgbClr val="FF0000"/>
              </a:solidFill>
            </a:endParaRPr>
          </a:p>
          <a:p>
            <a:pPr marL="1200150" lvl="2" indent="-285750"/>
            <a:r>
              <a:rPr lang="en-US" dirty="0"/>
              <a:t>(SR) Write the word that occurs the most frequently in this passage. </a:t>
            </a:r>
          </a:p>
          <a:p>
            <a:pPr marL="1200150" lvl="2" indent="-285750"/>
            <a:r>
              <a:rPr lang="en-US" sz="2000" dirty="0"/>
              <a:t>(MC) </a:t>
            </a:r>
            <a:r>
              <a:rPr lang="en-US" dirty="0"/>
              <a:t>Write the word that is the subject of this passage. </a:t>
            </a:r>
          </a:p>
          <a:p>
            <a:pPr marL="1200150" lvl="2" indent="-285750"/>
            <a:r>
              <a:rPr lang="en-US" sz="2000" dirty="0"/>
              <a:t>(MC) </a:t>
            </a:r>
            <a:r>
              <a:rPr lang="en-US" dirty="0"/>
              <a:t>According to the passage, which word correctly completes this thought? Select all that apply: During WWII, platoons experienced their share of ___.  (a) </a:t>
            </a:r>
            <a:r>
              <a:rPr lang="en-US" dirty="0">
                <a:solidFill>
                  <a:srgbClr val="FF0000"/>
                </a:solidFill>
              </a:rPr>
              <a:t>challenges</a:t>
            </a:r>
            <a:r>
              <a:rPr lang="en-US" dirty="0"/>
              <a:t> (b) </a:t>
            </a:r>
            <a:r>
              <a:rPr lang="en-US" dirty="0">
                <a:solidFill>
                  <a:srgbClr val="FF0000"/>
                </a:solidFill>
              </a:rPr>
              <a:t>lessons</a:t>
            </a:r>
            <a:r>
              <a:rPr lang="en-US" dirty="0"/>
              <a:t> ( c ) foods (d) </a:t>
            </a:r>
            <a:r>
              <a:rPr lang="en-US" dirty="0">
                <a:solidFill>
                  <a:srgbClr val="FF0000"/>
                </a:solidFill>
              </a:rPr>
              <a:t>victories</a:t>
            </a:r>
            <a:endParaRPr lang="en-US" sz="2000" dirty="0"/>
          </a:p>
        </p:txBody>
      </p:sp>
      <p:sp>
        <p:nvSpPr>
          <p:cNvPr id="4" name="TextBox 3">
            <a:extLst>
              <a:ext uri="{FF2B5EF4-FFF2-40B4-BE49-F238E27FC236}">
                <a16:creationId xmlns:a16="http://schemas.microsoft.com/office/drawing/2014/main" id="{09B3BD9E-F7AB-6D3E-B000-E68C16026097}"/>
              </a:ext>
            </a:extLst>
          </p:cNvPr>
          <p:cNvSpPr txBox="1"/>
          <p:nvPr/>
        </p:nvSpPr>
        <p:spPr>
          <a:xfrm>
            <a:off x="10941337" y="6488668"/>
            <a:ext cx="1250663" cy="369332"/>
          </a:xfrm>
          <a:prstGeom prst="rect">
            <a:avLst/>
          </a:prstGeom>
          <a:noFill/>
        </p:spPr>
        <p:txBody>
          <a:bodyPr wrap="none" rtlCol="0">
            <a:spAutoFit/>
          </a:bodyPr>
          <a:lstStyle/>
          <a:p>
            <a:r>
              <a:rPr lang="en-US" dirty="0"/>
              <a:t>3. Modality</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1</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1</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1 / 2</a:t>
            </a:r>
          </a:p>
        </p:txBody>
      </p:sp>
    </p:spTree>
    <p:extLst>
      <p:ext uri="{BB962C8B-B14F-4D97-AF65-F5344CB8AC3E}">
        <p14:creationId xmlns:p14="http://schemas.microsoft.com/office/powerpoint/2010/main" val="42770791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Textual</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11008364" cy="4570430"/>
          </a:xfrm>
        </p:spPr>
        <p:txBody>
          <a:bodyPr>
            <a:normAutofit fontScale="62500" lnSpcReduction="20000"/>
          </a:bodyPr>
          <a:lstStyle/>
          <a:p>
            <a:r>
              <a:rPr lang="en-US" sz="2400" dirty="0"/>
              <a:t>Processing and generating text-based information</a:t>
            </a:r>
          </a:p>
          <a:p>
            <a:pPr lvl="1"/>
            <a:r>
              <a:rPr lang="en-US" sz="2000" dirty="0"/>
              <a:t>Expert: </a:t>
            </a:r>
            <a:r>
              <a:rPr lang="en-US" sz="2000" i="1" dirty="0"/>
              <a:t>Analysis/Synthesis</a:t>
            </a:r>
            <a:endParaRPr lang="en-US" sz="2000" dirty="0"/>
          </a:p>
          <a:p>
            <a:pPr lvl="2"/>
            <a:r>
              <a:rPr lang="en-US" sz="1700" dirty="0"/>
              <a:t>(SR) Please summarize sentences [11-13] in one word: </a:t>
            </a:r>
            <a:r>
              <a:rPr lang="en-US" sz="1700" dirty="0">
                <a:solidFill>
                  <a:srgbClr val="FF0000"/>
                </a:solidFill>
              </a:rPr>
              <a:t>resilience </a:t>
            </a:r>
          </a:p>
          <a:p>
            <a:pPr marL="1200150" lvl="2" indent="-285750"/>
            <a:r>
              <a:rPr lang="en-US" sz="1700" dirty="0"/>
              <a:t>(SR/ER) Based on the passage provided, provide single-worded impacts that platoons had on the outcome of the war.</a:t>
            </a:r>
          </a:p>
          <a:p>
            <a:pPr marL="1200150" lvl="2" indent="-285750"/>
            <a:r>
              <a:rPr lang="en-US" sz="1700" dirty="0"/>
              <a:t>(ER) Write a Python function called "</a:t>
            </a:r>
            <a:r>
              <a:rPr lang="en-US" sz="1700" dirty="0" err="1"/>
              <a:t>calculate_average_soldiers</a:t>
            </a:r>
            <a:r>
              <a:rPr lang="en-US" sz="1700" dirty="0"/>
              <a:t>" that takes in a list of integers representing the number of soldiers in each platoon. The function should calculate and return the average number of soldiers across all platoons. Use the following steps as a guide:</a:t>
            </a:r>
            <a:br>
              <a:rPr lang="en-US" sz="1700" dirty="0"/>
            </a:br>
            <a:br>
              <a:rPr lang="en-US" sz="1700" dirty="0"/>
            </a:br>
            <a:r>
              <a:rPr lang="en-US" sz="1700" dirty="0"/>
              <a:t>1. Define the function "</a:t>
            </a:r>
            <a:r>
              <a:rPr lang="en-US" sz="1700" dirty="0" err="1"/>
              <a:t>calculate_average_soldiers</a:t>
            </a:r>
            <a:r>
              <a:rPr lang="en-US" sz="1700" dirty="0"/>
              <a:t>" with a parameter "platoons".</a:t>
            </a:r>
            <a:br>
              <a:rPr lang="en-US" sz="1700" dirty="0"/>
            </a:br>
            <a:r>
              <a:rPr lang="en-US" sz="1700" dirty="0"/>
              <a:t>2. Initialize a variable "</a:t>
            </a:r>
            <a:r>
              <a:rPr lang="en-US" sz="1700" dirty="0" err="1"/>
              <a:t>total_soldiers</a:t>
            </a:r>
            <a:r>
              <a:rPr lang="en-US" sz="1700" dirty="0"/>
              <a:t>" to 0 to keep track of the sum of soldiers.</a:t>
            </a:r>
            <a:br>
              <a:rPr lang="en-US" sz="1700" dirty="0"/>
            </a:br>
            <a:r>
              <a:rPr lang="en-US" sz="1700" dirty="0"/>
              <a:t>3. Use a for loop to iterate over each element in the "platoons" list.</a:t>
            </a:r>
            <a:br>
              <a:rPr lang="en-US" sz="1700" dirty="0"/>
            </a:br>
            <a:r>
              <a:rPr lang="en-US" sz="1700" dirty="0"/>
              <a:t>4. Inside the loop, add the current element to the "</a:t>
            </a:r>
            <a:r>
              <a:rPr lang="en-US" sz="1700" dirty="0" err="1"/>
              <a:t>total_soldiers</a:t>
            </a:r>
            <a:r>
              <a:rPr lang="en-US" sz="1700" dirty="0"/>
              <a:t>" variable.</a:t>
            </a:r>
            <a:br>
              <a:rPr lang="en-US" sz="1700" dirty="0"/>
            </a:br>
            <a:r>
              <a:rPr lang="en-US" sz="1700" dirty="0"/>
              <a:t>5. After the loop, calculate the average number of soldiers by dividing the "</a:t>
            </a:r>
            <a:r>
              <a:rPr lang="en-US" sz="1700" dirty="0" err="1"/>
              <a:t>total_soldiers</a:t>
            </a:r>
            <a:r>
              <a:rPr lang="en-US" sz="1700" dirty="0"/>
              <a:t>" by the length of the "platoons" list.</a:t>
            </a:r>
            <a:br>
              <a:rPr lang="en-US" sz="1700" dirty="0"/>
            </a:br>
            <a:r>
              <a:rPr lang="en-US" sz="1700" dirty="0"/>
              <a:t>6. Return the calculated average.</a:t>
            </a:r>
            <a:br>
              <a:rPr lang="en-US" sz="1700" dirty="0"/>
            </a:br>
            <a:br>
              <a:rPr lang="en-US" sz="1700" dirty="0"/>
            </a:br>
            <a:r>
              <a:rPr lang="en-US" sz="1700" dirty="0"/>
              <a:t>Your code should adhere to proper Python syntax and indentation.</a:t>
            </a:r>
            <a:br>
              <a:rPr lang="en-US" sz="1700" dirty="0"/>
            </a:br>
            <a:br>
              <a:rPr lang="en-US" sz="1700" dirty="0"/>
            </a:br>
            <a:r>
              <a:rPr lang="en-US" sz="1700" dirty="0"/>
              <a:t>Remember to provide the code solution in your response.</a:t>
            </a:r>
            <a:br>
              <a:rPr lang="en-US" sz="1700" dirty="0"/>
            </a:br>
            <a:endParaRPr lang="en-US" sz="1700" dirty="0"/>
          </a:p>
          <a:p>
            <a:pPr marL="1200150" lvl="2" indent="-285750"/>
            <a:r>
              <a:rPr lang="en-US" sz="1700" dirty="0"/>
              <a:t>(SR) Please summarize sentences [14-16] in one word. </a:t>
            </a:r>
            <a:r>
              <a:rPr lang="en-US" sz="1700" dirty="0">
                <a:solidFill>
                  <a:srgbClr val="FF0000"/>
                </a:solidFill>
              </a:rPr>
              <a:t>Leadership</a:t>
            </a:r>
          </a:p>
          <a:p>
            <a:pPr marL="1200150" lvl="2" indent="-285750"/>
            <a:r>
              <a:rPr lang="en-US" sz="1700" dirty="0"/>
              <a:t>(</a:t>
            </a:r>
            <a:r>
              <a:rPr lang="en-US" sz="1700" dirty="0">
                <a:solidFill>
                  <a:srgbClr val="FF0000"/>
                </a:solidFill>
              </a:rPr>
              <a:t>T</a:t>
            </a:r>
            <a:r>
              <a:rPr lang="en-US" sz="1700" dirty="0"/>
              <a:t>/F/SR) The word that occurs the most frequently in this passage is also the subject of the passage. If true, write the word. If false, type “false”. </a:t>
            </a:r>
          </a:p>
          <a:p>
            <a:pPr marL="1200150" lvl="2" indent="-285750"/>
            <a:r>
              <a:rPr lang="en-US" sz="1700" dirty="0"/>
              <a:t>(CZ) Please fill in the blanks with words that preserve the meaning of sentence [19]: After the war, the experiences and lessons learned from platoons in WWII ____________ military tactics and strategies, with small, _______ units working together as a _______ force becoming a _______ of modern warfare.</a:t>
            </a:r>
          </a:p>
          <a:p>
            <a:pPr marL="742950" lvl="1" indent="-285750"/>
            <a:r>
              <a:rPr lang="en-US" sz="2000" dirty="0"/>
              <a:t>Master: </a:t>
            </a:r>
            <a:r>
              <a:rPr lang="en-US" sz="2000" i="1" dirty="0"/>
              <a:t>Synthesis/Evaluation</a:t>
            </a:r>
            <a:endParaRPr lang="en-US" sz="2000" dirty="0"/>
          </a:p>
          <a:p>
            <a:pPr marL="1200150" lvl="2" indent="-285750"/>
            <a:r>
              <a:rPr lang="en-US" sz="1700" dirty="0"/>
              <a:t>(ER) In three sentences, discuss the long-term impact of platoons on military practices and strategies beyond World War II. For each sentence, cite the sentence(s) from the passage that you referenced.</a:t>
            </a:r>
          </a:p>
          <a:p>
            <a:pPr marL="1200150" lvl="2" indent="-285750"/>
            <a:r>
              <a:rPr lang="en-US" sz="1700" dirty="0"/>
              <a:t>(SR) In one word, describe the impact on the war that D-Day had. </a:t>
            </a:r>
            <a:r>
              <a:rPr lang="en-US" sz="1700" dirty="0">
                <a:solidFill>
                  <a:srgbClr val="FF0000"/>
                </a:solidFill>
              </a:rPr>
              <a:t>Pivotal </a:t>
            </a:r>
          </a:p>
          <a:p>
            <a:pPr marL="1200150" lvl="2" indent="-285750"/>
            <a:r>
              <a:rPr lang="en-US" sz="1700" dirty="0"/>
              <a:t>(SR) Referring to sentences [14-16] in the passage, use one word to answer the following question: What qualities were important for effective platoon leadership during the war? </a:t>
            </a:r>
            <a:r>
              <a:rPr lang="en-US" sz="1700" dirty="0">
                <a:solidFill>
                  <a:srgbClr val="FF0000"/>
                </a:solidFill>
              </a:rPr>
              <a:t>guidance</a:t>
            </a:r>
          </a:p>
          <a:p>
            <a:pPr marL="1200150" lvl="2" indent="-285750">
              <a:buFont typeface="Arial" panose="020B0604020202020204" pitchFamily="34" charset="0"/>
              <a:buChar char="•"/>
            </a:pPr>
            <a:r>
              <a:rPr lang="en-US" sz="1700" dirty="0"/>
              <a:t>(SR) Write an appropriate title for the passage in five words or less. Bonus points if it is less than five words. </a:t>
            </a:r>
          </a:p>
          <a:p>
            <a:pPr marL="1200150" lvl="2" indent="-285750"/>
            <a:r>
              <a:rPr lang="en-US" sz="1700" dirty="0"/>
              <a:t>(SR/ER) Based on the passage provided, provide single-worded responses that describe the </a:t>
            </a:r>
            <a:r>
              <a:rPr lang="en-US" sz="1700" i="1" dirty="0"/>
              <a:t>significance </a:t>
            </a:r>
            <a:r>
              <a:rPr lang="en-US" sz="1700" dirty="0"/>
              <a:t>of the impacts that platoons had on the outcome of the war.</a:t>
            </a:r>
          </a:p>
          <a:p>
            <a:pPr marL="1200150" lvl="2" indent="-285750">
              <a:buFont typeface="Arial" panose="020B0604020202020204" pitchFamily="34" charset="0"/>
              <a:buChar char="•"/>
            </a:pPr>
            <a:endParaRPr lang="en-US" sz="1700" dirty="0"/>
          </a:p>
        </p:txBody>
      </p:sp>
      <p:sp>
        <p:nvSpPr>
          <p:cNvPr id="4" name="TextBox 3">
            <a:extLst>
              <a:ext uri="{FF2B5EF4-FFF2-40B4-BE49-F238E27FC236}">
                <a16:creationId xmlns:a16="http://schemas.microsoft.com/office/drawing/2014/main" id="{09B3BD9E-F7AB-6D3E-B000-E68C16026097}"/>
              </a:ext>
            </a:extLst>
          </p:cNvPr>
          <p:cNvSpPr txBox="1"/>
          <p:nvPr/>
        </p:nvSpPr>
        <p:spPr>
          <a:xfrm>
            <a:off x="11005296" y="6498477"/>
            <a:ext cx="1250663" cy="369332"/>
          </a:xfrm>
          <a:prstGeom prst="rect">
            <a:avLst/>
          </a:prstGeom>
          <a:noFill/>
        </p:spPr>
        <p:txBody>
          <a:bodyPr wrap="none" rtlCol="0">
            <a:spAutoFit/>
          </a:bodyPr>
          <a:lstStyle/>
          <a:p>
            <a:r>
              <a:rPr lang="en-US" dirty="0"/>
              <a:t>3. Modality</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1</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3 / 3</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2 / 2</a:t>
            </a:r>
          </a:p>
        </p:txBody>
      </p:sp>
    </p:spTree>
    <p:extLst>
      <p:ext uri="{BB962C8B-B14F-4D97-AF65-F5344CB8AC3E}">
        <p14:creationId xmlns:p14="http://schemas.microsoft.com/office/powerpoint/2010/main" val="34091289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r>
              <a:rPr lang="en-US" dirty="0"/>
              <a:t>Temporal Aspects</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838200" y="1825625"/>
            <a:ext cx="8369808" cy="4351338"/>
          </a:xfrm>
        </p:spPr>
        <p:txBody>
          <a:bodyPr>
            <a:normAutofit/>
          </a:bodyPr>
          <a:lstStyle/>
          <a:p>
            <a:r>
              <a:rPr lang="en-US" dirty="0"/>
              <a:t>Short-term</a:t>
            </a:r>
          </a:p>
          <a:p>
            <a:pPr lvl="1"/>
            <a:r>
              <a:rPr lang="en-US" dirty="0"/>
              <a:t>Quick responses to simple queries</a:t>
            </a:r>
            <a:endParaRPr lang="en-US" dirty="0">
              <a:solidFill>
                <a:srgbClr val="FF0000"/>
              </a:solidFill>
            </a:endParaRPr>
          </a:p>
          <a:p>
            <a:r>
              <a:rPr lang="en-US" dirty="0"/>
              <a:t>Long-term </a:t>
            </a:r>
          </a:p>
          <a:p>
            <a:pPr lvl="1"/>
            <a:r>
              <a:rPr lang="en-US" dirty="0"/>
              <a:t>Engaging in prolonged conversations or</a:t>
            </a:r>
            <a:r>
              <a:rPr lang="en-US" dirty="0">
                <a:solidFill>
                  <a:srgbClr val="FF0000"/>
                </a:solidFill>
              </a:rPr>
              <a:t> </a:t>
            </a:r>
            <a:r>
              <a:rPr lang="en-US" dirty="0"/>
              <a:t>complex tasks</a:t>
            </a:r>
          </a:p>
          <a:p>
            <a:pPr marL="457200" lvl="1" indent="0">
              <a:buNone/>
            </a:pPr>
            <a:endParaRPr lang="en-US" dirty="0"/>
          </a:p>
        </p:txBody>
      </p:sp>
      <p:sp>
        <p:nvSpPr>
          <p:cNvPr id="5" name="TextBox 4">
            <a:extLst>
              <a:ext uri="{FF2B5EF4-FFF2-40B4-BE49-F238E27FC236}">
                <a16:creationId xmlns:a16="http://schemas.microsoft.com/office/drawing/2014/main" id="{F07AB50D-0BCE-05B8-256E-A1201E2FC65A}"/>
              </a:ext>
            </a:extLst>
          </p:cNvPr>
          <p:cNvSpPr txBox="1"/>
          <p:nvPr/>
        </p:nvSpPr>
        <p:spPr>
          <a:xfrm>
            <a:off x="11683527" y="6488668"/>
            <a:ext cx="508473" cy="369332"/>
          </a:xfrm>
          <a:prstGeom prst="rect">
            <a:avLst/>
          </a:prstGeom>
          <a:noFill/>
        </p:spPr>
        <p:txBody>
          <a:bodyPr wrap="none" rtlCol="0">
            <a:spAutoFit/>
          </a:bodyPr>
          <a:lstStyle/>
          <a:p>
            <a:r>
              <a:rPr lang="en-US" dirty="0"/>
              <a:t>4/8</a:t>
            </a:r>
          </a:p>
        </p:txBody>
      </p:sp>
    </p:spTree>
    <p:extLst>
      <p:ext uri="{BB962C8B-B14F-4D97-AF65-F5344CB8AC3E}">
        <p14:creationId xmlns:p14="http://schemas.microsoft.com/office/powerpoint/2010/main" val="31662930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Short-Term</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2898" y="1690688"/>
            <a:ext cx="11577729" cy="4570430"/>
          </a:xfrm>
        </p:spPr>
        <p:txBody>
          <a:bodyPr>
            <a:normAutofit fontScale="85000" lnSpcReduction="10000"/>
          </a:bodyPr>
          <a:lstStyle/>
          <a:p>
            <a:r>
              <a:rPr lang="en-US" sz="1900" dirty="0"/>
              <a:t>Quick responses to simple queries</a:t>
            </a:r>
            <a:endParaRPr lang="en-US" sz="800" dirty="0"/>
          </a:p>
          <a:p>
            <a:pPr marL="0" marR="0">
              <a:spcBef>
                <a:spcPts val="0"/>
              </a:spcBef>
              <a:spcAft>
                <a:spcPts val="0"/>
              </a:spcAft>
            </a:pPr>
            <a:r>
              <a:rPr lang="en-US" sz="1800" kern="0" dirty="0">
                <a:effectLst/>
                <a:latin typeface="Roboto" panose="02000000000000000000" pitchFamily="2" charset="0"/>
                <a:ea typeface="Times New Roman" panose="02020603050405020304" pitchFamily="18" charset="0"/>
                <a:cs typeface="Times New Roman" panose="02020603050405020304" pitchFamily="18" charset="0"/>
              </a:rPr>
              <a:t>Bio of a typical Airman:</a:t>
            </a:r>
            <a:br>
              <a:rPr lang="en-US" sz="1800" kern="0" dirty="0">
                <a:effectLst/>
                <a:latin typeface="Roboto" panose="02000000000000000000" pitchFamily="2" charset="0"/>
                <a:ea typeface="Times New Roman" panose="02020603050405020304" pitchFamily="18" charset="0"/>
                <a:cs typeface="Times New Roman" panose="02020603050405020304" pitchFamily="18" charset="0"/>
              </a:rPr>
            </a:br>
            <a:r>
              <a:rPr lang="en-US" sz="1800" kern="0" dirty="0">
                <a:effectLst/>
                <a:latin typeface="Roboto" panose="02000000000000000000" pitchFamily="2" charset="0"/>
                <a:ea typeface="Times New Roman" panose="02020603050405020304" pitchFamily="18" charset="0"/>
                <a:cs typeface="Times New Roman" panose="02020603050405020304" pitchFamily="18" charset="0"/>
              </a:rPr>
              <a:t>An Airman is a dedicated and disciplined individual who serves in the United States Air Force. They are committed to upholding the Air Force core values of integrity first, service before self, and excellence in all they do. A typical Airman undergoes rigorous training to develop technical skills and knowledge in their specific career field. They work in a variety of roles, including maintenance, logistics, intelligence, administration, and more. With a strong sense of duty and a commitment to teamwork, the Airman contributes to the mission of the Air Force and support national security objectives.</a:t>
            </a:r>
            <a:br>
              <a:rPr lang="en-US" sz="1800" kern="0" dirty="0">
                <a:effectLst/>
                <a:latin typeface="Roboto" panose="02000000000000000000" pitchFamily="2" charset="0"/>
                <a:ea typeface="Times New Roman" panose="02020603050405020304" pitchFamily="18" charset="0"/>
                <a:cs typeface="Times New Roman" panose="02020603050405020304" pitchFamily="18" charset="0"/>
              </a:rPr>
            </a:br>
            <a:br>
              <a:rPr lang="en-US" sz="1800" kern="0" dirty="0">
                <a:effectLst/>
                <a:latin typeface="Roboto" panose="02000000000000000000" pitchFamily="2" charset="0"/>
                <a:ea typeface="Times New Roman" panose="02020603050405020304" pitchFamily="18" charset="0"/>
                <a:cs typeface="Times New Roman" panose="02020603050405020304" pitchFamily="18" charset="0"/>
              </a:rPr>
            </a:br>
            <a:r>
              <a:rPr lang="en-US" sz="1800" kern="0" dirty="0">
                <a:effectLst/>
                <a:latin typeface="Roboto" panose="02000000000000000000" pitchFamily="2" charset="0"/>
                <a:ea typeface="Times New Roman" panose="02020603050405020304" pitchFamily="18" charset="0"/>
                <a:cs typeface="Times New Roman" panose="02020603050405020304" pitchFamily="18" charset="0"/>
              </a:rPr>
              <a:t>To-Do List as an Airman:</a:t>
            </a:r>
            <a:br>
              <a:rPr lang="en-US" sz="1800" kern="0" dirty="0">
                <a:effectLst/>
                <a:latin typeface="Roboto" panose="02000000000000000000" pitchFamily="2" charset="0"/>
                <a:ea typeface="Times New Roman" panose="02020603050405020304" pitchFamily="18" charset="0"/>
                <a:cs typeface="Times New Roman" panose="02020603050405020304" pitchFamily="18" charset="0"/>
              </a:rPr>
            </a:br>
            <a:r>
              <a:rPr lang="en-US" sz="1800" kern="0" dirty="0">
                <a:effectLst/>
                <a:latin typeface="Roboto" panose="02000000000000000000" pitchFamily="2" charset="0"/>
                <a:ea typeface="Times New Roman" panose="02020603050405020304" pitchFamily="18" charset="0"/>
                <a:cs typeface="Times New Roman" panose="02020603050405020304" pitchFamily="18" charset="0"/>
              </a:rPr>
              <a:t>1. Complete morning physical training: As an Airman, physical fitness is crucial. Start the day with a workout session to maintain physical readiness and meet fitness standards.</a:t>
            </a:r>
            <a:br>
              <a:rPr lang="en-US" sz="1800" kern="0" dirty="0">
                <a:effectLst/>
                <a:latin typeface="Roboto" panose="02000000000000000000" pitchFamily="2" charset="0"/>
                <a:ea typeface="Times New Roman" panose="02020603050405020304" pitchFamily="18" charset="0"/>
                <a:cs typeface="Times New Roman" panose="02020603050405020304" pitchFamily="18" charset="0"/>
              </a:rPr>
            </a:br>
            <a:r>
              <a:rPr lang="en-US" sz="1800" kern="0" dirty="0">
                <a:effectLst/>
                <a:latin typeface="Roboto" panose="02000000000000000000" pitchFamily="2" charset="0"/>
                <a:ea typeface="Times New Roman" panose="02020603050405020304" pitchFamily="18" charset="0"/>
                <a:cs typeface="Times New Roman" panose="02020603050405020304" pitchFamily="18" charset="0"/>
              </a:rPr>
              <a:t>2. Attend morning briefing: Stay informed about the day's tasks, updates, and any important information shared during the morning briefing.</a:t>
            </a:r>
            <a:br>
              <a:rPr lang="en-US" sz="1800" kern="0" dirty="0">
                <a:effectLst/>
                <a:latin typeface="Roboto" panose="02000000000000000000" pitchFamily="2" charset="0"/>
                <a:ea typeface="Times New Roman" panose="02020603050405020304" pitchFamily="18" charset="0"/>
                <a:cs typeface="Times New Roman" panose="02020603050405020304" pitchFamily="18" charset="0"/>
              </a:rPr>
            </a:br>
            <a:r>
              <a:rPr lang="en-US" sz="1800" kern="0" dirty="0">
                <a:effectLst/>
                <a:latin typeface="Roboto" panose="02000000000000000000" pitchFamily="2" charset="0"/>
                <a:ea typeface="Times New Roman" panose="02020603050405020304" pitchFamily="18" charset="0"/>
                <a:cs typeface="Times New Roman" panose="02020603050405020304" pitchFamily="18" charset="0"/>
              </a:rPr>
              <a:t>3. Perform assigned duties: Carry out assigned tasks and responsibilities, whether it involves aircraft maintenance, administrative work, or any other job specific to the Airman's career field.</a:t>
            </a:r>
            <a:br>
              <a:rPr lang="en-US" sz="1800" kern="0" dirty="0">
                <a:effectLst/>
                <a:latin typeface="Roboto" panose="02000000000000000000" pitchFamily="2" charset="0"/>
                <a:ea typeface="Times New Roman" panose="02020603050405020304" pitchFamily="18" charset="0"/>
                <a:cs typeface="Times New Roman" panose="02020603050405020304" pitchFamily="18" charset="0"/>
              </a:rPr>
            </a:br>
            <a:r>
              <a:rPr lang="en-US" sz="1800" kern="0" dirty="0">
                <a:effectLst/>
                <a:latin typeface="Roboto" panose="02000000000000000000" pitchFamily="2" charset="0"/>
                <a:ea typeface="Times New Roman" panose="02020603050405020304" pitchFamily="18" charset="0"/>
                <a:cs typeface="Times New Roman" panose="02020603050405020304" pitchFamily="18" charset="0"/>
              </a:rPr>
              <a:t>4. Participate in ongoing training: Continuously develop skills and knowledge through training programs and courses to stay current in the field and enhance professional growth.</a:t>
            </a:r>
            <a:br>
              <a:rPr lang="en-US" sz="1800" kern="0" dirty="0">
                <a:effectLst/>
                <a:latin typeface="Roboto" panose="02000000000000000000" pitchFamily="2" charset="0"/>
                <a:ea typeface="Times New Roman" panose="02020603050405020304" pitchFamily="18" charset="0"/>
                <a:cs typeface="Times New Roman" panose="02020603050405020304" pitchFamily="18" charset="0"/>
              </a:rPr>
            </a:br>
            <a:r>
              <a:rPr lang="en-US" sz="1800" kern="0" dirty="0">
                <a:effectLst/>
                <a:latin typeface="Roboto" panose="02000000000000000000" pitchFamily="2" charset="0"/>
                <a:ea typeface="Times New Roman" panose="02020603050405020304" pitchFamily="18" charset="0"/>
                <a:cs typeface="Times New Roman" panose="02020603050405020304" pitchFamily="18" charset="0"/>
              </a:rPr>
              <a:t>5. Maintain equipment and workspace: Ensure that all equipment and work areas are clean, organized, and properly maintained to promote safety and efficiency.</a:t>
            </a:r>
            <a:br>
              <a:rPr lang="en-US" sz="1800" kern="0" dirty="0">
                <a:effectLst/>
                <a:latin typeface="Roboto" panose="02000000000000000000" pitchFamily="2" charset="0"/>
                <a:ea typeface="Times New Roman" panose="02020603050405020304" pitchFamily="18" charset="0"/>
                <a:cs typeface="Times New Roman" panose="02020603050405020304" pitchFamily="18" charset="0"/>
              </a:rPr>
            </a:br>
            <a:br>
              <a:rPr lang="en-US" sz="1800" kern="0" dirty="0">
                <a:effectLst/>
                <a:latin typeface="Roboto" panose="02000000000000000000" pitchFamily="2" charset="0"/>
                <a:ea typeface="Times New Roman" panose="02020603050405020304" pitchFamily="18" charset="0"/>
                <a:cs typeface="Times New Roman" panose="02020603050405020304" pitchFamily="18" charset="0"/>
              </a:rPr>
            </a:br>
            <a:r>
              <a:rPr lang="en-US" sz="1800" kern="0" dirty="0">
                <a:effectLst/>
                <a:latin typeface="Roboto" panose="02000000000000000000" pitchFamily="2" charset="0"/>
                <a:ea typeface="Times New Roman" panose="02020603050405020304" pitchFamily="18" charset="0"/>
                <a:cs typeface="Times New Roman" panose="02020603050405020304" pitchFamily="18" charset="0"/>
              </a:rPr>
              <a:t>As an Airman, my primary focus is to contribute to the mission of the Air Force, support my fellow Airmen, and uphold the core values of integrity, service, and excellence. I strive to excel in my assigned duties, continuously improve my skills, and maintain a high level of professionalism. By doing so, I contribute to the success of the Air Force and help ensure the security of our nation.</a:t>
            </a:r>
            <a:endParaRPr lang="en-US"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2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1</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0 / 3</a:t>
            </a:r>
          </a:p>
        </p:txBody>
      </p:sp>
      <p:sp>
        <p:nvSpPr>
          <p:cNvPr id="6" name="TextBox 5">
            <a:extLst>
              <a:ext uri="{FF2B5EF4-FFF2-40B4-BE49-F238E27FC236}">
                <a16:creationId xmlns:a16="http://schemas.microsoft.com/office/drawing/2014/main" id="{64A80497-E7B9-41E3-EB07-813D4D015018}"/>
              </a:ext>
            </a:extLst>
          </p:cNvPr>
          <p:cNvSpPr txBox="1"/>
          <p:nvPr/>
        </p:nvSpPr>
        <p:spPr>
          <a:xfrm>
            <a:off x="10045002" y="6488668"/>
            <a:ext cx="2146998" cy="369332"/>
          </a:xfrm>
          <a:prstGeom prst="rect">
            <a:avLst/>
          </a:prstGeom>
          <a:noFill/>
        </p:spPr>
        <p:txBody>
          <a:bodyPr wrap="none" rtlCol="0">
            <a:spAutoFit/>
          </a:bodyPr>
          <a:lstStyle/>
          <a:p>
            <a:r>
              <a:rPr lang="en-US" dirty="0"/>
              <a:t>2. Type of Processing</a:t>
            </a:r>
          </a:p>
        </p:txBody>
      </p:sp>
    </p:spTree>
    <p:extLst>
      <p:ext uri="{BB962C8B-B14F-4D97-AF65-F5344CB8AC3E}">
        <p14:creationId xmlns:p14="http://schemas.microsoft.com/office/powerpoint/2010/main" val="29541161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Short-Term</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46284" y="1690688"/>
            <a:ext cx="11099432" cy="4570430"/>
          </a:xfrm>
        </p:spPr>
        <p:txBody>
          <a:bodyPr>
            <a:normAutofit fontScale="92500" lnSpcReduction="10000"/>
          </a:bodyPr>
          <a:lstStyle/>
          <a:p>
            <a:r>
              <a:rPr lang="en-US" sz="1400" dirty="0"/>
              <a:t>Quick responses to simple queries</a:t>
            </a:r>
          </a:p>
          <a:p>
            <a:pPr lvl="1"/>
            <a:r>
              <a:rPr lang="en-US" sz="1200" dirty="0"/>
              <a:t>Basic: </a:t>
            </a:r>
            <a:r>
              <a:rPr lang="en-US" sz="1200" i="1" dirty="0"/>
              <a:t>Knowledge</a:t>
            </a:r>
            <a:endParaRPr lang="en-US" sz="1200" dirty="0"/>
          </a:p>
          <a:p>
            <a:pPr lvl="2"/>
            <a:r>
              <a:rPr lang="en-US" sz="1100" dirty="0"/>
              <a:t>(</a:t>
            </a:r>
            <a:r>
              <a:rPr lang="en-US" sz="1100" dirty="0">
                <a:solidFill>
                  <a:srgbClr val="FF0000"/>
                </a:solidFill>
              </a:rPr>
              <a:t>T</a:t>
            </a:r>
            <a:r>
              <a:rPr lang="en-US" sz="1100" dirty="0"/>
              <a:t>/F) Indicate true or false: the passage contains a to-do list for a typical Airman.  </a:t>
            </a:r>
          </a:p>
          <a:p>
            <a:pPr lvl="2"/>
            <a:r>
              <a:rPr lang="en-US" sz="1100" dirty="0"/>
              <a:t>(MC) which word occurs the most frequently in the first paragraph of the passage: (a) core (b) Air Force (c) Airman (d) develop? Please indicate if two or more of these options occur equally frequently.</a:t>
            </a:r>
          </a:p>
          <a:p>
            <a:pPr lvl="2"/>
            <a:r>
              <a:rPr lang="en-US" sz="1100" dirty="0"/>
              <a:t>(MA) Match the section of the passage with its title </a:t>
            </a:r>
            <a:r>
              <a:rPr lang="en-US" sz="1100" dirty="0" err="1"/>
              <a:t>i</a:t>
            </a:r>
            <a:r>
              <a:rPr lang="en-US" sz="1100" dirty="0"/>
              <a:t>. first paragraph ii. List iii. Second full paragraph (a) none (b) to-do list as an Airman (c ) Bio of a Typical airman</a:t>
            </a:r>
            <a:r>
              <a:rPr lang="en-US" sz="1100" dirty="0">
                <a:solidFill>
                  <a:srgbClr val="FF0000"/>
                </a:solidFill>
              </a:rPr>
              <a:t> </a:t>
            </a:r>
            <a:r>
              <a:rPr lang="en-US" sz="1100" dirty="0" err="1">
                <a:solidFill>
                  <a:srgbClr val="FF0000"/>
                </a:solidFill>
              </a:rPr>
              <a:t>i.c</a:t>
            </a:r>
            <a:r>
              <a:rPr lang="en-US" sz="1100" dirty="0">
                <a:solidFill>
                  <a:srgbClr val="FF0000"/>
                </a:solidFill>
              </a:rPr>
              <a:t> </a:t>
            </a:r>
            <a:r>
              <a:rPr lang="en-US" sz="1100" dirty="0" err="1">
                <a:solidFill>
                  <a:srgbClr val="FF0000"/>
                </a:solidFill>
              </a:rPr>
              <a:t>ii.b</a:t>
            </a:r>
            <a:r>
              <a:rPr lang="en-US" sz="1100" dirty="0">
                <a:solidFill>
                  <a:srgbClr val="FF0000"/>
                </a:solidFill>
              </a:rPr>
              <a:t> </a:t>
            </a:r>
            <a:r>
              <a:rPr lang="en-US" sz="1100" dirty="0" err="1">
                <a:solidFill>
                  <a:srgbClr val="FF0000"/>
                </a:solidFill>
              </a:rPr>
              <a:t>iii.a</a:t>
            </a:r>
            <a:endParaRPr lang="en-US" sz="1100" dirty="0">
              <a:solidFill>
                <a:srgbClr val="FF0000"/>
              </a:solidFill>
            </a:endParaRPr>
          </a:p>
          <a:p>
            <a:pPr lvl="2"/>
            <a:r>
              <a:rPr lang="en-US" sz="1100" dirty="0"/>
              <a:t>(T/</a:t>
            </a:r>
            <a:r>
              <a:rPr lang="en-US" sz="1100" dirty="0">
                <a:solidFill>
                  <a:srgbClr val="FF0000"/>
                </a:solidFill>
              </a:rPr>
              <a:t>F</a:t>
            </a:r>
            <a:r>
              <a:rPr lang="en-US" sz="1100" dirty="0"/>
              <a:t>). The intro paragraph has more sentences than the Airman’s to-do list. </a:t>
            </a:r>
          </a:p>
          <a:p>
            <a:pPr lvl="2"/>
            <a:r>
              <a:rPr lang="en-US" sz="1100" dirty="0"/>
              <a:t>(MC) How many steps in the Airman’s to-do are listed? (a) 3 </a:t>
            </a:r>
            <a:r>
              <a:rPr lang="en-US" sz="1100" dirty="0">
                <a:solidFill>
                  <a:srgbClr val="FF0000"/>
                </a:solidFill>
              </a:rPr>
              <a:t>(b) 5 </a:t>
            </a:r>
            <a:r>
              <a:rPr lang="en-US" sz="1100" dirty="0"/>
              <a:t>( c ) 7 (d) -1</a:t>
            </a:r>
          </a:p>
          <a:p>
            <a:pPr marL="742950" lvl="1" indent="-285750">
              <a:buFont typeface="Arial" panose="020B0604020202020204" pitchFamily="34" charset="0"/>
              <a:buChar char="•"/>
            </a:pPr>
            <a:r>
              <a:rPr lang="en-US" sz="1200" dirty="0"/>
              <a:t>Intermediate: </a:t>
            </a:r>
            <a:r>
              <a:rPr lang="en-US" sz="1200" i="1" dirty="0"/>
              <a:t>Comprehension</a:t>
            </a:r>
            <a:endParaRPr lang="en-US" sz="1200" dirty="0"/>
          </a:p>
          <a:p>
            <a:pPr marL="1200150" lvl="2" indent="-285750"/>
            <a:r>
              <a:rPr lang="en-US" sz="1100" dirty="0"/>
              <a:t>(SR) In two words, separated by a comma, explain why it is important for an Airman to maintain equipment and workspaces. </a:t>
            </a:r>
            <a:r>
              <a:rPr lang="en-US" sz="1100" dirty="0">
                <a:solidFill>
                  <a:srgbClr val="FF0000"/>
                </a:solidFill>
              </a:rPr>
              <a:t>Safety, efficiency</a:t>
            </a:r>
          </a:p>
          <a:p>
            <a:pPr marL="1200150" lvl="2" indent="-285750">
              <a:buFont typeface="Arial" panose="020B0604020202020204" pitchFamily="34" charset="0"/>
              <a:buChar char="•"/>
            </a:pPr>
            <a:r>
              <a:rPr lang="en-US" sz="1100" dirty="0"/>
              <a:t>(</a:t>
            </a:r>
            <a:r>
              <a:rPr lang="en-US" sz="1100" dirty="0">
                <a:solidFill>
                  <a:srgbClr val="FF0000"/>
                </a:solidFill>
              </a:rPr>
              <a:t>T</a:t>
            </a:r>
            <a:r>
              <a:rPr lang="en-US" sz="1100" dirty="0"/>
              <a:t>/F) In the prompt, the Airman’s to-do list aligns with the Airman’s bio. </a:t>
            </a:r>
          </a:p>
          <a:p>
            <a:pPr marL="1200150" lvl="2" indent="-285750"/>
            <a:r>
              <a:rPr lang="en-US" sz="1100" dirty="0"/>
              <a:t>(MC) Which of the following best describes the last paragraph of the passage? </a:t>
            </a:r>
            <a:r>
              <a:rPr lang="en-US" sz="1100" dirty="0">
                <a:solidFill>
                  <a:srgbClr val="FF0000"/>
                </a:solidFill>
              </a:rPr>
              <a:t>A) Reflective </a:t>
            </a:r>
            <a:r>
              <a:rPr lang="en-US" sz="1100" dirty="0"/>
              <a:t>B) Informative C) Analytical D) Evaluative</a:t>
            </a:r>
          </a:p>
          <a:p>
            <a:pPr marL="1200150" lvl="2" indent="-285750"/>
            <a:r>
              <a:rPr lang="en-US" sz="1100" dirty="0"/>
              <a:t>(MC) According to the passage, what are some examples of assigned duties for an Airman? Select all that apply</a:t>
            </a:r>
            <a:r>
              <a:rPr lang="en-US" sz="1100" dirty="0">
                <a:solidFill>
                  <a:srgbClr val="FF0000"/>
                </a:solidFill>
              </a:rPr>
              <a:t>. A) administration </a:t>
            </a:r>
            <a:r>
              <a:rPr lang="en-US" sz="1100" dirty="0">
                <a:solidFill>
                  <a:srgbClr val="FF8A23"/>
                </a:solidFill>
              </a:rPr>
              <a:t>B) engineering </a:t>
            </a:r>
            <a:r>
              <a:rPr lang="en-US" sz="1100" dirty="0">
                <a:solidFill>
                  <a:srgbClr val="FF0000"/>
                </a:solidFill>
              </a:rPr>
              <a:t>C) aircraft maintenance</a:t>
            </a:r>
            <a:r>
              <a:rPr lang="en-US" sz="1100" dirty="0"/>
              <a:t> </a:t>
            </a:r>
            <a:r>
              <a:rPr lang="en-US" sz="1100" dirty="0">
                <a:solidFill>
                  <a:srgbClr val="FF8A23"/>
                </a:solidFill>
              </a:rPr>
              <a:t>D) logistics </a:t>
            </a:r>
            <a:r>
              <a:rPr lang="en-US" sz="1100" dirty="0"/>
              <a:t>E) wargaming </a:t>
            </a:r>
          </a:p>
          <a:p>
            <a:pPr marL="1200150" lvl="2" indent="-285750">
              <a:buFont typeface="Arial" panose="020B0604020202020204" pitchFamily="34" charset="0"/>
              <a:buChar char="•"/>
            </a:pPr>
            <a:r>
              <a:rPr lang="en-US" sz="1100" dirty="0"/>
              <a:t>(MC) According to the passage, why is physical fitness important for an Airman? Select all that apply: A) intellect B) mental health </a:t>
            </a:r>
            <a:r>
              <a:rPr lang="en-US" sz="1100" dirty="0">
                <a:solidFill>
                  <a:srgbClr val="FF0000"/>
                </a:solidFill>
              </a:rPr>
              <a:t>C) meet fitness standards D) physical</a:t>
            </a:r>
          </a:p>
          <a:p>
            <a:pPr marL="1200150" lvl="2" indent="-285750"/>
            <a:r>
              <a:rPr lang="en-US" sz="1100" dirty="0"/>
              <a:t>(T/</a:t>
            </a:r>
            <a:r>
              <a:rPr lang="en-US" sz="1100" dirty="0">
                <a:solidFill>
                  <a:srgbClr val="FF0000"/>
                </a:solidFill>
              </a:rPr>
              <a:t>F</a:t>
            </a:r>
            <a:r>
              <a:rPr lang="en-US" sz="1100" dirty="0"/>
              <a:t>). The passage lists the protocols for a specific national security issue and not for routine Airman preparedness</a:t>
            </a:r>
            <a:r>
              <a:rPr lang="en-US" sz="1100" dirty="0">
                <a:solidFill>
                  <a:srgbClr val="FF0000"/>
                </a:solidFill>
              </a:rPr>
              <a:t> readiness</a:t>
            </a:r>
          </a:p>
          <a:p>
            <a:pPr marL="742950" lvl="1" indent="-285750">
              <a:buFont typeface="Arial" panose="020B0604020202020204" pitchFamily="34" charset="0"/>
              <a:buChar char="•"/>
            </a:pPr>
            <a:r>
              <a:rPr lang="en-US" sz="1200" dirty="0"/>
              <a:t>Advanced: </a:t>
            </a:r>
            <a:r>
              <a:rPr lang="en-US" sz="1200" i="1" dirty="0"/>
              <a:t>Application</a:t>
            </a:r>
            <a:endParaRPr lang="en-US" sz="1200" dirty="0"/>
          </a:p>
          <a:p>
            <a:pPr marL="1200150" lvl="2" indent="-285750"/>
            <a:r>
              <a:rPr lang="en-US" sz="1100" dirty="0"/>
              <a:t>(ER) Please create a matrix table. The rows have label titles of armed forces: "army", "navy", "marines", and "Air Force". The columns titles are military components: "battalion", "soldiers", "basic training", and Blues. In the matrix table, please place a check in the corresponding boxes where the military component can be found in the respective armed force.</a:t>
            </a:r>
          </a:p>
          <a:p>
            <a:pPr marL="1200150" lvl="2" indent="-285750"/>
            <a:r>
              <a:rPr lang="en-US" sz="1100" dirty="0"/>
              <a:t>(MC) If a member of the Navy wrote their own to-do list, which item in the Airman’s to-do list is the most likely to undergo changes to meet the Navy’s needs? </a:t>
            </a:r>
            <a:r>
              <a:rPr lang="en-US" sz="1100" dirty="0">
                <a:solidFill>
                  <a:srgbClr val="FF0000"/>
                </a:solidFill>
              </a:rPr>
              <a:t>3. since aircraft maintenance or other tasks would need to be related to the Navy’s career fields, not the Airman’s.   </a:t>
            </a:r>
          </a:p>
          <a:p>
            <a:pPr marL="1200150" lvl="2" indent="-285750"/>
            <a:r>
              <a:rPr lang="en-US" sz="1100" dirty="0"/>
              <a:t>(SR) What other careers are four or more of the Airman’s tasks in his/her to-do list necessary to complete the job? Select all that apply. (a) engineers (b) athlete (c ) soldiers in other branches of the US military (d) graduate student </a:t>
            </a:r>
            <a:r>
              <a:rPr lang="en-US" sz="1100" dirty="0">
                <a:solidFill>
                  <a:srgbClr val="FF0000"/>
                </a:solidFill>
              </a:rPr>
              <a:t>a, b, c, </a:t>
            </a:r>
          </a:p>
          <a:p>
            <a:pPr marL="1200150" lvl="2" indent="-285750"/>
            <a:r>
              <a:rPr lang="en-US" sz="1100" dirty="0"/>
              <a:t>(SR) In one sentence, explain what may or may not be different about this Airman’s to-do list if we were to ask another Airman to independently create one. </a:t>
            </a:r>
          </a:p>
          <a:p>
            <a:pPr marL="1200150" lvl="2" indent="-285750"/>
            <a:r>
              <a:rPr lang="en-US" sz="1100" dirty="0"/>
              <a:t>(CZ) Although the </a:t>
            </a:r>
            <a:r>
              <a:rPr lang="en-US" sz="1100" dirty="0">
                <a:solidFill>
                  <a:srgbClr val="FF0000"/>
                </a:solidFill>
              </a:rPr>
              <a:t>Army</a:t>
            </a:r>
            <a:r>
              <a:rPr lang="en-US" sz="1100" dirty="0"/>
              <a:t>, </a:t>
            </a:r>
            <a:r>
              <a:rPr lang="en-US" sz="1100" dirty="0">
                <a:solidFill>
                  <a:srgbClr val="FF0000"/>
                </a:solidFill>
              </a:rPr>
              <a:t>Navy</a:t>
            </a:r>
            <a:r>
              <a:rPr lang="en-US" sz="1100" dirty="0"/>
              <a:t>, and </a:t>
            </a:r>
            <a:r>
              <a:rPr lang="en-US" sz="1100" dirty="0">
                <a:solidFill>
                  <a:srgbClr val="FF0000"/>
                </a:solidFill>
              </a:rPr>
              <a:t>Marines</a:t>
            </a:r>
            <a:r>
              <a:rPr lang="en-US" sz="1100" dirty="0"/>
              <a:t> have their own military versions of their daily routine, the Air Force shares relevant information with all branches of the US military. </a:t>
            </a:r>
          </a:p>
        </p:txBody>
      </p:sp>
      <p:sp>
        <p:nvSpPr>
          <p:cNvPr id="4" name="TextBox 3">
            <a:extLst>
              <a:ext uri="{FF2B5EF4-FFF2-40B4-BE49-F238E27FC236}">
                <a16:creationId xmlns:a16="http://schemas.microsoft.com/office/drawing/2014/main" id="{09B3BD9E-F7AB-6D3E-B000-E68C16026097}"/>
              </a:ext>
            </a:extLst>
          </p:cNvPr>
          <p:cNvSpPr txBox="1"/>
          <p:nvPr/>
        </p:nvSpPr>
        <p:spPr>
          <a:xfrm>
            <a:off x="10132073" y="6488668"/>
            <a:ext cx="2063770" cy="369332"/>
          </a:xfrm>
          <a:prstGeom prst="rect">
            <a:avLst/>
          </a:prstGeom>
          <a:noFill/>
        </p:spPr>
        <p:txBody>
          <a:bodyPr wrap="none" rtlCol="0">
            <a:spAutoFit/>
          </a:bodyPr>
          <a:lstStyle/>
          <a:p>
            <a:r>
              <a:rPr lang="en-US" dirty="0"/>
              <a:t>4. Temporal Aspects</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1</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1</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1 / 2</a:t>
            </a:r>
          </a:p>
        </p:txBody>
      </p:sp>
    </p:spTree>
    <p:extLst>
      <p:ext uri="{BB962C8B-B14F-4D97-AF65-F5344CB8AC3E}">
        <p14:creationId xmlns:p14="http://schemas.microsoft.com/office/powerpoint/2010/main" val="34733234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Short-Term</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11008364" cy="4570430"/>
          </a:xfrm>
        </p:spPr>
        <p:txBody>
          <a:bodyPr>
            <a:normAutofit lnSpcReduction="10000"/>
          </a:bodyPr>
          <a:lstStyle/>
          <a:p>
            <a:r>
              <a:rPr lang="en-US" sz="1400" dirty="0"/>
              <a:t>Quick responses to simple queries</a:t>
            </a:r>
          </a:p>
          <a:p>
            <a:pPr lvl="1"/>
            <a:r>
              <a:rPr lang="en-US" sz="1200" dirty="0"/>
              <a:t>Expert: </a:t>
            </a:r>
            <a:r>
              <a:rPr lang="en-US" sz="1200" i="1" dirty="0"/>
              <a:t>Analysis/Synthesis</a:t>
            </a:r>
            <a:endParaRPr lang="en-US" sz="1200" dirty="0"/>
          </a:p>
          <a:p>
            <a:pPr lvl="2"/>
            <a:r>
              <a:rPr lang="en-US" sz="1000" dirty="0"/>
              <a:t>(MA) Using the numbered and lettered bullets, match these core Airmen ideals to the five tasks in the to-do list. Each task may have more than one ideal ascribed to it, and each ideal may apply to more than one task. Ideals: a) dedication, b) discipline, c) integrity, d) preparation, e) expertise [</a:t>
            </a:r>
            <a:r>
              <a:rPr lang="en-US" sz="1000" dirty="0">
                <a:solidFill>
                  <a:srgbClr val="FF0000"/>
                </a:solidFill>
              </a:rPr>
              <a:t>responses may vary, so check for completion of task</a:t>
            </a:r>
            <a:r>
              <a:rPr lang="en-US" sz="1000" dirty="0"/>
              <a:t>]</a:t>
            </a:r>
          </a:p>
          <a:p>
            <a:pPr lvl="2"/>
            <a:r>
              <a:rPr lang="en-US" sz="1000" dirty="0"/>
              <a:t>(MA) Using the numbered and lettered bullets, match these core Airmen ideals to the five tasks in the to-do list. Each task may have more than one ideal ascribed to it, and each ideal may apply to more than one task. Ideals: a) versatility, b) responsibility, c) collaboration, d) engagement, e) defense [</a:t>
            </a:r>
            <a:r>
              <a:rPr lang="en-US" sz="1000" dirty="0">
                <a:solidFill>
                  <a:srgbClr val="FF0000"/>
                </a:solidFill>
              </a:rPr>
              <a:t>responses may vary, so check for completion of task</a:t>
            </a:r>
            <a:r>
              <a:rPr lang="en-US" sz="1000" dirty="0"/>
              <a:t>]</a:t>
            </a:r>
          </a:p>
          <a:p>
            <a:pPr marL="1200150" lvl="2" indent="-285750"/>
            <a:r>
              <a:rPr lang="en-US" sz="1000" dirty="0"/>
              <a:t>(SR) In five words or less, summarize the last sentence of the passage. [</a:t>
            </a:r>
            <a:r>
              <a:rPr lang="en-US" sz="1000" dirty="0">
                <a:solidFill>
                  <a:srgbClr val="FF0000"/>
                </a:solidFill>
              </a:rPr>
              <a:t>responses may vary, so check for correct completion of superficial task components</a:t>
            </a:r>
            <a:r>
              <a:rPr lang="en-US" sz="1000" dirty="0"/>
              <a:t>]</a:t>
            </a:r>
          </a:p>
          <a:p>
            <a:pPr marL="1200150" lvl="2" indent="-285750"/>
            <a:r>
              <a:rPr lang="en-US" sz="1000" dirty="0"/>
              <a:t>(MC) </a:t>
            </a:r>
            <a:r>
              <a:rPr lang="en-US" sz="1100" dirty="0"/>
              <a:t>How would you describe the purpose of the last paragraph of that passage in one word? A) Persuade </a:t>
            </a:r>
            <a:r>
              <a:rPr lang="en-US" sz="1100" dirty="0">
                <a:solidFill>
                  <a:srgbClr val="FF0000"/>
                </a:solidFill>
              </a:rPr>
              <a:t>B) Conclude </a:t>
            </a:r>
            <a:r>
              <a:rPr lang="en-US" sz="1100" dirty="0"/>
              <a:t>C) Invite D) Introduce</a:t>
            </a:r>
            <a:endParaRPr lang="en-US" sz="1000" dirty="0">
              <a:solidFill>
                <a:srgbClr val="FF0000"/>
              </a:solidFill>
            </a:endParaRPr>
          </a:p>
          <a:p>
            <a:pPr marL="1200150" lvl="2" indent="-285750"/>
            <a:r>
              <a:rPr lang="en-US" sz="1000" dirty="0"/>
              <a:t>(MM) What describes the relationship between the first paragraph, the to-do list, and the second full paragraph of the passage? Match the descriptor with the part of the passage. There is a 1:1 correlation between each part of the passage and each descriptor. </a:t>
            </a:r>
            <a:r>
              <a:rPr lang="en-US" sz="1000" dirty="0" err="1"/>
              <a:t>i</a:t>
            </a:r>
            <a:r>
              <a:rPr lang="en-US" sz="1000" dirty="0"/>
              <a:t>. first paragraph ii. To-do iii. Second full paragraph  (a) objective (b) establish ( c)</a:t>
            </a:r>
            <a:r>
              <a:rPr lang="en-US" sz="1000" dirty="0">
                <a:solidFill>
                  <a:srgbClr val="FF0000"/>
                </a:solidFill>
              </a:rPr>
              <a:t> </a:t>
            </a:r>
            <a:r>
              <a:rPr lang="en-US" sz="1000" dirty="0"/>
              <a:t>detail</a:t>
            </a:r>
            <a:r>
              <a:rPr lang="en-US" sz="1000" dirty="0">
                <a:solidFill>
                  <a:srgbClr val="FF0000"/>
                </a:solidFill>
              </a:rPr>
              <a:t> </a:t>
            </a:r>
            <a:r>
              <a:rPr lang="en-US" sz="1000" dirty="0" err="1">
                <a:solidFill>
                  <a:srgbClr val="FF0000"/>
                </a:solidFill>
              </a:rPr>
              <a:t>i.b</a:t>
            </a:r>
            <a:r>
              <a:rPr lang="en-US" sz="1000" dirty="0">
                <a:solidFill>
                  <a:srgbClr val="FF0000"/>
                </a:solidFill>
              </a:rPr>
              <a:t> </a:t>
            </a:r>
            <a:r>
              <a:rPr lang="en-US" sz="1000" dirty="0" err="1">
                <a:solidFill>
                  <a:srgbClr val="FF0000"/>
                </a:solidFill>
              </a:rPr>
              <a:t>ii.c</a:t>
            </a:r>
            <a:r>
              <a:rPr lang="en-US" sz="1000" dirty="0">
                <a:solidFill>
                  <a:srgbClr val="FF0000"/>
                </a:solidFill>
              </a:rPr>
              <a:t> </a:t>
            </a:r>
            <a:r>
              <a:rPr lang="en-US" sz="1000" dirty="0" err="1">
                <a:solidFill>
                  <a:srgbClr val="FF0000"/>
                </a:solidFill>
              </a:rPr>
              <a:t>iii.a</a:t>
            </a:r>
            <a:endParaRPr lang="en-US" sz="1000" dirty="0">
              <a:solidFill>
                <a:srgbClr val="FF0000"/>
              </a:solidFill>
            </a:endParaRPr>
          </a:p>
          <a:p>
            <a:pPr marL="1200150" lvl="2" indent="-285750"/>
            <a:r>
              <a:rPr lang="en-US" sz="1000" dirty="0"/>
              <a:t> </a:t>
            </a:r>
            <a:r>
              <a:rPr lang="en-US" sz="1200" dirty="0"/>
              <a:t>Master: </a:t>
            </a:r>
            <a:r>
              <a:rPr lang="en-US" sz="1200" i="1" dirty="0"/>
              <a:t>Synthesis/Evaluation</a:t>
            </a:r>
            <a:endParaRPr lang="en-US" sz="1200" dirty="0"/>
          </a:p>
          <a:p>
            <a:pPr marL="1200150" lvl="2" indent="-285750"/>
            <a:r>
              <a:rPr lang="en-US" sz="1000" dirty="0"/>
              <a:t>(MC) The Airman wanted to add this event to the daily to-do list: complete the AFOQT flight test. (This test can only be taken twice in an Airman’s career.) Where, if at all, does this event go in the to-do list? A) The sentence can be inserted between bullet points 3 and 4. B) This sentence does not belong in the to-do list because it does not have to do with the Air Force. C) The sentence can be added as a separate section or note at the bottom of the to-do list.</a:t>
            </a:r>
            <a:r>
              <a:rPr lang="en-US" sz="1000" dirty="0">
                <a:solidFill>
                  <a:srgbClr val="FF0000"/>
                </a:solidFill>
              </a:rPr>
              <a:t> D) This sentence does not belong in the to-do list because a single event is not a part of the Airman’s typical routine.</a:t>
            </a:r>
            <a:r>
              <a:rPr lang="en-US" sz="1000" dirty="0"/>
              <a:t> </a:t>
            </a:r>
            <a:endParaRPr lang="en-US" sz="1000" i="1" dirty="0"/>
          </a:p>
          <a:p>
            <a:pPr marL="1200150" lvl="2" indent="-285750"/>
            <a:r>
              <a:rPr lang="en-US" sz="1000" dirty="0"/>
              <a:t>(MA) On a scale of 1 to 5 (five being the best performance), rank the following Airman goals from least to most relevant to the passage. A) Renew and redefine the education, training, and jobs that Airmen can undertake that will shift Air Force operations to a mission-centric national defense strategy. B) Increase physical fitness levels among Air Force personnel. C) Adopt all classroom-based initiatives from the Force Development Environment Assessment. This will improve Airman education and training to best suit future national defense. D) Learn more about the PLA AF objectives. E) Improve collaboration and communication within Air Force units. </a:t>
            </a:r>
            <a:r>
              <a:rPr lang="en-US" sz="1000" dirty="0">
                <a:solidFill>
                  <a:srgbClr val="FF0000"/>
                </a:solidFill>
              </a:rPr>
              <a:t>5 2 4 1 3 </a:t>
            </a:r>
          </a:p>
          <a:p>
            <a:pPr marL="1200150" lvl="2" indent="-285750"/>
            <a:r>
              <a:rPr lang="en-US" sz="1000" dirty="0"/>
              <a:t>(MC/T-F) Say in list B we have the five tasks in the Airman’s checklist. In list A, we have  10 single-worded objectives. Indicate which of the following scenarios is logical or illogical. (a) Each of the five items in group b may be matched with more than one element in group A, but each item in group A may only be matched with one item in group B. </a:t>
            </a:r>
            <a:r>
              <a:rPr lang="en-US" sz="1000" dirty="0">
                <a:solidFill>
                  <a:srgbClr val="FF0000"/>
                </a:solidFill>
              </a:rPr>
              <a:t>logical </a:t>
            </a:r>
            <a:r>
              <a:rPr lang="en-US" sz="1000" dirty="0"/>
              <a:t>(b) Each of the five items in group B may not be matched with more than one element group A, but each item in group A may be matched with more than one item in group B. </a:t>
            </a:r>
            <a:r>
              <a:rPr lang="en-US" sz="1000" dirty="0">
                <a:solidFill>
                  <a:srgbClr val="FF0000"/>
                </a:solidFill>
              </a:rPr>
              <a:t>illogical </a:t>
            </a:r>
            <a:r>
              <a:rPr lang="en-US" sz="1000" dirty="0"/>
              <a:t>( c ) Each of the five items in group B may be matched with up to one element group A. That is, each item in group B may be matched with none or one item in group A. Each item in group A may be matched with more than one item in group B. </a:t>
            </a:r>
            <a:r>
              <a:rPr lang="en-US" sz="1000" dirty="0">
                <a:solidFill>
                  <a:srgbClr val="FF0000"/>
                </a:solidFill>
              </a:rPr>
              <a:t>logical</a:t>
            </a:r>
          </a:p>
          <a:p>
            <a:pPr marL="1200150" lvl="2" indent="-285750">
              <a:buFont typeface="Arial" panose="020B0604020202020204" pitchFamily="34" charset="0"/>
              <a:buChar char="•"/>
            </a:pPr>
            <a:r>
              <a:rPr lang="en-US" sz="1000" dirty="0"/>
              <a:t>(MC) Rank the five tasks on the Airman’s to-do list by relevance to the </a:t>
            </a:r>
            <a:r>
              <a:rPr lang="en-US" sz="1000" dirty="0" err="1"/>
              <a:t>Aiman’s</a:t>
            </a:r>
            <a:r>
              <a:rPr lang="en-US" sz="1000" dirty="0"/>
              <a:t> “primary focus”. List your response out as task #: assigned rank in relevance. [</a:t>
            </a:r>
            <a:r>
              <a:rPr lang="en-US" sz="1000" dirty="0">
                <a:solidFill>
                  <a:srgbClr val="FF0000"/>
                </a:solidFill>
              </a:rPr>
              <a:t>check for completeness, but task 3 is a top contender</a:t>
            </a:r>
            <a:r>
              <a:rPr lang="en-US" sz="1000" dirty="0"/>
              <a:t>]</a:t>
            </a:r>
          </a:p>
          <a:p>
            <a:pPr marL="1200150" lvl="2" indent="-285750">
              <a:buFont typeface="Arial" panose="020B0604020202020204" pitchFamily="34" charset="0"/>
              <a:buChar char="•"/>
            </a:pPr>
            <a:r>
              <a:rPr lang="en-US" sz="1000" dirty="0"/>
              <a:t>(MC/MA) Rank the following single words by their ability to summarize the first paragraph of the passage. (a) Airman (b) national defense (c ) dedication (d) routine ( e) inspection [</a:t>
            </a:r>
            <a:r>
              <a:rPr lang="en-US" sz="1000" dirty="0">
                <a:solidFill>
                  <a:srgbClr val="FF0000"/>
                </a:solidFill>
              </a:rPr>
              <a:t>responses may vary. Sample: c.1 a.2 b.3 d.4 e.5</a:t>
            </a:r>
            <a:r>
              <a:rPr lang="en-US" sz="1000" dirty="0"/>
              <a:t>]</a:t>
            </a:r>
          </a:p>
        </p:txBody>
      </p:sp>
      <p:sp>
        <p:nvSpPr>
          <p:cNvPr id="4" name="TextBox 3">
            <a:extLst>
              <a:ext uri="{FF2B5EF4-FFF2-40B4-BE49-F238E27FC236}">
                <a16:creationId xmlns:a16="http://schemas.microsoft.com/office/drawing/2014/main" id="{09B3BD9E-F7AB-6D3E-B000-E68C16026097}"/>
              </a:ext>
            </a:extLst>
          </p:cNvPr>
          <p:cNvSpPr txBox="1"/>
          <p:nvPr/>
        </p:nvSpPr>
        <p:spPr>
          <a:xfrm>
            <a:off x="10181129" y="6488668"/>
            <a:ext cx="2063770" cy="369332"/>
          </a:xfrm>
          <a:prstGeom prst="rect">
            <a:avLst/>
          </a:prstGeom>
          <a:noFill/>
        </p:spPr>
        <p:txBody>
          <a:bodyPr wrap="none" rtlCol="0">
            <a:spAutoFit/>
          </a:bodyPr>
          <a:lstStyle/>
          <a:p>
            <a:r>
              <a:rPr lang="en-US" dirty="0"/>
              <a:t>4. Temporal Aspects</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1</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3 / 3</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2 / 2</a:t>
            </a:r>
          </a:p>
        </p:txBody>
      </p:sp>
    </p:spTree>
    <p:extLst>
      <p:ext uri="{BB962C8B-B14F-4D97-AF65-F5344CB8AC3E}">
        <p14:creationId xmlns:p14="http://schemas.microsoft.com/office/powerpoint/2010/main" val="17894386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Long-Term</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2898" y="1690688"/>
            <a:ext cx="11577729" cy="4570430"/>
          </a:xfrm>
        </p:spPr>
        <p:txBody>
          <a:bodyPr>
            <a:normAutofit fontScale="77500" lnSpcReduction="20000"/>
          </a:bodyPr>
          <a:lstStyle/>
          <a:p>
            <a:r>
              <a:rPr lang="en-US" sz="1900" dirty="0"/>
              <a:t>Engaging in prolonged conversations or complex texts</a:t>
            </a:r>
            <a:endParaRPr lang="en-US" sz="800" dirty="0"/>
          </a:p>
          <a:p>
            <a:pPr lvl="1"/>
            <a:r>
              <a:rPr lang="en-US" sz="1200" b="0" i="0" u="none" strike="noStrike" dirty="0">
                <a:effectLst/>
                <a:latin typeface="Roboto" panose="02000000000000000000" pitchFamily="2" charset="0"/>
              </a:rPr>
              <a:t>Title: Differences in Education Between the Different Branches of the US Military</a:t>
            </a:r>
            <a:br>
              <a:rPr lang="en-US" sz="1200" b="0" i="0" u="none" strike="noStrike" dirty="0">
                <a:effectLst/>
                <a:latin typeface="Roboto" panose="02000000000000000000" pitchFamily="2" charset="0"/>
              </a:rPr>
            </a:b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Introduction:</a:t>
            </a: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Education plays a vital role in the development and success of military personnel. Each branch of the United States military - the Army, Navy, Air Force, Marine Corps, and Coast Guard - offers unique educational opportunities tailored to the specific needs and requirements of their respective service members. While there are similarities in the educational programs across the branches, there are also notable differences that reflect the distinct missions and operational demands of each branch.</a:t>
            </a:r>
            <a:br>
              <a:rPr lang="en-US" sz="1200" b="0" i="0" u="none" strike="noStrike" dirty="0">
                <a:effectLst/>
                <a:latin typeface="Roboto" panose="02000000000000000000" pitchFamily="2" charset="0"/>
              </a:rPr>
            </a:b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1. Army:</a:t>
            </a: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The Army places a strong emphasis on professional military education (PME) to develop leaders at all levels. It offers a comprehensive PME system that includes Basic Officer Leader Courses, Advanced Leader Courses, and Senior Leader Courses. These courses focus on leadership development, tactical and technical proficiency, and critical thinking skills. The Army also provides opportunities for higher education through programs like the Army University, which offers a range of degree programs and professional certifications.</a:t>
            </a:r>
            <a:br>
              <a:rPr lang="en-US" sz="1200" b="0" i="0" u="none" strike="noStrike" dirty="0">
                <a:effectLst/>
                <a:latin typeface="Roboto" panose="02000000000000000000" pitchFamily="2" charset="0"/>
              </a:rPr>
            </a:b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2. Navy:</a:t>
            </a: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The Navy's educational programs are designed to prepare sailors for the unique challenges of maritime operations. The Naval Education and Training Command (NETC) oversees a wide range of training and education programs, including the Naval War College, Naval Postgraduate School, and various technical schools. The Navy places a strong emphasis on technical proficiency, with specialized training in areas such as engineering, navigation, and aviation.</a:t>
            </a:r>
            <a:br>
              <a:rPr lang="en-US" sz="1200" b="0" i="0" u="none" strike="noStrike" dirty="0">
                <a:effectLst/>
                <a:latin typeface="Roboto" panose="02000000000000000000" pitchFamily="2" charset="0"/>
              </a:rPr>
            </a:b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3. Air Force:</a:t>
            </a: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The Air Force places a significant focus on education and professional development. It offers a comprehensive continuum of education, from enlisted professional military education to officer professional military education. The Air Force emphasizes technical expertise, leadership development, and critical thinking skills. The Air University, located at Maxwell Air Force Base, provides a wide range of educational programs, including the Air War College and Air Command and Staff College.</a:t>
            </a:r>
            <a:br>
              <a:rPr lang="en-US" sz="1200" b="0" i="0" u="none" strike="noStrike" dirty="0">
                <a:effectLst/>
                <a:latin typeface="Roboto" panose="02000000000000000000" pitchFamily="2" charset="0"/>
              </a:rPr>
            </a:b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4. Marine Corps:</a:t>
            </a: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The Marine Corps prioritizes the development of well-rounded and adaptable leaders. It offers a structured professional military education system that includes the Marine Corps University, which provides advanced education and training for officers. The Marine Corps places a strong emphasis on combat readiness, leadership, and small unit tactics. Marines also have opportunities for specialized training in areas such as amphibious warfare and expeditionary operations.</a:t>
            </a:r>
            <a:br>
              <a:rPr lang="en-US" sz="1200" b="0" i="0" u="none" strike="noStrike" dirty="0">
                <a:effectLst/>
                <a:latin typeface="Roboto" panose="02000000000000000000" pitchFamily="2" charset="0"/>
              </a:rPr>
            </a:b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5. Coast Guard:</a:t>
            </a: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The Coast Guard's educational programs focus on developing versatile and skilled professionals capable of fulfilling the service's diverse missions. The Coast Guard Training Center provides a range of training programs, including basic and advanced technical training, leadership development, and maritime law enforcement training. The Coast Guard also offers opportunities for higher education through programs like the Coast Guard Institute and the Coast Guard Academy.</a:t>
            </a:r>
            <a:br>
              <a:rPr lang="en-US" sz="1200" b="0" i="0" u="none" strike="noStrike" dirty="0">
                <a:effectLst/>
                <a:latin typeface="Roboto" panose="02000000000000000000" pitchFamily="2" charset="0"/>
              </a:rPr>
            </a:b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Conclusion:</a:t>
            </a: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While all branches of the US military prioritize education and professional development, the specific focus and emphasis vary to align with the unique requirements and missions of each branch. The Army, Navy, Air Force, Marine Corps, and Coast Guard offer distinct educational programs that aim to develop leaders, enhance technical proficiency, and prepare service members for the challenges they may face in their respective domains. By tailoring their educational offerings, the military branches ensure that their personnel are equipped with the knowledge and skills necessary to excel in their roles and contribute to the overall mission readiness of the US military.</a:t>
            </a:r>
          </a:p>
          <a:p>
            <a:pPr lvl="1"/>
            <a:r>
              <a:rPr lang="en-US" sz="1200" dirty="0">
                <a:latin typeface="Roboto" panose="02000000000000000000" pitchFamily="2" charset="0"/>
              </a:rPr>
              <a:t>* Professional military education (PME) is a multifaceted and systematic approach that integrates diverse educational programs, including courses, seminars, and training, to cultivate the knowledge, skills, and leadership acumen of military personnel, enabling them to effectively navigate complex operational environments and contribute to the strategic objectives of their respective organizations.</a:t>
            </a:r>
            <a:endParaRPr lang="en-US" sz="1500" dirty="0"/>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2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1</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0 / 3</a:t>
            </a:r>
          </a:p>
        </p:txBody>
      </p:sp>
      <p:sp>
        <p:nvSpPr>
          <p:cNvPr id="6" name="TextBox 5">
            <a:extLst>
              <a:ext uri="{FF2B5EF4-FFF2-40B4-BE49-F238E27FC236}">
                <a16:creationId xmlns:a16="http://schemas.microsoft.com/office/drawing/2014/main" id="{64A80497-E7B9-41E3-EB07-813D4D015018}"/>
              </a:ext>
            </a:extLst>
          </p:cNvPr>
          <p:cNvSpPr txBox="1"/>
          <p:nvPr/>
        </p:nvSpPr>
        <p:spPr>
          <a:xfrm>
            <a:off x="10045002" y="6488668"/>
            <a:ext cx="2146998" cy="369332"/>
          </a:xfrm>
          <a:prstGeom prst="rect">
            <a:avLst/>
          </a:prstGeom>
          <a:noFill/>
        </p:spPr>
        <p:txBody>
          <a:bodyPr wrap="none" rtlCol="0">
            <a:spAutoFit/>
          </a:bodyPr>
          <a:lstStyle/>
          <a:p>
            <a:r>
              <a:rPr lang="en-US" dirty="0"/>
              <a:t>2. Type of Processing</a:t>
            </a:r>
          </a:p>
        </p:txBody>
      </p:sp>
    </p:spTree>
    <p:extLst>
      <p:ext uri="{BB962C8B-B14F-4D97-AF65-F5344CB8AC3E}">
        <p14:creationId xmlns:p14="http://schemas.microsoft.com/office/powerpoint/2010/main" val="542785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Long-Term</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46284" y="1690688"/>
            <a:ext cx="11099432" cy="4570430"/>
          </a:xfrm>
        </p:spPr>
        <p:txBody>
          <a:bodyPr>
            <a:normAutofit fontScale="40000" lnSpcReduction="20000"/>
          </a:bodyPr>
          <a:lstStyle/>
          <a:p>
            <a:r>
              <a:rPr lang="en-US" dirty="0"/>
              <a:t>Engaging in prolonged conversations or complex texts</a:t>
            </a:r>
          </a:p>
          <a:p>
            <a:pPr lvl="1"/>
            <a:r>
              <a:rPr lang="en-US" dirty="0"/>
              <a:t>Basic: </a:t>
            </a:r>
            <a:r>
              <a:rPr lang="en-US" i="1" dirty="0"/>
              <a:t>Knowledge</a:t>
            </a:r>
            <a:endParaRPr lang="en-US" dirty="0"/>
          </a:p>
          <a:p>
            <a:pPr lvl="2"/>
            <a:r>
              <a:rPr lang="en-US" dirty="0"/>
              <a:t>(T/</a:t>
            </a:r>
            <a:r>
              <a:rPr lang="en-US" dirty="0">
                <a:solidFill>
                  <a:srgbClr val="FF0000"/>
                </a:solidFill>
              </a:rPr>
              <a:t>F</a:t>
            </a:r>
            <a:r>
              <a:rPr lang="en-US" dirty="0"/>
              <a:t>) There is an educational institution named for each branch of the military in this passage. </a:t>
            </a:r>
          </a:p>
          <a:p>
            <a:pPr lvl="2"/>
            <a:r>
              <a:rPr lang="en-US" dirty="0"/>
              <a:t>(MC) How many headings are in the passage? Please count the introduction and conclusion as two. (a) 2 (b) 4  ( c) 5 </a:t>
            </a:r>
            <a:r>
              <a:rPr lang="en-US" dirty="0">
                <a:solidFill>
                  <a:srgbClr val="FF0000"/>
                </a:solidFill>
              </a:rPr>
              <a:t>(d) 7</a:t>
            </a:r>
          </a:p>
          <a:p>
            <a:pPr lvl="2"/>
            <a:r>
              <a:rPr lang="en-US" dirty="0"/>
              <a:t>(SR) How many military branches does this passage mention? </a:t>
            </a:r>
          </a:p>
          <a:p>
            <a:pPr lvl="2"/>
            <a:r>
              <a:rPr lang="en-US" dirty="0"/>
              <a:t>(T/F) The title appears before the first sentence of the passage? </a:t>
            </a:r>
            <a:r>
              <a:rPr lang="en-US" i="1" dirty="0">
                <a:solidFill>
                  <a:srgbClr val="FF0000"/>
                </a:solidFill>
              </a:rPr>
              <a:t>yes</a:t>
            </a:r>
            <a:r>
              <a:rPr lang="en-US" dirty="0"/>
              <a:t> OR  </a:t>
            </a:r>
            <a:r>
              <a:rPr lang="en-US" i="1" dirty="0">
                <a:solidFill>
                  <a:srgbClr val="FF0000"/>
                </a:solidFill>
              </a:rPr>
              <a:t>No, the title does not appear before the first sentence of the passage. The title is provided separately from the passage itself and is not included within the body of the text.</a:t>
            </a:r>
          </a:p>
          <a:p>
            <a:pPr lvl="2"/>
            <a:r>
              <a:rPr lang="en-US" dirty="0"/>
              <a:t>(</a:t>
            </a:r>
            <a:r>
              <a:rPr lang="en-US" dirty="0">
                <a:solidFill>
                  <a:srgbClr val="FF0000"/>
                </a:solidFill>
              </a:rPr>
              <a:t>T</a:t>
            </a:r>
            <a:r>
              <a:rPr lang="en-US" dirty="0"/>
              <a:t>/F) There is a specific educational opportunity mentioned for each branch of the military in the passage. </a:t>
            </a:r>
          </a:p>
          <a:p>
            <a:pPr marL="742950" lvl="1" indent="-285750">
              <a:buFont typeface="Arial" panose="020B0604020202020204" pitchFamily="34" charset="0"/>
              <a:buChar char="•"/>
            </a:pPr>
            <a:r>
              <a:rPr lang="en-US" sz="2400" dirty="0"/>
              <a:t>Intermediate: </a:t>
            </a:r>
            <a:r>
              <a:rPr lang="en-US" sz="2400" i="1" dirty="0"/>
              <a:t>Comprehension</a:t>
            </a:r>
            <a:endParaRPr lang="en-US" sz="2400" dirty="0"/>
          </a:p>
          <a:p>
            <a:pPr marL="1200150" lvl="2" indent="-285750"/>
            <a:r>
              <a:rPr lang="en-US" sz="2000" dirty="0"/>
              <a:t>(</a:t>
            </a:r>
            <a:r>
              <a:rPr lang="en-US" dirty="0"/>
              <a:t>MA</a:t>
            </a:r>
            <a:r>
              <a:rPr lang="en-US" sz="2000" dirty="0"/>
              <a:t>) Match the branch of the US military with its corresponding educational focus:</a:t>
            </a:r>
            <a:br>
              <a:rPr lang="en-US" sz="2000" dirty="0"/>
            </a:br>
            <a:br>
              <a:rPr lang="en-US" sz="2000" dirty="0"/>
            </a:br>
            <a:r>
              <a:rPr lang="en-US" sz="2000" dirty="0"/>
              <a:t>1. Army</a:t>
            </a:r>
            <a:br>
              <a:rPr lang="en-US" sz="2000" dirty="0"/>
            </a:br>
            <a:r>
              <a:rPr lang="en-US" sz="2000" dirty="0"/>
              <a:t>2. Navy</a:t>
            </a:r>
            <a:br>
              <a:rPr lang="en-US" sz="2000" dirty="0"/>
            </a:br>
            <a:r>
              <a:rPr lang="en-US" sz="2000" dirty="0"/>
              <a:t>3. Air Force</a:t>
            </a:r>
            <a:br>
              <a:rPr lang="en-US" sz="2000" dirty="0"/>
            </a:br>
            <a:r>
              <a:rPr lang="en-US" sz="2000" dirty="0"/>
              <a:t>4. Marine Corps</a:t>
            </a:r>
            <a:br>
              <a:rPr lang="en-US" sz="2000" dirty="0"/>
            </a:br>
            <a:r>
              <a:rPr lang="en-US" sz="2000" dirty="0"/>
              <a:t>5. Coast Guard</a:t>
            </a:r>
            <a:br>
              <a:rPr lang="en-US" sz="2000" dirty="0"/>
            </a:br>
            <a:br>
              <a:rPr lang="en-US" sz="2000" dirty="0"/>
            </a:br>
            <a:r>
              <a:rPr lang="en-US" sz="2000" dirty="0"/>
              <a:t>A. Technical proficiency and specialized training in areas such as engineering and navigation.</a:t>
            </a:r>
            <a:br>
              <a:rPr lang="en-US" sz="2000" dirty="0"/>
            </a:br>
            <a:r>
              <a:rPr lang="en-US" sz="2000" dirty="0"/>
              <a:t>B. Professional military education system with a focus on leadership development and critical thinking skills.</a:t>
            </a:r>
            <a:br>
              <a:rPr lang="en-US" sz="2000" dirty="0"/>
            </a:br>
            <a:r>
              <a:rPr lang="en-US" sz="2000" dirty="0"/>
              <a:t>C. Emphasis on combat readiness, leadership, and small unit tactics.</a:t>
            </a:r>
            <a:br>
              <a:rPr lang="en-US" sz="2000" dirty="0"/>
            </a:br>
            <a:r>
              <a:rPr lang="en-US" sz="2000" dirty="0"/>
              <a:t>D. Versatile and skilled professionals capable of fulfilling diverse missions.</a:t>
            </a:r>
            <a:br>
              <a:rPr lang="en-US" sz="2000" dirty="0"/>
            </a:br>
            <a:r>
              <a:rPr lang="en-US" sz="2000" dirty="0"/>
              <a:t>E. Comprehensive continuum of education with a focus on technical expertise and critical thinking skills.</a:t>
            </a:r>
            <a:br>
              <a:rPr lang="en-US" sz="2000" dirty="0"/>
            </a:br>
            <a:r>
              <a:rPr lang="en-US" sz="2000" dirty="0">
                <a:solidFill>
                  <a:srgbClr val="FF0000"/>
                </a:solidFill>
              </a:rPr>
              <a:t>1. B 2. A 3. E 4. C 5. D </a:t>
            </a:r>
          </a:p>
          <a:p>
            <a:pPr marL="1200150" lvl="2" indent="-285750">
              <a:buFont typeface="Arial" panose="020B0604020202020204" pitchFamily="34" charset="0"/>
              <a:buChar char="•"/>
            </a:pPr>
            <a:r>
              <a:rPr lang="en-US" sz="2000" dirty="0"/>
              <a:t>(T/</a:t>
            </a:r>
            <a:r>
              <a:rPr lang="en-US" sz="2000" dirty="0">
                <a:solidFill>
                  <a:srgbClr val="FF0000"/>
                </a:solidFill>
              </a:rPr>
              <a:t>F</a:t>
            </a:r>
            <a:r>
              <a:rPr lang="en-US" sz="2000" dirty="0"/>
              <a:t>) This passage expresses an opinion. </a:t>
            </a:r>
          </a:p>
          <a:p>
            <a:pPr marL="1200150" lvl="2" indent="-285750"/>
            <a:r>
              <a:rPr lang="en-US" dirty="0"/>
              <a:t>(MC) Please select an appropriate summary of the entire passage in five words or less: (a) Unique educational programs in each branch of the military </a:t>
            </a:r>
            <a:r>
              <a:rPr lang="en-US" dirty="0">
                <a:solidFill>
                  <a:srgbClr val="FF0000"/>
                </a:solidFill>
              </a:rPr>
              <a:t>(b) Military education across branches</a:t>
            </a:r>
            <a:r>
              <a:rPr lang="en-US" dirty="0"/>
              <a:t>. ( c ) which branch has better classes? (d) none of the above</a:t>
            </a:r>
          </a:p>
          <a:p>
            <a:pPr marL="1200150" lvl="2" indent="-285750"/>
            <a:r>
              <a:rPr lang="en-US" dirty="0"/>
              <a:t>(CZ) </a:t>
            </a:r>
            <a:r>
              <a:rPr lang="en-US" sz="2000" dirty="0"/>
              <a:t>Compared to the writing style of the large passage, the style of the shorter asterisked sentence is more ______. [complex/technical or synonym]</a:t>
            </a:r>
            <a:endParaRPr lang="en-US" dirty="0"/>
          </a:p>
          <a:p>
            <a:pPr marL="1200150" lvl="2" indent="-285750"/>
            <a:r>
              <a:rPr lang="en-US" dirty="0"/>
              <a:t>(T/</a:t>
            </a:r>
            <a:r>
              <a:rPr lang="en-US" dirty="0">
                <a:solidFill>
                  <a:srgbClr val="FF0000"/>
                </a:solidFill>
              </a:rPr>
              <a:t>F</a:t>
            </a:r>
            <a:r>
              <a:rPr lang="en-US" dirty="0"/>
              <a:t> + SR) Does it sound like the last asterisked sentence was written by the same person that wrote the rest of the longer passage? Explain why or why not in one word. </a:t>
            </a:r>
            <a:r>
              <a:rPr lang="en-US" i="1" dirty="0">
                <a:solidFill>
                  <a:srgbClr val="FF0000"/>
                </a:solidFill>
              </a:rPr>
              <a:t>No, technical/complexity/etc. </a:t>
            </a:r>
            <a:endParaRPr lang="en-US" dirty="0">
              <a:solidFill>
                <a:srgbClr val="FF0000"/>
              </a:solidFill>
            </a:endParaRPr>
          </a:p>
          <a:p>
            <a:pPr marL="742950" lvl="1" indent="-285750">
              <a:buFont typeface="Arial" panose="020B0604020202020204" pitchFamily="34" charset="0"/>
              <a:buChar char="•"/>
            </a:pPr>
            <a:r>
              <a:rPr lang="en-US" sz="2400" dirty="0"/>
              <a:t>Advanced: </a:t>
            </a:r>
            <a:r>
              <a:rPr lang="en-US" sz="2400" i="1" dirty="0"/>
              <a:t>Application</a:t>
            </a:r>
            <a:endParaRPr lang="en-US" dirty="0"/>
          </a:p>
          <a:p>
            <a:pPr marL="1200150" lvl="2" indent="-285750"/>
            <a:r>
              <a:rPr lang="en-US" sz="2000" dirty="0"/>
              <a:t>(</a:t>
            </a:r>
            <a:r>
              <a:rPr lang="en-US" dirty="0"/>
              <a:t>ER</a:t>
            </a:r>
            <a:r>
              <a:rPr lang="en-US" sz="2000" dirty="0"/>
              <a:t>) Please create a matrix table based on the passage provided outlining the similarities and differences in education between the different branches of the military. </a:t>
            </a:r>
          </a:p>
          <a:p>
            <a:pPr marL="1200150" lvl="2" indent="-285750"/>
            <a:r>
              <a:rPr lang="en-US" dirty="0"/>
              <a:t>(ER) On a scale of 1 to 10, with 10 being the most opportunity, rate each branch of the military by the amount of educational opportunities each has. Use the passage as a reference.</a:t>
            </a:r>
            <a:endParaRPr lang="en-US" sz="2000" dirty="0"/>
          </a:p>
          <a:p>
            <a:pPr marL="1200150" lvl="2" indent="-285750"/>
            <a:r>
              <a:rPr lang="en-US" sz="2000" dirty="0"/>
              <a:t>(SR) Please rewrite the first sentence in the passage that exclusively talks about the Navy in a more sophisticated or complex way without losing its meaning.</a:t>
            </a:r>
          </a:p>
          <a:p>
            <a:pPr marL="1200150" lvl="2" indent="-285750"/>
            <a:r>
              <a:rPr lang="en-US" dirty="0"/>
              <a:t>(MC) </a:t>
            </a:r>
            <a:r>
              <a:rPr lang="en-US" sz="2000" dirty="0"/>
              <a:t>Which single sentence found in the passage verbatim can summarize the following sentence?: </a:t>
            </a:r>
            <a:r>
              <a:rPr lang="en-US" sz="2000" i="1" dirty="0"/>
              <a:t>The Air Force's comprehensive educational programs are meticulously tailored to equip airmen with the specialized knowledge and skills necessary to navigate the intricate challenges inherent in aerial operations and ensure mission success. </a:t>
            </a:r>
            <a:r>
              <a:rPr lang="en-US" sz="2000" i="1" dirty="0">
                <a:solidFill>
                  <a:srgbClr val="FF0000"/>
                </a:solidFill>
              </a:rPr>
              <a:t>The Air Force emphasizes technical expertise, leadership development, and critical thinking skills </a:t>
            </a:r>
            <a:r>
              <a:rPr lang="en-US" sz="2000" dirty="0"/>
              <a:t>or</a:t>
            </a:r>
            <a:r>
              <a:rPr lang="en-US" sz="2000" dirty="0">
                <a:solidFill>
                  <a:srgbClr val="FF0000"/>
                </a:solidFill>
              </a:rPr>
              <a:t> </a:t>
            </a:r>
            <a:r>
              <a:rPr lang="en-US" sz="2000" i="1" dirty="0">
                <a:solidFill>
                  <a:srgbClr val="FF0000"/>
                </a:solidFill>
              </a:rPr>
              <a:t>The Air Force places a significant focus on education and professional development</a:t>
            </a:r>
            <a:endParaRPr lang="en-US" i="1" dirty="0">
              <a:solidFill>
                <a:srgbClr val="FF0000"/>
              </a:solidFill>
            </a:endParaRPr>
          </a:p>
          <a:p>
            <a:pPr marL="1200150" lvl="2" indent="-285750"/>
            <a:r>
              <a:rPr lang="en-US" sz="2000" dirty="0"/>
              <a:t>(</a:t>
            </a:r>
            <a:r>
              <a:rPr lang="en-US" dirty="0"/>
              <a:t>SR</a:t>
            </a:r>
            <a:r>
              <a:rPr lang="en-US" sz="2000" dirty="0"/>
              <a:t>) Simplify the following summary of the passage in plain language: US military branches employ tailored educational programs to cultivate proficient leaders. </a:t>
            </a:r>
          </a:p>
        </p:txBody>
      </p:sp>
      <p:sp>
        <p:nvSpPr>
          <p:cNvPr id="4" name="TextBox 3">
            <a:extLst>
              <a:ext uri="{FF2B5EF4-FFF2-40B4-BE49-F238E27FC236}">
                <a16:creationId xmlns:a16="http://schemas.microsoft.com/office/drawing/2014/main" id="{09B3BD9E-F7AB-6D3E-B000-E68C16026097}"/>
              </a:ext>
            </a:extLst>
          </p:cNvPr>
          <p:cNvSpPr txBox="1"/>
          <p:nvPr/>
        </p:nvSpPr>
        <p:spPr>
          <a:xfrm>
            <a:off x="10132073" y="6488668"/>
            <a:ext cx="2063770" cy="369332"/>
          </a:xfrm>
          <a:prstGeom prst="rect">
            <a:avLst/>
          </a:prstGeom>
          <a:noFill/>
        </p:spPr>
        <p:txBody>
          <a:bodyPr wrap="none" rtlCol="0">
            <a:spAutoFit/>
          </a:bodyPr>
          <a:lstStyle/>
          <a:p>
            <a:r>
              <a:rPr lang="en-US" dirty="0"/>
              <a:t>4. Temporal Aspects</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1</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1</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1 / 2</a:t>
            </a:r>
          </a:p>
        </p:txBody>
      </p:sp>
    </p:spTree>
    <p:extLst>
      <p:ext uri="{BB962C8B-B14F-4D97-AF65-F5344CB8AC3E}">
        <p14:creationId xmlns:p14="http://schemas.microsoft.com/office/powerpoint/2010/main" val="18405400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Long-Term</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11008364" cy="4570430"/>
          </a:xfrm>
        </p:spPr>
        <p:txBody>
          <a:bodyPr>
            <a:normAutofit fontScale="62500" lnSpcReduction="20000"/>
          </a:bodyPr>
          <a:lstStyle/>
          <a:p>
            <a:r>
              <a:rPr lang="en-US" sz="2400" dirty="0"/>
              <a:t>Engaging in prolonged conversations or complex text</a:t>
            </a:r>
          </a:p>
          <a:p>
            <a:pPr lvl="1"/>
            <a:r>
              <a:rPr lang="en-US" sz="2000" dirty="0"/>
              <a:t>Expert: </a:t>
            </a:r>
            <a:r>
              <a:rPr lang="en-US" sz="2000" i="1" dirty="0"/>
              <a:t>Analysis/Synthesis</a:t>
            </a:r>
            <a:endParaRPr lang="en-US" sz="2000" dirty="0"/>
          </a:p>
          <a:p>
            <a:pPr lvl="2"/>
            <a:r>
              <a:rPr lang="en-US" sz="1700" dirty="0"/>
              <a:t>(MA) Match the educational opportunities in each military branch with their respective mission objectives and operational requirements: (a) leadership development-oriented PME (b) specialized training in engineering, navigation, and aviation ( c ) critical thinking and technical expertise-oriented PME (d) amphibious warfare ( e ) maritime law enforcement  (</a:t>
            </a:r>
            <a:r>
              <a:rPr lang="en-US" sz="1700" dirty="0" err="1"/>
              <a:t>i</a:t>
            </a:r>
            <a:r>
              <a:rPr lang="en-US" sz="1700" dirty="0"/>
              <a:t>) Securing waterways, defending borders, suppressing violations. (ii) well-rounded and ready army leaders at all levels (iii) sea-based attacks and shoreline defense (iv) Airmen mastering complex war environments through well-rounded skills (v) naval warfare </a:t>
            </a:r>
            <a:r>
              <a:rPr lang="en-US" sz="1700" dirty="0">
                <a:solidFill>
                  <a:srgbClr val="FF0000"/>
                </a:solidFill>
              </a:rPr>
              <a:t>a.(ii) b.(v) c.(iv) d.(iii)</a:t>
            </a:r>
            <a:r>
              <a:rPr lang="en-US" sz="1700" dirty="0"/>
              <a:t> </a:t>
            </a:r>
            <a:r>
              <a:rPr lang="en-US" sz="1700" dirty="0">
                <a:solidFill>
                  <a:srgbClr val="FF0000"/>
                </a:solidFill>
              </a:rPr>
              <a:t>e.(</a:t>
            </a:r>
            <a:r>
              <a:rPr lang="en-US" sz="1700" dirty="0" err="1">
                <a:solidFill>
                  <a:srgbClr val="FF0000"/>
                </a:solidFill>
              </a:rPr>
              <a:t>i</a:t>
            </a:r>
            <a:r>
              <a:rPr lang="en-US" sz="1700" dirty="0">
                <a:solidFill>
                  <a:srgbClr val="FF0000"/>
                </a:solidFill>
              </a:rPr>
              <a:t>) </a:t>
            </a:r>
          </a:p>
          <a:p>
            <a:pPr lvl="2"/>
            <a:r>
              <a:rPr lang="en-US" sz="1700" dirty="0"/>
              <a:t>(MC) What are the similarities and differences in the educational programs offered by the Army, Navy, Air Force, Marine Corps, and Coast Guard? Select all that apply.</a:t>
            </a:r>
            <a:br>
              <a:rPr lang="en-US" sz="1700" dirty="0"/>
            </a:br>
            <a:br>
              <a:rPr lang="en-US" sz="1700" dirty="0"/>
            </a:br>
            <a:r>
              <a:rPr lang="en-US" sz="1700" dirty="0">
                <a:solidFill>
                  <a:srgbClr val="FF0000"/>
                </a:solidFill>
              </a:rPr>
              <a:t>A) All branches offer professional military education (PME) programs, but with different emphases and focuses.</a:t>
            </a:r>
            <a:br>
              <a:rPr lang="en-US" sz="1700" dirty="0">
                <a:solidFill>
                  <a:srgbClr val="FF0000"/>
                </a:solidFill>
              </a:rPr>
            </a:br>
            <a:r>
              <a:rPr lang="en-US" sz="1700" dirty="0">
                <a:solidFill>
                  <a:srgbClr val="FF0000"/>
                </a:solidFill>
              </a:rPr>
              <a:t>B) Each branch offers specialized training in areas relevant to their respective domains, such as engineering, navigation, and aviation for the Navy.</a:t>
            </a:r>
            <a:br>
              <a:rPr lang="en-US" sz="1700" dirty="0">
                <a:solidFill>
                  <a:srgbClr val="FF0000"/>
                </a:solidFill>
              </a:rPr>
            </a:br>
            <a:r>
              <a:rPr lang="en-US" sz="1700" dirty="0">
                <a:solidFill>
                  <a:srgbClr val="FF0000"/>
                </a:solidFill>
              </a:rPr>
              <a:t>C) The Army, Navy, and Air Force provide opportunities for higher education through degree programs and professional certifications.</a:t>
            </a:r>
            <a:br>
              <a:rPr lang="en-US" sz="1700" dirty="0">
                <a:solidFill>
                  <a:srgbClr val="FF0000"/>
                </a:solidFill>
              </a:rPr>
            </a:br>
            <a:r>
              <a:rPr lang="en-US" sz="1700" dirty="0"/>
              <a:t>D) The Marine Corps prioritizes the development of adaptable leaders and places a strong emphasis on combat readiness and small unit tactics.</a:t>
            </a:r>
            <a:br>
              <a:rPr lang="en-US" sz="1700" dirty="0"/>
            </a:br>
            <a:r>
              <a:rPr lang="en-US" sz="1700" dirty="0"/>
              <a:t>E) The Coast Guard's educational programs focus on developing versatile professionals capable of fulfilling diverse missions, including maritime law enforcement. </a:t>
            </a:r>
          </a:p>
          <a:p>
            <a:pPr lvl="2"/>
            <a:r>
              <a:rPr lang="en-US" sz="1700" dirty="0"/>
              <a:t>(CZ) Fill in the blanks to this question that could be asked about the passage with one word each: “How do the educational programs offered by the Army, Navy, Air Force, Marine Corps, and Coast Guard contribute to the development of _______ among their personnel, aligning with their respective _______ and _______ demands?”</a:t>
            </a:r>
          </a:p>
          <a:p>
            <a:pPr marL="1200150" lvl="2" indent="-285750"/>
            <a:r>
              <a:rPr lang="en-US" sz="1700" dirty="0"/>
              <a:t>(SR) List three single-worded ways that the educational opportunities offered by each branch of the military are similar to each other. </a:t>
            </a:r>
            <a:endParaRPr lang="en-US" sz="1700" dirty="0">
              <a:solidFill>
                <a:srgbClr val="FF0000"/>
              </a:solidFill>
            </a:endParaRPr>
          </a:p>
          <a:p>
            <a:pPr marL="1200150" lvl="2" indent="-285750"/>
            <a:r>
              <a:rPr lang="en-US" sz="1700" dirty="0"/>
              <a:t>(SR) Write a sentence in 10 words or less that summarizes the passage in a technical way. Then, simplify this sentence in plain language.</a:t>
            </a:r>
          </a:p>
          <a:p>
            <a:pPr marL="742950" lvl="1" indent="-285750"/>
            <a:r>
              <a:rPr lang="en-US" sz="2000" dirty="0"/>
              <a:t>Master: </a:t>
            </a:r>
            <a:r>
              <a:rPr lang="en-US" sz="2000" i="1" dirty="0"/>
              <a:t>Synthesis/Evaluation</a:t>
            </a:r>
            <a:endParaRPr lang="en-US" sz="2000" dirty="0"/>
          </a:p>
          <a:p>
            <a:pPr marL="1200150" lvl="2" indent="-285750"/>
            <a:r>
              <a:rPr lang="en-US" sz="1700" dirty="0"/>
              <a:t>(ER) From the passage, decide which branch of the military has the best educational opportunities and provide three distinct reasons for your decision. Please number each reason. </a:t>
            </a:r>
          </a:p>
          <a:p>
            <a:pPr marL="1200150" lvl="2" indent="-285750"/>
            <a:r>
              <a:rPr lang="en-US" sz="1700" dirty="0"/>
              <a:t>(ER) Provide a single-worded addition that each branch of the military can contribute to their educational opportunities to enhance solider outcomes. Please format your response as military branch: word for each branch.  </a:t>
            </a:r>
          </a:p>
          <a:p>
            <a:pPr marL="1200150" lvl="2" indent="-285750">
              <a:buFont typeface="Arial" panose="020B0604020202020204" pitchFamily="34" charset="0"/>
              <a:buChar char="•"/>
            </a:pPr>
            <a:r>
              <a:rPr lang="en-US" sz="1700" dirty="0"/>
              <a:t>(MC/CZ) Select the best word to fill in each blank based on the passage: The first sentence of of this passage is a [</a:t>
            </a:r>
            <a:r>
              <a:rPr lang="en-US" sz="1700" dirty="0">
                <a:solidFill>
                  <a:srgbClr val="FF0000"/>
                </a:solidFill>
              </a:rPr>
              <a:t>claim</a:t>
            </a:r>
            <a:r>
              <a:rPr lang="en-US" sz="1700" dirty="0"/>
              <a:t>/military/suggestion/persuasion], but the rest of the paragraphs simply contain [</a:t>
            </a:r>
            <a:r>
              <a:rPr lang="en-US" sz="1700" dirty="0">
                <a:solidFill>
                  <a:srgbClr val="FF0000"/>
                </a:solidFill>
              </a:rPr>
              <a:t>examples</a:t>
            </a:r>
            <a:r>
              <a:rPr lang="en-US" sz="1700" dirty="0"/>
              <a:t>/theories/warriors/opportunities] of educational opportunities that the military has. To strengthen this passage, we should support the [</a:t>
            </a:r>
            <a:r>
              <a:rPr lang="en-US" sz="1700" dirty="0">
                <a:solidFill>
                  <a:srgbClr val="FF0000"/>
                </a:solidFill>
              </a:rPr>
              <a:t>idea</a:t>
            </a:r>
            <a:r>
              <a:rPr lang="en-US" sz="1700" dirty="0"/>
              <a:t>/military/wrong/persuasion/</a:t>
            </a:r>
            <a:r>
              <a:rPr lang="en-US" sz="1700" dirty="0">
                <a:solidFill>
                  <a:srgbClr val="FF0000"/>
                </a:solidFill>
              </a:rPr>
              <a:t>claim</a:t>
            </a:r>
            <a:r>
              <a:rPr lang="en-US" sz="1700" dirty="0"/>
              <a:t>] in the first sentence with [policy/</a:t>
            </a:r>
            <a:r>
              <a:rPr lang="en-US" sz="1700" dirty="0">
                <a:solidFill>
                  <a:srgbClr val="FF0000"/>
                </a:solidFill>
              </a:rPr>
              <a:t>evidence</a:t>
            </a:r>
            <a:r>
              <a:rPr lang="en-US" sz="1700" dirty="0"/>
              <a:t>/theory/opinion] that education itself is important to military personnel success. </a:t>
            </a:r>
          </a:p>
          <a:p>
            <a:pPr marL="1200150" lvl="2" indent="-285750">
              <a:buFont typeface="Arial" panose="020B0604020202020204" pitchFamily="34" charset="0"/>
              <a:buChar char="•"/>
            </a:pPr>
            <a:r>
              <a:rPr lang="en-US" sz="1700" dirty="0"/>
              <a:t>(MC) What might be a reason for each branch of the military to have their own variations of educational opportunities, as implied by the passage? Select all that may apply. </a:t>
            </a:r>
            <a:r>
              <a:rPr lang="en-US" sz="1700" dirty="0">
                <a:solidFill>
                  <a:srgbClr val="FF0000"/>
                </a:solidFill>
              </a:rPr>
              <a:t>(a) mission-driven warfighting requires mission-specific skillsets (b) different branches have their own goals and challenges, making classroom dynamics vary from branch to branch </a:t>
            </a:r>
            <a:r>
              <a:rPr lang="en-US" sz="1700" dirty="0"/>
              <a:t>(</a:t>
            </a:r>
            <a:r>
              <a:rPr lang="en-US" sz="1700" dirty="0">
                <a:solidFill>
                  <a:srgbClr val="FF0000"/>
                </a:solidFill>
              </a:rPr>
              <a:t> </a:t>
            </a:r>
            <a:r>
              <a:rPr lang="en-US" sz="1700" dirty="0"/>
              <a:t>c ) ranks (d) distinction from different branches </a:t>
            </a:r>
          </a:p>
          <a:p>
            <a:pPr marL="1200150" lvl="2" indent="-285750">
              <a:buFont typeface="Arial" panose="020B0604020202020204" pitchFamily="34" charset="0"/>
              <a:buChar char="•"/>
            </a:pPr>
            <a:r>
              <a:rPr lang="en-US" sz="1700" dirty="0"/>
              <a:t>(SR) Does the concluding paragraph provide evidence of the claim in the first sentence? In one sentence, explain why or why not.  </a:t>
            </a:r>
          </a:p>
        </p:txBody>
      </p:sp>
      <p:sp>
        <p:nvSpPr>
          <p:cNvPr id="4" name="TextBox 3">
            <a:extLst>
              <a:ext uri="{FF2B5EF4-FFF2-40B4-BE49-F238E27FC236}">
                <a16:creationId xmlns:a16="http://schemas.microsoft.com/office/drawing/2014/main" id="{09B3BD9E-F7AB-6D3E-B000-E68C16026097}"/>
              </a:ext>
            </a:extLst>
          </p:cNvPr>
          <p:cNvSpPr txBox="1"/>
          <p:nvPr/>
        </p:nvSpPr>
        <p:spPr>
          <a:xfrm>
            <a:off x="10181129" y="6488668"/>
            <a:ext cx="2063770" cy="369332"/>
          </a:xfrm>
          <a:prstGeom prst="rect">
            <a:avLst/>
          </a:prstGeom>
          <a:noFill/>
        </p:spPr>
        <p:txBody>
          <a:bodyPr wrap="none" rtlCol="0">
            <a:spAutoFit/>
          </a:bodyPr>
          <a:lstStyle/>
          <a:p>
            <a:r>
              <a:rPr lang="en-US" dirty="0"/>
              <a:t>4. Temporal Aspects</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1</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3 / 3</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2 / 2</a:t>
            </a:r>
          </a:p>
        </p:txBody>
      </p:sp>
    </p:spTree>
    <p:extLst>
      <p:ext uri="{BB962C8B-B14F-4D97-AF65-F5344CB8AC3E}">
        <p14:creationId xmlns:p14="http://schemas.microsoft.com/office/powerpoint/2010/main" val="13848381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r>
              <a:rPr lang="en-US" dirty="0"/>
              <a:t>Social Context</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838200" y="1825625"/>
            <a:ext cx="10372344" cy="4351338"/>
          </a:xfrm>
        </p:spPr>
        <p:txBody>
          <a:bodyPr>
            <a:normAutofit/>
          </a:bodyPr>
          <a:lstStyle/>
          <a:p>
            <a:r>
              <a:rPr lang="en-US" dirty="0"/>
              <a:t>Individual</a:t>
            </a:r>
          </a:p>
          <a:p>
            <a:pPr lvl="1"/>
            <a:r>
              <a:rPr lang="en-US" dirty="0"/>
              <a:t>Responding to individual user queries </a:t>
            </a:r>
          </a:p>
          <a:p>
            <a:r>
              <a:rPr lang="en-US" dirty="0"/>
              <a:t>Interactive</a:t>
            </a:r>
          </a:p>
          <a:p>
            <a:pPr lvl="1"/>
            <a:r>
              <a:rPr lang="en-US" dirty="0"/>
              <a:t>Engaging in multi-user conversations or collaborative tasks</a:t>
            </a:r>
          </a:p>
        </p:txBody>
      </p:sp>
      <p:sp>
        <p:nvSpPr>
          <p:cNvPr id="5" name="TextBox 4">
            <a:extLst>
              <a:ext uri="{FF2B5EF4-FFF2-40B4-BE49-F238E27FC236}">
                <a16:creationId xmlns:a16="http://schemas.microsoft.com/office/drawing/2014/main" id="{F07AB50D-0BCE-05B8-256E-A1201E2FC65A}"/>
              </a:ext>
            </a:extLst>
          </p:cNvPr>
          <p:cNvSpPr txBox="1"/>
          <p:nvPr/>
        </p:nvSpPr>
        <p:spPr>
          <a:xfrm>
            <a:off x="11683527" y="6488668"/>
            <a:ext cx="508473" cy="369332"/>
          </a:xfrm>
          <a:prstGeom prst="rect">
            <a:avLst/>
          </a:prstGeom>
          <a:noFill/>
        </p:spPr>
        <p:txBody>
          <a:bodyPr wrap="none" rtlCol="0">
            <a:spAutoFit/>
          </a:bodyPr>
          <a:lstStyle/>
          <a:p>
            <a:r>
              <a:rPr lang="en-US" dirty="0"/>
              <a:t>5/8</a:t>
            </a:r>
          </a:p>
        </p:txBody>
      </p:sp>
    </p:spTree>
    <p:extLst>
      <p:ext uri="{BB962C8B-B14F-4D97-AF65-F5344CB8AC3E}">
        <p14:creationId xmlns:p14="http://schemas.microsoft.com/office/powerpoint/2010/main" val="6081647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Individual</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2899" y="1690688"/>
            <a:ext cx="5816416" cy="4570430"/>
          </a:xfrm>
        </p:spPr>
        <p:txBody>
          <a:bodyPr>
            <a:normAutofit fontScale="85000" lnSpcReduction="20000"/>
          </a:bodyPr>
          <a:lstStyle/>
          <a:p>
            <a:r>
              <a:rPr lang="en-US" sz="1400" dirty="0"/>
              <a:t>User queries:</a:t>
            </a:r>
          </a:p>
          <a:p>
            <a:pPr marL="800100" lvl="1" indent="-342900">
              <a:buFont typeface="+mj-lt"/>
              <a:buAutoNum type="arabicPeriod"/>
            </a:pPr>
            <a:r>
              <a:rPr lang="en-US" sz="1400" dirty="0"/>
              <a:t>“Can you provide a step-by-step explanation of how military aircraft are refueled during long-range missions?”</a:t>
            </a:r>
          </a:p>
          <a:p>
            <a:pPr marL="800100" lvl="1" indent="-342900">
              <a:buFont typeface="+mj-lt"/>
              <a:buAutoNum type="arabicPeriod"/>
            </a:pPr>
            <a:r>
              <a:rPr lang="en-US" sz="1400" dirty="0"/>
              <a:t>"How are military aircraft refueled during long-range missions?</a:t>
            </a:r>
          </a:p>
          <a:p>
            <a:pPr marL="800100" lvl="1" indent="-342900">
              <a:buFont typeface="+mj-lt"/>
              <a:buAutoNum type="arabicPeriod"/>
            </a:pPr>
            <a:r>
              <a:rPr lang="en-US" sz="1400" dirty="0"/>
              <a:t>“I heard that military aircraft need to refuel during long-range missions. Can you explain the process in detail, including the equipment used, the specific procedures followed, and any safety measures taken?”</a:t>
            </a:r>
          </a:p>
          <a:p>
            <a:pPr marL="800100" lvl="1" indent="-342900">
              <a:buFont typeface="+mj-lt"/>
              <a:buAutoNum type="arabicPeriod"/>
            </a:pPr>
            <a:r>
              <a:rPr lang="en-US" sz="1400" dirty="0"/>
              <a:t>“Refuel military planes long missions?”</a:t>
            </a:r>
          </a:p>
          <a:p>
            <a:pPr marL="285750" indent="-285750"/>
            <a:r>
              <a:rPr lang="en-US" sz="1400" dirty="0"/>
              <a:t>AI Responses:</a:t>
            </a:r>
          </a:p>
          <a:p>
            <a:pPr marL="800100" lvl="1" indent="-342900">
              <a:buFont typeface="+mj-lt"/>
              <a:buAutoNum type="arabicParenR"/>
            </a:pPr>
            <a:r>
              <a:rPr lang="en-US" sz="1400" dirty="0"/>
              <a:t>"During long-range missions, military aircraft are refueled through a process called aerial refueling or air-to-air refueling. Here are the step-by-step details:</a:t>
            </a:r>
            <a:br>
              <a:rPr lang="en-US" sz="1400" dirty="0"/>
            </a:br>
            <a:r>
              <a:rPr lang="en-US" sz="1400" dirty="0"/>
              <a:t>1. A tanker aircraft, equipped with a refueling system, rendezvous with the aircraft that needs to be refueled.</a:t>
            </a:r>
            <a:br>
              <a:rPr lang="en-US" sz="1400" dirty="0"/>
            </a:br>
            <a:r>
              <a:rPr lang="en-US" sz="1400" dirty="0"/>
              <a:t>2. The tanker aircraft extends its refueling boom, drogue, or probe-and-drogue system, depending on the type of aircraft being refueled.</a:t>
            </a:r>
            <a:br>
              <a:rPr lang="en-US" sz="1400" dirty="0"/>
            </a:br>
            <a:r>
              <a:rPr lang="en-US" sz="1400" dirty="0"/>
              <a:t>3. The receiving aircraft, also known as the receiver, maneuvers into position behind the tanker, aligning its refueling receptacle or probe with the refueling system of the tanker.</a:t>
            </a:r>
            <a:br>
              <a:rPr lang="en-US" sz="1400" dirty="0"/>
            </a:br>
            <a:r>
              <a:rPr lang="en-US" sz="1400" dirty="0"/>
              <a:t>4. Once properly aligned, the fuel transfer begins. Fuel is transferred from the tanker to the receiver through a hose or boom, which is connected to the respective refueling systems.</a:t>
            </a:r>
            <a:br>
              <a:rPr lang="en-US" sz="1400" dirty="0"/>
            </a:br>
            <a:r>
              <a:rPr lang="en-US" sz="1400" dirty="0"/>
              <a:t>5. The fuel flow is carefully monitored and controlled to ensure safe and efficient refueling.</a:t>
            </a:r>
            <a:br>
              <a:rPr lang="en-US" sz="1400" dirty="0"/>
            </a:br>
            <a:r>
              <a:rPr lang="en-US" sz="1400" dirty="0"/>
              <a:t>6. Once the receiver aircraft has received the required amount of fuel, it disengages from the tanker and resumes its mission.</a:t>
            </a:r>
            <a:br>
              <a:rPr lang="en-US" sz="1400" dirty="0"/>
            </a:br>
            <a:r>
              <a:rPr lang="en-US" sz="1400" dirty="0"/>
              <a:t>Aerial refueling allows military aircraft to extend their range, increase their time on station, and carry out long-range missions without the need to land and refuel at an airbase."</a:t>
            </a:r>
            <a:br>
              <a:rPr lang="en-US" sz="1400" dirty="0"/>
            </a:br>
            <a:endParaRPr lang="en-US" sz="1400" dirty="0"/>
          </a:p>
        </p:txBody>
      </p:sp>
      <p:sp>
        <p:nvSpPr>
          <p:cNvPr id="8" name="TextBox 7">
            <a:extLst>
              <a:ext uri="{FF2B5EF4-FFF2-40B4-BE49-F238E27FC236}">
                <a16:creationId xmlns:a16="http://schemas.microsoft.com/office/drawing/2014/main" id="{F3F91043-D0E7-03CC-EE4F-002C185C202F}"/>
              </a:ext>
            </a:extLst>
          </p:cNvPr>
          <p:cNvSpPr txBox="1"/>
          <p:nvPr/>
        </p:nvSpPr>
        <p:spPr>
          <a:xfrm>
            <a:off x="4213048" y="1182303"/>
            <a:ext cx="3765903" cy="369332"/>
          </a:xfrm>
          <a:prstGeom prst="rect">
            <a:avLst/>
          </a:prstGeom>
          <a:noFill/>
        </p:spPr>
        <p:txBody>
          <a:bodyPr wrap="none" rtlCol="0">
            <a:spAutoFit/>
          </a:bodyPr>
          <a:lstStyle/>
          <a:p>
            <a:r>
              <a:rPr lang="en-US" dirty="0"/>
              <a:t>Responding to individual user queries</a:t>
            </a:r>
          </a:p>
        </p:txBody>
      </p:sp>
      <p:sp>
        <p:nvSpPr>
          <p:cNvPr id="10" name="Content Placeholder 2">
            <a:extLst>
              <a:ext uri="{FF2B5EF4-FFF2-40B4-BE49-F238E27FC236}">
                <a16:creationId xmlns:a16="http://schemas.microsoft.com/office/drawing/2014/main" id="{11D8D3E7-0E77-4400-B8E5-765922121393}"/>
              </a:ext>
            </a:extLst>
          </p:cNvPr>
          <p:cNvSpPr txBox="1">
            <a:spLocks/>
          </p:cNvSpPr>
          <p:nvPr/>
        </p:nvSpPr>
        <p:spPr>
          <a:xfrm>
            <a:off x="5869315" y="1690688"/>
            <a:ext cx="5816416" cy="457043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AI responses (continued):</a:t>
            </a:r>
          </a:p>
          <a:p>
            <a:pPr marL="800100" lvl="1" indent="-342900">
              <a:buFont typeface="+mj-lt"/>
              <a:buAutoNum type="arabicParenR" startAt="2"/>
            </a:pPr>
            <a:endParaRPr lang="en-US" sz="1400" dirty="0"/>
          </a:p>
          <a:p>
            <a:pPr marL="800100" lvl="1" indent="-342900">
              <a:buFont typeface="+mj-lt"/>
              <a:buAutoNum type="arabicParenR" startAt="2"/>
            </a:pPr>
            <a:r>
              <a:rPr lang="en-US" sz="1400" dirty="0"/>
              <a:t>“During long-range missions, military aircraft can be refueled in-flight to extend their operational range. This process is known as aerial refueling or air-to-air refueling. It involves a tanker aircraft equipped with a refueling boom or drogue system that transfers fuel to the receiving aircraft. The receiving aircraft, such as fighter jets or bombers, have specialized receptacles or probes that connect to the tanker's refueling system. Once connected, fuel is transferred from the tanker to the receiving aircraft, allowing it to continue its mission without the need to land and refuel. Aerial refueling significantly enhances the range and endurance of military aircraft, enabling them to reach distant targets or stay airborne for extended periods.”</a:t>
            </a:r>
          </a:p>
          <a:p>
            <a:pPr marL="800100" lvl="1" indent="-342900">
              <a:buFont typeface="+mj-lt"/>
              <a:buAutoNum type="arabicParenR" startAt="2"/>
            </a:pPr>
            <a:r>
              <a:rPr lang="en-US" sz="1400" dirty="0"/>
              <a:t>“Aerial refueling is a complex process involving the transfer of fuel from a tanker aircraft to a receiver aircraft during long-range missions. It requires precise coordination between the two aircraft and the use of specialized equipment. Safety measures are taken to ensure the success of the refueling operation. It's like a synchronized ballet in the sky, where the fuel flows like a majestic river through the veins of the aircraft, empowering them with the energy they need to conquer the vast expanse. Additionally, the tanker aircraft may have multiple refueling systems to accommodate different types of receiver aircraft. The process is crucial for extending the range and capabilities of military aircraft during long missions.”</a:t>
            </a:r>
          </a:p>
          <a:p>
            <a:pPr marL="800100" lvl="1" indent="-342900">
              <a:buFont typeface="+mj-lt"/>
              <a:buAutoNum type="arabicParenR" startAt="2"/>
            </a:pPr>
            <a:r>
              <a:rPr lang="en-US" sz="1400" dirty="0"/>
              <a:t>“Refueling military planes during long missions is a thing. It's done with special equipment. It's important. That's all you need to know.”</a:t>
            </a:r>
          </a:p>
        </p:txBody>
      </p:sp>
    </p:spTree>
    <p:extLst>
      <p:ext uri="{BB962C8B-B14F-4D97-AF65-F5344CB8AC3E}">
        <p14:creationId xmlns:p14="http://schemas.microsoft.com/office/powerpoint/2010/main" val="17041474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Individual</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46284" y="1690688"/>
            <a:ext cx="11099432" cy="4570430"/>
          </a:xfrm>
        </p:spPr>
        <p:txBody>
          <a:bodyPr>
            <a:normAutofit fontScale="92500"/>
          </a:bodyPr>
          <a:lstStyle/>
          <a:p>
            <a:r>
              <a:rPr lang="en-US" sz="1200" dirty="0"/>
              <a:t>Responding to individual user queries</a:t>
            </a:r>
          </a:p>
          <a:p>
            <a:pPr lvl="1"/>
            <a:r>
              <a:rPr lang="en-US" sz="1100" dirty="0"/>
              <a:t>Basic: </a:t>
            </a:r>
            <a:r>
              <a:rPr lang="en-US" sz="1100" i="1" dirty="0"/>
              <a:t>Knowledge</a:t>
            </a:r>
            <a:endParaRPr lang="en-US" sz="1100" dirty="0"/>
          </a:p>
          <a:p>
            <a:pPr lvl="2"/>
            <a:r>
              <a:rPr lang="en-US" sz="900" dirty="0"/>
              <a:t>(T/</a:t>
            </a:r>
            <a:r>
              <a:rPr lang="en-US" sz="900" dirty="0">
                <a:solidFill>
                  <a:srgbClr val="FF0000"/>
                </a:solidFill>
              </a:rPr>
              <a:t>F</a:t>
            </a:r>
            <a:r>
              <a:rPr lang="en-US" sz="900" dirty="0"/>
              <a:t>) The 4</a:t>
            </a:r>
            <a:r>
              <a:rPr lang="en-US" sz="900" baseline="30000" dirty="0"/>
              <a:t>th</a:t>
            </a:r>
            <a:r>
              <a:rPr lang="en-US" sz="900" dirty="0"/>
              <a:t> version of the user query is grammatically correct.</a:t>
            </a:r>
          </a:p>
          <a:p>
            <a:pPr lvl="2"/>
            <a:r>
              <a:rPr lang="en-US" sz="900" dirty="0"/>
              <a:t>(MC/SR) List in order the character length of the AI responses (from longest to shortest).  </a:t>
            </a:r>
            <a:r>
              <a:rPr lang="en-US" sz="900" dirty="0">
                <a:solidFill>
                  <a:srgbClr val="FF0000"/>
                </a:solidFill>
              </a:rPr>
              <a:t>1.1 2.2. 3.3. 4.4</a:t>
            </a:r>
          </a:p>
          <a:p>
            <a:pPr lvl="2"/>
            <a:r>
              <a:rPr lang="en-US" sz="900" dirty="0"/>
              <a:t>(MC) From the four versions of the query, determine which type is used. Select all that apply: (a) declarative </a:t>
            </a:r>
            <a:r>
              <a:rPr lang="en-US" sz="900" dirty="0">
                <a:solidFill>
                  <a:srgbClr val="FF0000"/>
                </a:solidFill>
              </a:rPr>
              <a:t>(b) interrogative </a:t>
            </a:r>
            <a:r>
              <a:rPr lang="en-US" sz="900" dirty="0"/>
              <a:t>(c ) exclamatory (d) none of the above </a:t>
            </a:r>
          </a:p>
          <a:p>
            <a:pPr lvl="2"/>
            <a:r>
              <a:rPr lang="en-US" sz="900" dirty="0"/>
              <a:t>(</a:t>
            </a:r>
            <a:r>
              <a:rPr lang="en-US" sz="900" dirty="0">
                <a:solidFill>
                  <a:srgbClr val="FF0000"/>
                </a:solidFill>
              </a:rPr>
              <a:t>T/</a:t>
            </a:r>
            <a:r>
              <a:rPr lang="en-US" sz="900" dirty="0"/>
              <a:t>F) There is an equal number of sample user queries as there are AI responses provided in this prompt.</a:t>
            </a:r>
          </a:p>
          <a:p>
            <a:pPr lvl="2"/>
            <a:r>
              <a:rPr lang="en-US" sz="900" dirty="0"/>
              <a:t>(</a:t>
            </a:r>
            <a:r>
              <a:rPr lang="en-US" sz="900" dirty="0">
                <a:solidFill>
                  <a:srgbClr val="FF0000"/>
                </a:solidFill>
              </a:rPr>
              <a:t>T</a:t>
            </a:r>
            <a:r>
              <a:rPr lang="en-US" sz="900" dirty="0"/>
              <a:t>/F) There are two character types in this prompt: the role of inquirer and the role of responder. Their actual character titles may be different. </a:t>
            </a:r>
          </a:p>
          <a:p>
            <a:pPr marL="742950" lvl="1" indent="-285750">
              <a:buFont typeface="Arial" panose="020B0604020202020204" pitchFamily="34" charset="0"/>
              <a:buChar char="•"/>
            </a:pPr>
            <a:r>
              <a:rPr lang="en-US" sz="1100" dirty="0"/>
              <a:t>Intermediate: </a:t>
            </a:r>
            <a:r>
              <a:rPr lang="en-US" sz="1100" i="1" dirty="0"/>
              <a:t>Comprehension</a:t>
            </a:r>
            <a:endParaRPr lang="en-US" sz="1100" dirty="0"/>
          </a:p>
          <a:p>
            <a:pPr marL="1200150" lvl="2" indent="-285750"/>
            <a:r>
              <a:rPr lang="en-US" sz="900" dirty="0"/>
              <a:t>(</a:t>
            </a:r>
            <a:r>
              <a:rPr lang="en-US" sz="900" dirty="0">
                <a:solidFill>
                  <a:srgbClr val="FF0000"/>
                </a:solidFill>
              </a:rPr>
              <a:t>T</a:t>
            </a:r>
            <a:r>
              <a:rPr lang="en-US" sz="900" dirty="0"/>
              <a:t>/F) The four user queries all ask about the same topic. </a:t>
            </a:r>
          </a:p>
          <a:p>
            <a:pPr marL="1200150" lvl="2" indent="-285750">
              <a:buFont typeface="Arial" panose="020B0604020202020204" pitchFamily="34" charset="0"/>
              <a:buChar char="•"/>
            </a:pPr>
            <a:r>
              <a:rPr lang="en-US" sz="900" dirty="0"/>
              <a:t>(MC) What is the shared focus of the four queries? (a) reconnaissance (b) air force </a:t>
            </a:r>
            <a:r>
              <a:rPr lang="en-US" sz="900" dirty="0">
                <a:solidFill>
                  <a:srgbClr val="FF0000"/>
                </a:solidFill>
              </a:rPr>
              <a:t>(c ) aircraft refuel during long-range missions  </a:t>
            </a:r>
            <a:r>
              <a:rPr lang="en-US" sz="900" dirty="0"/>
              <a:t>(d) these are all different queries</a:t>
            </a:r>
          </a:p>
          <a:p>
            <a:pPr marL="1200150" lvl="2" indent="-285750"/>
            <a:r>
              <a:rPr lang="en-US" sz="900" dirty="0"/>
              <a:t>(MA) Match the components of the following user query with components that the AI uses to deliver an appropriate response:</a:t>
            </a:r>
          </a:p>
          <a:p>
            <a:pPr marL="1200150" lvl="2" indent="-285750"/>
            <a:r>
              <a:rPr lang="en-US" sz="900" dirty="0"/>
              <a:t>(a) request for information (b) topic (c ) level of detail (d) context  </a:t>
            </a:r>
            <a:r>
              <a:rPr lang="en-US" sz="900" dirty="0" err="1"/>
              <a:t>i</a:t>
            </a:r>
            <a:r>
              <a:rPr lang="en-US" sz="900" dirty="0"/>
              <a:t>.” step-by-step explanation” ii. “how military aircraft are refueled” </a:t>
            </a:r>
            <a:r>
              <a:rPr lang="en-US" sz="900" dirty="0" err="1"/>
              <a:t>Iii</a:t>
            </a:r>
            <a:r>
              <a:rPr lang="en-US" sz="900" dirty="0"/>
              <a:t>. “long-range missions” Iv. “can you provide” </a:t>
            </a:r>
            <a:r>
              <a:rPr lang="en-US" sz="900" dirty="0" err="1">
                <a:solidFill>
                  <a:srgbClr val="FF0000"/>
                </a:solidFill>
              </a:rPr>
              <a:t>a.iv</a:t>
            </a:r>
            <a:r>
              <a:rPr lang="en-US" sz="900" dirty="0">
                <a:solidFill>
                  <a:srgbClr val="FF0000"/>
                </a:solidFill>
              </a:rPr>
              <a:t> </a:t>
            </a:r>
            <a:r>
              <a:rPr lang="en-US" sz="900" dirty="0" err="1">
                <a:solidFill>
                  <a:srgbClr val="FF0000"/>
                </a:solidFill>
              </a:rPr>
              <a:t>b.ii</a:t>
            </a:r>
            <a:r>
              <a:rPr lang="en-US" sz="900" dirty="0">
                <a:solidFill>
                  <a:srgbClr val="FF0000"/>
                </a:solidFill>
              </a:rPr>
              <a:t> </a:t>
            </a:r>
            <a:r>
              <a:rPr lang="en-US" sz="900" dirty="0" err="1">
                <a:solidFill>
                  <a:srgbClr val="FF0000"/>
                </a:solidFill>
              </a:rPr>
              <a:t>c.i</a:t>
            </a:r>
            <a:r>
              <a:rPr lang="en-US" sz="900" dirty="0">
                <a:solidFill>
                  <a:srgbClr val="FF0000"/>
                </a:solidFill>
              </a:rPr>
              <a:t> </a:t>
            </a:r>
            <a:r>
              <a:rPr lang="en-US" sz="900" dirty="0" err="1">
                <a:solidFill>
                  <a:srgbClr val="FF0000"/>
                </a:solidFill>
              </a:rPr>
              <a:t>d.iii</a:t>
            </a:r>
            <a:r>
              <a:rPr lang="en-US" sz="900" dirty="0">
                <a:solidFill>
                  <a:srgbClr val="FF0000"/>
                </a:solidFill>
              </a:rPr>
              <a:t> </a:t>
            </a:r>
          </a:p>
          <a:p>
            <a:pPr marL="1200150" lvl="2" indent="-285750"/>
            <a:r>
              <a:rPr lang="en-US" sz="900" dirty="0"/>
              <a:t>(CZ) Using the context of the rest of the user queries, please fill in the blanks to make the 4th version of the user query grammatically correct: </a:t>
            </a:r>
            <a:r>
              <a:rPr lang="en-US" sz="900" u="sng" dirty="0">
                <a:solidFill>
                  <a:srgbClr val="FF0000"/>
                </a:solidFill>
              </a:rPr>
              <a:t>How</a:t>
            </a:r>
            <a:r>
              <a:rPr lang="en-US" sz="900" dirty="0"/>
              <a:t> do Airmen refuel military planes </a:t>
            </a:r>
            <a:r>
              <a:rPr lang="en-US" sz="900" u="sng" dirty="0">
                <a:solidFill>
                  <a:srgbClr val="FF0000"/>
                </a:solidFill>
              </a:rPr>
              <a:t>during</a:t>
            </a:r>
            <a:r>
              <a:rPr lang="en-US" sz="900" dirty="0"/>
              <a:t> long missions?</a:t>
            </a:r>
          </a:p>
          <a:p>
            <a:pPr marL="1200150" lvl="2" indent="-285750">
              <a:buFont typeface="Arial" panose="020B0604020202020204" pitchFamily="34" charset="0"/>
              <a:buChar char="•"/>
            </a:pPr>
            <a:r>
              <a:rPr lang="en-US" sz="900" dirty="0"/>
              <a:t>(SR) In no more than two sentences totaling less than 30 words, explain how aircraft refueling works.  </a:t>
            </a:r>
          </a:p>
          <a:p>
            <a:pPr marL="742950" lvl="1" indent="-285750">
              <a:buFont typeface="Arial" panose="020B0604020202020204" pitchFamily="34" charset="0"/>
              <a:buChar char="•"/>
            </a:pPr>
            <a:r>
              <a:rPr lang="en-US" sz="1100" dirty="0"/>
              <a:t>Advanced: </a:t>
            </a:r>
            <a:r>
              <a:rPr lang="en-US" sz="1100" i="1" dirty="0"/>
              <a:t>Application</a:t>
            </a:r>
            <a:endParaRPr lang="en-US" sz="1100" dirty="0"/>
          </a:p>
          <a:p>
            <a:pPr marL="1200150" lvl="2" indent="-285750"/>
            <a:r>
              <a:rPr lang="en-US" sz="900" dirty="0"/>
              <a:t>(SR) Please create a decision or flow tree that outlines the steps the AI would take to determine the most suitable response (e.g. response 1) for a well-written query (e.g. query 1).</a:t>
            </a:r>
          </a:p>
          <a:p>
            <a:pPr marL="1200150" lvl="2" indent="-285750"/>
            <a:r>
              <a:rPr lang="en-US" sz="900" dirty="0"/>
              <a:t>(MC) Imagine you are developing an AI system based on the prompt. How would you design and implement a scoring mechanism to evaluate the quality of AI responses, taking into account factors such as relevance, accuracy, and clarity? a) Assign a random score to each response without considering any specific factors. b) Develop a rule-based system that assigns scores based on the length of the response. c) Implement a machine learning model that analyzes user feedback to determine response quality. </a:t>
            </a:r>
            <a:r>
              <a:rPr lang="en-US" sz="900" dirty="0">
                <a:solidFill>
                  <a:srgbClr val="FF0000"/>
                </a:solidFill>
              </a:rPr>
              <a:t>d) Use a combination of predefined rules and user feedback to assign scores based on relevance, accuracy, and clarity. </a:t>
            </a:r>
          </a:p>
          <a:p>
            <a:pPr marL="1200150" lvl="2" indent="-285750"/>
            <a:r>
              <a:rPr lang="en-US" sz="900" dirty="0"/>
              <a:t>(MC) Based on the prompt, which of the following options would be considered a set of guidelines or best practices for training AI models to generate high-quality responses the question of refueling aircraft? a) Train the AI model using only a limited dataset without considering the diversity of user queries. b) Use a single algorithm without exploring different approaches or techniques. </a:t>
            </a:r>
            <a:r>
              <a:rPr lang="en-US" sz="900" dirty="0">
                <a:solidFill>
                  <a:srgbClr val="FF0000"/>
                </a:solidFill>
              </a:rPr>
              <a:t>c) Incorporate a large and diverse dataset to train the AI model, considering various user queries and responses.</a:t>
            </a:r>
            <a:r>
              <a:rPr lang="en-US" sz="900" dirty="0"/>
              <a:t> d) Rely solely on pre-existing AI models without any fine-tuning or customization.</a:t>
            </a:r>
            <a:endParaRPr lang="en-US" sz="900" dirty="0">
              <a:solidFill>
                <a:srgbClr val="FF0000"/>
              </a:solidFill>
            </a:endParaRPr>
          </a:p>
          <a:p>
            <a:pPr marL="1200150" lvl="2" indent="-285750"/>
            <a:r>
              <a:rPr lang="en-US" sz="900" dirty="0"/>
              <a:t>(MC) Based on the prompt, which of the following options would be considered a set of guidelines or best practices for training AI models to generate high-quality responses to the question of refueling aircraft? a) Train the AI model using only a limited dataset without considering the diversity of user queries. b) Use a single algorithm without exploring different approaches or techniques. </a:t>
            </a:r>
            <a:r>
              <a:rPr lang="en-US" sz="900" dirty="0">
                <a:solidFill>
                  <a:srgbClr val="FF0000"/>
                </a:solidFill>
              </a:rPr>
              <a:t>c) Incorporate a large and diverse dataset to train the AI model, considering various versions and specifications of the queries and responses.  </a:t>
            </a:r>
            <a:r>
              <a:rPr lang="en-US" sz="900" dirty="0"/>
              <a:t>d) Rely solely on pre-existing AI models or aircraft refueling datasets without any fine-tuning or customization.</a:t>
            </a:r>
            <a:endParaRPr lang="en-US" sz="900" dirty="0">
              <a:solidFill>
                <a:srgbClr val="FF0000"/>
              </a:solidFill>
            </a:endParaRPr>
          </a:p>
          <a:p>
            <a:pPr marL="1200150" lvl="2" indent="-285750"/>
            <a:r>
              <a:rPr lang="en-US" sz="900" dirty="0"/>
              <a:t>(SR/ER) In the prompt, are there any instances where the AI response included irrelevant information or jargon that detracted from the quality of the response? Can you provide an example and suggest how the response could have been refined to eliminate the irrelevant details?</a:t>
            </a:r>
            <a:endParaRPr lang="en-US" sz="900" dirty="0">
              <a:solidFill>
                <a:srgbClr val="FF0000"/>
              </a:solidFill>
            </a:endParaRPr>
          </a:p>
        </p:txBody>
      </p:sp>
      <p:sp>
        <p:nvSpPr>
          <p:cNvPr id="4" name="TextBox 3">
            <a:extLst>
              <a:ext uri="{FF2B5EF4-FFF2-40B4-BE49-F238E27FC236}">
                <a16:creationId xmlns:a16="http://schemas.microsoft.com/office/drawing/2014/main" id="{09B3BD9E-F7AB-6D3E-B000-E68C16026097}"/>
              </a:ext>
            </a:extLst>
          </p:cNvPr>
          <p:cNvSpPr txBox="1"/>
          <p:nvPr/>
        </p:nvSpPr>
        <p:spPr>
          <a:xfrm>
            <a:off x="10456589" y="6488668"/>
            <a:ext cx="1735411" cy="369332"/>
          </a:xfrm>
          <a:prstGeom prst="rect">
            <a:avLst/>
          </a:prstGeom>
          <a:noFill/>
        </p:spPr>
        <p:txBody>
          <a:bodyPr wrap="none" rtlCol="0">
            <a:spAutoFit/>
          </a:bodyPr>
          <a:lstStyle/>
          <a:p>
            <a:r>
              <a:rPr lang="en-US" dirty="0"/>
              <a:t>5. Social Context</a:t>
            </a:r>
          </a:p>
        </p:txBody>
      </p:sp>
    </p:spTree>
    <p:extLst>
      <p:ext uri="{BB962C8B-B14F-4D97-AF65-F5344CB8AC3E}">
        <p14:creationId xmlns:p14="http://schemas.microsoft.com/office/powerpoint/2010/main" val="16368338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Individual</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11008364" cy="4570430"/>
          </a:xfrm>
        </p:spPr>
        <p:txBody>
          <a:bodyPr>
            <a:normAutofit fontScale="77500" lnSpcReduction="20000"/>
          </a:bodyPr>
          <a:lstStyle/>
          <a:p>
            <a:r>
              <a:rPr lang="en-US" sz="2400" dirty="0"/>
              <a:t>Responding to individual user queries</a:t>
            </a:r>
          </a:p>
          <a:p>
            <a:pPr lvl="1"/>
            <a:r>
              <a:rPr lang="en-US" sz="2000" dirty="0"/>
              <a:t>Expert: </a:t>
            </a:r>
            <a:r>
              <a:rPr lang="en-US" sz="2000" i="1" dirty="0"/>
              <a:t>Analysis/Synthesis</a:t>
            </a:r>
            <a:endParaRPr lang="en-US" sz="2000" dirty="0"/>
          </a:p>
          <a:p>
            <a:pPr lvl="2"/>
            <a:r>
              <a:rPr lang="en-US" sz="1700" dirty="0"/>
              <a:t>(MC) Using both your own knowledge and the context of this prompt, does character count of the AI responses correlate to the quality of the response? (a) </a:t>
            </a:r>
            <a:r>
              <a:rPr lang="en-US" sz="1700" dirty="0">
                <a:solidFill>
                  <a:srgbClr val="FF0000"/>
                </a:solidFill>
              </a:rPr>
              <a:t>no: accuracy and brevity may result in a shorter response </a:t>
            </a:r>
            <a:r>
              <a:rPr lang="en-US" sz="1700" dirty="0"/>
              <a:t>(b) yes: valid explanations often cut too short ( c) no: the quality of these responses does not rank the same as the character count (d) yes: these four responses rank the same with word count as with quality.</a:t>
            </a:r>
          </a:p>
          <a:p>
            <a:pPr marL="1200150" lvl="2" indent="-285750">
              <a:buFont typeface="Arial" panose="020B0604020202020204" pitchFamily="34" charset="0"/>
              <a:buChar char="•"/>
            </a:pPr>
            <a:r>
              <a:rPr lang="en-US" sz="1700" dirty="0"/>
              <a:t>(SR) Please identify the irrelevant, off-topic, or jargon-filled sentence(s) in AI response #3. </a:t>
            </a:r>
            <a:r>
              <a:rPr lang="en-US" sz="1700" i="1" dirty="0">
                <a:solidFill>
                  <a:srgbClr val="FF0000"/>
                </a:solidFill>
              </a:rPr>
              <a:t>It's like a synchronized ballet in the sky, where the fuel flows like a majestic river through the veins of the aircraft, empowering them with the energy they need to conquer the vast expanse. </a:t>
            </a:r>
            <a:endParaRPr lang="en-US" sz="1700" dirty="0">
              <a:solidFill>
                <a:srgbClr val="FF0000"/>
              </a:solidFill>
            </a:endParaRPr>
          </a:p>
          <a:p>
            <a:pPr marL="1200150" lvl="2" indent="-285750"/>
            <a:r>
              <a:rPr lang="en-US" sz="1700" dirty="0"/>
              <a:t>(MC) If you clean up the language of user query #3, which other query does it most closely resemble? </a:t>
            </a:r>
            <a:r>
              <a:rPr lang="en-US" sz="1700" dirty="0">
                <a:solidFill>
                  <a:srgbClr val="FF0000"/>
                </a:solidFill>
              </a:rPr>
              <a:t>(a) #1 </a:t>
            </a:r>
            <a:r>
              <a:rPr lang="en-US" sz="1700" dirty="0"/>
              <a:t>(b) #2 (c ) #3 (d) #4</a:t>
            </a:r>
            <a:endParaRPr lang="en-US" sz="1700" dirty="0">
              <a:solidFill>
                <a:srgbClr val="FF0000"/>
              </a:solidFill>
            </a:endParaRPr>
          </a:p>
          <a:p>
            <a:pPr marL="1200150" lvl="2" indent="-285750"/>
            <a:r>
              <a:rPr lang="en-US" sz="1700" dirty="0"/>
              <a:t>(SR/MC) Which three-worded phrase in user query #3 is irrelevant for the AI to respond to? </a:t>
            </a:r>
            <a:r>
              <a:rPr lang="en-US" sz="1700" i="1" dirty="0">
                <a:solidFill>
                  <a:srgbClr val="FF0000"/>
                </a:solidFill>
              </a:rPr>
              <a:t>I heard that </a:t>
            </a:r>
          </a:p>
          <a:p>
            <a:pPr marL="1200150" lvl="2" indent="-285750"/>
            <a:r>
              <a:rPr lang="en-US" sz="1700" dirty="0"/>
              <a:t>(SR) Are there any indications in any of the user queries that would have told the AI to respond with six steps in response 1? In one sentence, explain how the user should know that this is the a valid/most optimal response to their inquiry. </a:t>
            </a:r>
          </a:p>
          <a:p>
            <a:pPr marL="742950" lvl="1" indent="-285750"/>
            <a:r>
              <a:rPr lang="en-US" sz="2000" dirty="0"/>
              <a:t>Master: </a:t>
            </a:r>
            <a:r>
              <a:rPr lang="en-US" sz="2000" i="1" dirty="0"/>
              <a:t>Synthesis/Evaluation</a:t>
            </a:r>
            <a:endParaRPr lang="en-US" sz="2000" dirty="0"/>
          </a:p>
          <a:p>
            <a:pPr marL="1200150" lvl="2" indent="-285750"/>
            <a:r>
              <a:rPr lang="en-US" sz="1700" dirty="0"/>
              <a:t>(MC/MA) Rank the user questions and the AI responses by quality. Match the user queries to the AI response by quality. </a:t>
            </a:r>
            <a:r>
              <a:rPr lang="en-US" sz="1700" dirty="0">
                <a:solidFill>
                  <a:srgbClr val="FF0000"/>
                </a:solidFill>
              </a:rPr>
              <a:t>1.1. 2.2. 3.3. 4.4. </a:t>
            </a:r>
            <a:endParaRPr lang="en-US" sz="1700" i="1" dirty="0">
              <a:solidFill>
                <a:srgbClr val="FF0000"/>
              </a:solidFill>
            </a:endParaRPr>
          </a:p>
          <a:p>
            <a:pPr marL="1200150" lvl="2" indent="-285750"/>
            <a:r>
              <a:rPr lang="en-US" sz="1700" dirty="0"/>
              <a:t>(MC) Please identify the instances in AI response #3 where the AI can expand to better break down the steps requested. [</a:t>
            </a:r>
            <a:r>
              <a:rPr lang="en-US" sz="1700" dirty="0">
                <a:solidFill>
                  <a:srgbClr val="FF0000"/>
                </a:solidFill>
              </a:rPr>
              <a:t>steps breakdown</a:t>
            </a:r>
            <a:r>
              <a:rPr lang="en-US" sz="1700" dirty="0"/>
              <a:t>]</a:t>
            </a:r>
          </a:p>
          <a:p>
            <a:pPr marL="1200150" lvl="2" indent="-285750"/>
            <a:r>
              <a:rPr lang="en-US" sz="1700" dirty="0"/>
              <a:t>(MC) How would you characterize the tone of AI response #4, based off the user query #1? Select all that apply: </a:t>
            </a:r>
            <a:r>
              <a:rPr lang="en-US" sz="1700" dirty="0">
                <a:solidFill>
                  <a:srgbClr val="FF0000"/>
                </a:solidFill>
              </a:rPr>
              <a:t>(a) dismissive </a:t>
            </a:r>
            <a:r>
              <a:rPr lang="en-US" sz="1700" dirty="0"/>
              <a:t>(b) thorough (c ) apropos (d) training </a:t>
            </a:r>
            <a:r>
              <a:rPr lang="en-US" sz="1700" dirty="0">
                <a:solidFill>
                  <a:srgbClr val="FF0000"/>
                </a:solidFill>
              </a:rPr>
              <a:t>(e ) unhelpful </a:t>
            </a:r>
            <a:endParaRPr lang="en-US" sz="1700" i="1" dirty="0">
              <a:solidFill>
                <a:srgbClr val="FF0000"/>
              </a:solidFill>
            </a:endParaRPr>
          </a:p>
          <a:p>
            <a:pPr marL="1200150" lvl="2" indent="-285750">
              <a:buFont typeface="Arial" panose="020B0604020202020204" pitchFamily="34" charset="0"/>
              <a:buChar char="•"/>
            </a:pPr>
            <a:r>
              <a:rPr lang="en-US" sz="1700" dirty="0"/>
              <a:t>(CZ) Based on user query #4, which is the best response that user could realistically expect an AI to deliver? Select all that may apply. (a) #1 </a:t>
            </a:r>
            <a:r>
              <a:rPr lang="en-US" sz="1700" dirty="0">
                <a:solidFill>
                  <a:srgbClr val="FF0000"/>
                </a:solidFill>
              </a:rPr>
              <a:t>(b) #2 </a:t>
            </a:r>
            <a:r>
              <a:rPr lang="en-US" sz="1700" dirty="0"/>
              <a:t>(c ) #4 </a:t>
            </a:r>
            <a:r>
              <a:rPr lang="en-US" sz="1700" dirty="0">
                <a:solidFill>
                  <a:srgbClr val="FF0000"/>
                </a:solidFill>
              </a:rPr>
              <a:t>(d) none—the AI would ask the user to clarify</a:t>
            </a:r>
          </a:p>
          <a:p>
            <a:pPr marL="1200150" lvl="2" indent="-285750">
              <a:buFont typeface="Arial" panose="020B0604020202020204" pitchFamily="34" charset="0"/>
              <a:buChar char="•"/>
            </a:pPr>
            <a:r>
              <a:rPr lang="en-US" sz="1700" dirty="0"/>
              <a:t>(SR) Write one more sentence that can be added to the first user query that would elicit an even more thorough response without changing the meaning of the query. </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7" name="TextBox 6">
            <a:extLst>
              <a:ext uri="{FF2B5EF4-FFF2-40B4-BE49-F238E27FC236}">
                <a16:creationId xmlns:a16="http://schemas.microsoft.com/office/drawing/2014/main" id="{75BAAA21-B4F0-B99E-B418-C9AA5567ACDF}"/>
              </a:ext>
            </a:extLst>
          </p:cNvPr>
          <p:cNvSpPr txBox="1"/>
          <p:nvPr/>
        </p:nvSpPr>
        <p:spPr>
          <a:xfrm>
            <a:off x="10456589" y="6488668"/>
            <a:ext cx="1735411" cy="369332"/>
          </a:xfrm>
          <a:prstGeom prst="rect">
            <a:avLst/>
          </a:prstGeom>
          <a:noFill/>
        </p:spPr>
        <p:txBody>
          <a:bodyPr wrap="none" rtlCol="0">
            <a:spAutoFit/>
          </a:bodyPr>
          <a:lstStyle/>
          <a:p>
            <a:r>
              <a:rPr lang="en-US" dirty="0"/>
              <a:t>5. Social Context</a:t>
            </a:r>
          </a:p>
        </p:txBody>
      </p:sp>
    </p:spTree>
    <p:extLst>
      <p:ext uri="{BB962C8B-B14F-4D97-AF65-F5344CB8AC3E}">
        <p14:creationId xmlns:p14="http://schemas.microsoft.com/office/powerpoint/2010/main" val="42879444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Interactive</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2899" y="1690688"/>
            <a:ext cx="5816416" cy="4570430"/>
          </a:xfrm>
        </p:spPr>
        <p:txBody>
          <a:bodyPr>
            <a:normAutofit/>
          </a:bodyPr>
          <a:lstStyle/>
          <a:p>
            <a:r>
              <a:rPr lang="en-US" sz="1400" dirty="0"/>
              <a:t>Prompt 1: Joint warfighting dialogue between three officers</a:t>
            </a:r>
          </a:p>
          <a:p>
            <a:pPr marL="742950" lvl="1" indent="-285750"/>
            <a:r>
              <a:rPr lang="en-US" sz="1400" dirty="0"/>
              <a:t>Officer 1 (O1): "Our objective is to secure the enemy's stronghold. We need a coordinated approach."</a:t>
            </a:r>
          </a:p>
          <a:p>
            <a:pPr marL="742950" lvl="1" indent="-285750"/>
            <a:r>
              <a:rPr lang="en-US" sz="1400" dirty="0"/>
              <a:t>O2: "Agreed. The ________ can provide aerial reconnaissance and precision strikes to weaken their defenses."</a:t>
            </a:r>
          </a:p>
          <a:p>
            <a:pPr marL="742950" lvl="1" indent="-285750"/>
            <a:r>
              <a:rPr lang="en-US" sz="1400" dirty="0"/>
              <a:t>O3: "The _____ can then launch a ground assault, supported by artillery and armored units.”</a:t>
            </a:r>
          </a:p>
          <a:p>
            <a:pPr marL="742950" lvl="1" indent="-285750"/>
            <a:r>
              <a:rPr lang="en-US" sz="1400" dirty="0"/>
              <a:t>O1: "The _____ can provide offshore support with naval gunfire and amphibious capabilities."</a:t>
            </a:r>
          </a:p>
          <a:p>
            <a:pPr marL="742950" lvl="1" indent="-285750"/>
            <a:r>
              <a:rPr lang="en-US" sz="1400" dirty="0"/>
              <a:t>O2: "We should also establish a joint command center for real-time communication and situational awareness."</a:t>
            </a:r>
          </a:p>
          <a:p>
            <a:pPr marL="742950" lvl="1" indent="-285750"/>
            <a:r>
              <a:rPr lang="en-US" sz="1400" dirty="0"/>
              <a:t>O3: "Excellent. Let's finalize the plan and allocate resources accordingly for a synchronized and decisive operation."</a:t>
            </a:r>
          </a:p>
          <a:p>
            <a:pPr marL="742950" lvl="1" indent="-285750"/>
            <a:endParaRPr lang="en-US" sz="1400" dirty="0"/>
          </a:p>
        </p:txBody>
      </p:sp>
      <p:sp>
        <p:nvSpPr>
          <p:cNvPr id="8" name="TextBox 7">
            <a:extLst>
              <a:ext uri="{FF2B5EF4-FFF2-40B4-BE49-F238E27FC236}">
                <a16:creationId xmlns:a16="http://schemas.microsoft.com/office/drawing/2014/main" id="{F3F91043-D0E7-03CC-EE4F-002C185C202F}"/>
              </a:ext>
            </a:extLst>
          </p:cNvPr>
          <p:cNvSpPr txBox="1"/>
          <p:nvPr/>
        </p:nvSpPr>
        <p:spPr>
          <a:xfrm>
            <a:off x="3269296" y="1159726"/>
            <a:ext cx="5653407" cy="369332"/>
          </a:xfrm>
          <a:prstGeom prst="rect">
            <a:avLst/>
          </a:prstGeom>
          <a:noFill/>
        </p:spPr>
        <p:txBody>
          <a:bodyPr wrap="none" rtlCol="0">
            <a:spAutoFit/>
          </a:bodyPr>
          <a:lstStyle/>
          <a:p>
            <a:r>
              <a:rPr lang="en-US" dirty="0"/>
              <a:t>Engaging in multi-user conversations or collaborative tasks</a:t>
            </a:r>
          </a:p>
        </p:txBody>
      </p:sp>
      <p:sp>
        <p:nvSpPr>
          <p:cNvPr id="10" name="Content Placeholder 2">
            <a:extLst>
              <a:ext uri="{FF2B5EF4-FFF2-40B4-BE49-F238E27FC236}">
                <a16:creationId xmlns:a16="http://schemas.microsoft.com/office/drawing/2014/main" id="{11D8D3E7-0E77-4400-B8E5-765922121393}"/>
              </a:ext>
            </a:extLst>
          </p:cNvPr>
          <p:cNvSpPr txBox="1">
            <a:spLocks/>
          </p:cNvSpPr>
          <p:nvPr/>
        </p:nvSpPr>
        <p:spPr>
          <a:xfrm>
            <a:off x="5869315" y="1690688"/>
            <a:ext cx="5816416" cy="457043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Prompt 2: Employ AI for joint warfighting strategizing </a:t>
            </a:r>
          </a:p>
          <a:p>
            <a:r>
              <a:rPr lang="en-US" sz="1400" b="1" dirty="0"/>
              <a:t>Instructions:</a:t>
            </a:r>
            <a:r>
              <a:rPr lang="en-US" sz="1400" dirty="0"/>
              <a:t> </a:t>
            </a:r>
            <a:r>
              <a:rPr lang="en-US" sz="1400" b="1" dirty="0"/>
              <a:t>either enter this dialogue in at once or enter line-by-line into AI chatbot in order to test responses. If line-by-line, follow bolded instructions.</a:t>
            </a:r>
          </a:p>
          <a:p>
            <a:pPr marL="742950" lvl="1" indent="-285750"/>
            <a:r>
              <a:rPr lang="en-US" sz="1400" dirty="0"/>
              <a:t>O2: To take the enemy’s high-altitude stronghold, I suggest using my troops to provide aerial reconnaissance and air-based precision strikes.  </a:t>
            </a:r>
          </a:p>
          <a:p>
            <a:pPr marL="742950" lvl="1" indent="-285750"/>
            <a:r>
              <a:rPr lang="en-US" sz="1400" dirty="0"/>
              <a:t>O1: I think we should prepare both an on-ground assault and an aerial offense as part of our joint strategy. [AI Chatbot name], please provide two possible actions that incorporate both of our strategies. </a:t>
            </a:r>
          </a:p>
          <a:p>
            <a:pPr marL="742950" lvl="1" indent="-285750"/>
            <a:r>
              <a:rPr lang="en-US" sz="1400" dirty="0"/>
              <a:t>AI: Sure! Here are two possible strategies:</a:t>
            </a:r>
          </a:p>
          <a:p>
            <a:pPr marL="1200150" lvl="2" indent="-285750"/>
            <a:r>
              <a:rPr lang="en-US" sz="1000" dirty="0"/>
              <a:t>Response A: A combined arms blitz could successfully overwhelm the enemy. </a:t>
            </a:r>
          </a:p>
          <a:p>
            <a:pPr marL="1200150" lvl="2" indent="-285750"/>
            <a:r>
              <a:rPr lang="en-US" sz="1000" dirty="0"/>
              <a:t>Response B: A counterinsurgency could infiltrate and disrupt the enemy. </a:t>
            </a:r>
          </a:p>
          <a:p>
            <a:pPr marL="742950" lvl="1" indent="-285750"/>
            <a:r>
              <a:rPr lang="en-US" sz="1400" dirty="0"/>
              <a:t>O1: ________</a:t>
            </a:r>
          </a:p>
          <a:p>
            <a:pPr marL="742950" lvl="1" indent="-285750"/>
            <a:r>
              <a:rPr lang="en-US" sz="1400" dirty="0"/>
              <a:t>AI: As an AI, I cannot express nor confirm opinions. I can, however, offer sample perspectives: </a:t>
            </a:r>
          </a:p>
          <a:p>
            <a:pPr marL="1200150" lvl="2" indent="-285750"/>
            <a:r>
              <a:rPr lang="en-US" sz="1000" dirty="0"/>
              <a:t>Response C: An arms blitz may be quicker, but a counterinsurgency would likely result in less casualties.</a:t>
            </a:r>
          </a:p>
          <a:p>
            <a:pPr marL="1200150" lvl="2" indent="-285750"/>
            <a:r>
              <a:rPr lang="en-US" sz="1000" dirty="0"/>
              <a:t>Response D: _______</a:t>
            </a:r>
          </a:p>
          <a:p>
            <a:pPr marL="742950" lvl="1" indent="-285750"/>
            <a:r>
              <a:rPr lang="en-US" sz="1400" dirty="0"/>
              <a:t>O2: I like Response D the best because it optimizes time and minimizes lives lost.</a:t>
            </a:r>
          </a:p>
          <a:p>
            <a:pPr marL="742950" lvl="1" indent="-285750"/>
            <a:endParaRPr lang="en-US" sz="1400" dirty="0"/>
          </a:p>
        </p:txBody>
      </p:sp>
    </p:spTree>
    <p:extLst>
      <p:ext uri="{BB962C8B-B14F-4D97-AF65-F5344CB8AC3E}">
        <p14:creationId xmlns:p14="http://schemas.microsoft.com/office/powerpoint/2010/main" val="29937928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Interactive</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46284" y="1690688"/>
            <a:ext cx="11099432" cy="4570430"/>
          </a:xfrm>
        </p:spPr>
        <p:txBody>
          <a:bodyPr>
            <a:normAutofit fontScale="55000" lnSpcReduction="20000"/>
          </a:bodyPr>
          <a:lstStyle/>
          <a:p>
            <a:r>
              <a:rPr lang="en-US" dirty="0"/>
              <a:t>Engaging in multi-user conversations or collaborative tasks</a:t>
            </a:r>
          </a:p>
          <a:p>
            <a:pPr lvl="1"/>
            <a:r>
              <a:rPr lang="en-US" dirty="0"/>
              <a:t>Basic: </a:t>
            </a:r>
            <a:r>
              <a:rPr lang="en-US" i="1" dirty="0"/>
              <a:t>Knowledge</a:t>
            </a:r>
            <a:endParaRPr lang="en-US" dirty="0"/>
          </a:p>
          <a:p>
            <a:pPr lvl="2"/>
            <a:r>
              <a:rPr lang="en-US" dirty="0"/>
              <a:t>(MC) How many officers are engaged in the conversation of prompt 1? (a) two (b) three ( c ) four (d) none—they’re not officers </a:t>
            </a:r>
          </a:p>
          <a:p>
            <a:pPr lvl="2"/>
            <a:r>
              <a:rPr lang="en-US" dirty="0"/>
              <a:t>(MC) How many times does each officer talk in prompt 1? (a) once (b) twice ( c) varies for each officer (d) non—they’re not communicating</a:t>
            </a:r>
          </a:p>
          <a:p>
            <a:pPr lvl="2"/>
            <a:r>
              <a:rPr lang="en-US" dirty="0"/>
              <a:t>(MC) How many times does the AI assistant help in prompt 2? (a) 1 </a:t>
            </a:r>
            <a:r>
              <a:rPr lang="en-US" dirty="0">
                <a:solidFill>
                  <a:srgbClr val="FF0000"/>
                </a:solidFill>
              </a:rPr>
              <a:t>(b) 2 </a:t>
            </a:r>
            <a:r>
              <a:rPr lang="en-US" dirty="0"/>
              <a:t>( c) 3 (d) 4</a:t>
            </a:r>
          </a:p>
          <a:p>
            <a:pPr lvl="2"/>
            <a:r>
              <a:rPr lang="en-US" dirty="0"/>
              <a:t>(</a:t>
            </a:r>
            <a:r>
              <a:rPr lang="en-US" dirty="0">
                <a:solidFill>
                  <a:srgbClr val="FF0000"/>
                </a:solidFill>
              </a:rPr>
              <a:t>T</a:t>
            </a:r>
            <a:r>
              <a:rPr lang="en-US" dirty="0"/>
              <a:t>/F) Both prompts feature three characters. </a:t>
            </a:r>
          </a:p>
          <a:p>
            <a:pPr lvl="2"/>
            <a:r>
              <a:rPr lang="en-US" dirty="0"/>
              <a:t>(</a:t>
            </a:r>
            <a:r>
              <a:rPr lang="en-US" dirty="0">
                <a:solidFill>
                  <a:srgbClr val="FF0000"/>
                </a:solidFill>
              </a:rPr>
              <a:t>T</a:t>
            </a:r>
            <a:r>
              <a:rPr lang="en-US" dirty="0"/>
              <a:t>/F) Prompt 2 contains both human and non-human characters. </a:t>
            </a:r>
          </a:p>
          <a:p>
            <a:pPr marL="742950" lvl="1" indent="-285750">
              <a:buFont typeface="Arial" panose="020B0604020202020204" pitchFamily="34" charset="0"/>
              <a:buChar char="•"/>
            </a:pPr>
            <a:r>
              <a:rPr lang="en-US" sz="2400" dirty="0"/>
              <a:t>Intermediate: </a:t>
            </a:r>
            <a:r>
              <a:rPr lang="en-US" sz="2400" i="1" dirty="0"/>
              <a:t>Comprehension</a:t>
            </a:r>
            <a:endParaRPr lang="en-US" sz="2400" dirty="0"/>
          </a:p>
          <a:p>
            <a:pPr marL="1200150" lvl="2" indent="-285750">
              <a:buFont typeface="Arial" panose="020B0604020202020204" pitchFamily="34" charset="0"/>
              <a:buChar char="•"/>
            </a:pPr>
            <a:r>
              <a:rPr lang="en-US" sz="2000" dirty="0"/>
              <a:t>(</a:t>
            </a:r>
            <a:r>
              <a:rPr lang="en-US" dirty="0">
                <a:solidFill>
                  <a:srgbClr val="FF0000"/>
                </a:solidFill>
              </a:rPr>
              <a:t>T</a:t>
            </a:r>
            <a:r>
              <a:rPr lang="en-US" dirty="0"/>
              <a:t>/F</a:t>
            </a:r>
            <a:r>
              <a:rPr lang="en-US" sz="2000" dirty="0"/>
              <a:t>) The three officers come to an agreement by the end of the dialogue. </a:t>
            </a:r>
          </a:p>
          <a:p>
            <a:pPr marL="1200150" lvl="2" indent="-285750">
              <a:buFont typeface="Arial" panose="020B0604020202020204" pitchFamily="34" charset="0"/>
              <a:buChar char="•"/>
            </a:pPr>
            <a:r>
              <a:rPr lang="en-US" sz="2000" dirty="0"/>
              <a:t>(</a:t>
            </a:r>
            <a:r>
              <a:rPr lang="en-US" sz="2000" dirty="0">
                <a:solidFill>
                  <a:srgbClr val="FF0000"/>
                </a:solidFill>
              </a:rPr>
              <a:t>T</a:t>
            </a:r>
            <a:r>
              <a:rPr lang="en-US" sz="2000" dirty="0"/>
              <a:t>/F) </a:t>
            </a:r>
            <a:r>
              <a:rPr lang="en-US" dirty="0"/>
              <a:t>The proposals set forth by all three officers are designed to work in collaboration with each other. </a:t>
            </a:r>
            <a:endParaRPr lang="en-US" sz="2000" dirty="0"/>
          </a:p>
          <a:p>
            <a:pPr marL="1200150" lvl="2" indent="-285750">
              <a:buFont typeface="Arial" panose="020B0604020202020204" pitchFamily="34" charset="0"/>
              <a:buChar char="•"/>
            </a:pPr>
            <a:r>
              <a:rPr lang="en-US" dirty="0"/>
              <a:t>(T/</a:t>
            </a:r>
            <a:r>
              <a:rPr lang="en-US" dirty="0">
                <a:solidFill>
                  <a:srgbClr val="FF0000"/>
                </a:solidFill>
              </a:rPr>
              <a:t>F</a:t>
            </a:r>
            <a:r>
              <a:rPr lang="en-US" dirty="0"/>
              <a:t>) Officer 1 gives his/her final opinion on the AI-generated strategy in prompt 2. </a:t>
            </a:r>
          </a:p>
          <a:p>
            <a:pPr marL="1200150" lvl="2" indent="-285750">
              <a:buFont typeface="Arial" panose="020B0604020202020204" pitchFamily="34" charset="0"/>
              <a:buChar char="•"/>
            </a:pPr>
            <a:r>
              <a:rPr lang="en-US" dirty="0"/>
              <a:t>(CZ) In prompt 2, the first set of responses given by the AI assistant offer possible </a:t>
            </a:r>
            <a:r>
              <a:rPr lang="en-US" dirty="0">
                <a:solidFill>
                  <a:srgbClr val="FF0000"/>
                </a:solidFill>
              </a:rPr>
              <a:t>strategies</a:t>
            </a:r>
            <a:r>
              <a:rPr lang="en-US" dirty="0"/>
              <a:t>, while the second set of responses offer </a:t>
            </a:r>
            <a:r>
              <a:rPr lang="en-US" dirty="0">
                <a:solidFill>
                  <a:srgbClr val="FF0000"/>
                </a:solidFill>
              </a:rPr>
              <a:t>perspectives</a:t>
            </a:r>
            <a:r>
              <a:rPr lang="en-US" dirty="0"/>
              <a:t>. </a:t>
            </a:r>
          </a:p>
          <a:p>
            <a:pPr marL="1200150" lvl="2" indent="-285750">
              <a:buFont typeface="Arial" panose="020B0604020202020204" pitchFamily="34" charset="0"/>
              <a:buChar char="•"/>
            </a:pPr>
            <a:r>
              <a:rPr lang="en-US" dirty="0"/>
              <a:t>(CZ) Both prompts focus on developing military strategy for </a:t>
            </a:r>
            <a:r>
              <a:rPr lang="en-US" dirty="0">
                <a:solidFill>
                  <a:srgbClr val="FF0000"/>
                </a:solidFill>
              </a:rPr>
              <a:t>joint warfare</a:t>
            </a:r>
            <a:r>
              <a:rPr lang="en-US" dirty="0"/>
              <a:t>. </a:t>
            </a:r>
          </a:p>
          <a:p>
            <a:pPr marL="742950" lvl="1" indent="-285750">
              <a:buFont typeface="Arial" panose="020B0604020202020204" pitchFamily="34" charset="0"/>
              <a:buChar char="•"/>
            </a:pPr>
            <a:r>
              <a:rPr lang="en-US" sz="2400" dirty="0"/>
              <a:t>Advanced: </a:t>
            </a:r>
            <a:r>
              <a:rPr lang="en-US" sz="2400" i="1" dirty="0"/>
              <a:t>Application</a:t>
            </a:r>
            <a:endParaRPr lang="en-US" dirty="0"/>
          </a:p>
          <a:p>
            <a:pPr marL="1200150" lvl="2" indent="-285750"/>
            <a:r>
              <a:rPr lang="en-US" sz="2000" dirty="0"/>
              <a:t>(</a:t>
            </a:r>
            <a:r>
              <a:rPr lang="en-US" dirty="0"/>
              <a:t>SR</a:t>
            </a:r>
            <a:r>
              <a:rPr lang="en-US" sz="2000" dirty="0"/>
              <a:t>) Similar to the other officers in the dialogue in prompt 1, Insert one line of dialogue for a Marines officer (O4) explaining what the Marines can bring to the joint warfare exercise. </a:t>
            </a:r>
          </a:p>
          <a:p>
            <a:pPr marL="1200150" lvl="2" indent="-285750"/>
            <a:r>
              <a:rPr lang="en-US" dirty="0"/>
              <a:t>(MC) Which of the following characteristics do NOT apply to prompt 1? Select all that apply (a) brainstorming (b) consensus </a:t>
            </a:r>
            <a:r>
              <a:rPr lang="en-US" dirty="0">
                <a:solidFill>
                  <a:srgbClr val="FF0000"/>
                </a:solidFill>
              </a:rPr>
              <a:t>( c ) dissent (d) uneven power dynamics</a:t>
            </a:r>
            <a:r>
              <a:rPr lang="en-US" dirty="0"/>
              <a:t> (e ) coordination</a:t>
            </a:r>
            <a:endParaRPr lang="en-US" sz="2000" dirty="0"/>
          </a:p>
          <a:p>
            <a:pPr marL="1200150" lvl="2" indent="-285750"/>
            <a:r>
              <a:rPr lang="en-US" sz="2000" dirty="0"/>
              <a:t>(MC) </a:t>
            </a:r>
            <a:r>
              <a:rPr lang="en-US" dirty="0"/>
              <a:t>Which of the following characteristics COULD apply to prompt 2? Select all that apply </a:t>
            </a:r>
            <a:r>
              <a:rPr lang="en-US" dirty="0">
                <a:solidFill>
                  <a:srgbClr val="FF0000"/>
                </a:solidFill>
              </a:rPr>
              <a:t>(a) brainstorming (b) consensus ( c ) dissent (d) uneven power dynamics</a:t>
            </a:r>
            <a:r>
              <a:rPr lang="en-US" dirty="0"/>
              <a:t> </a:t>
            </a:r>
            <a:r>
              <a:rPr lang="en-US" dirty="0">
                <a:solidFill>
                  <a:srgbClr val="FF0000"/>
                </a:solidFill>
              </a:rPr>
              <a:t>(e ) coordination</a:t>
            </a:r>
            <a:endParaRPr lang="en-US" sz="2000" dirty="0">
              <a:solidFill>
                <a:srgbClr val="FF0000"/>
              </a:solidFill>
            </a:endParaRPr>
          </a:p>
          <a:p>
            <a:pPr marL="1200150" lvl="2" indent="-285750"/>
            <a:r>
              <a:rPr lang="en-US" dirty="0"/>
              <a:t>(SR) If the AI assistant in prompt 2 were instead another officer of equal rank to the other two, which answer from the previous question might no longer apply? </a:t>
            </a:r>
            <a:r>
              <a:rPr lang="en-US" dirty="0">
                <a:solidFill>
                  <a:srgbClr val="FF0000"/>
                </a:solidFill>
              </a:rPr>
              <a:t>(d) uneven power dynamics.</a:t>
            </a:r>
          </a:p>
          <a:p>
            <a:pPr marL="1200150" lvl="2" indent="-285750"/>
            <a:r>
              <a:rPr lang="en-US" sz="2000" dirty="0"/>
              <a:t>(MC) For both prompts, what are possible outcomes if you add another character that fits in the overall theme of both dialogues? </a:t>
            </a:r>
            <a:r>
              <a:rPr lang="en-US" dirty="0"/>
              <a:t>Select all that apply: (a) dance competition </a:t>
            </a:r>
            <a:r>
              <a:rPr lang="en-US" dirty="0">
                <a:solidFill>
                  <a:srgbClr val="FF0000"/>
                </a:solidFill>
              </a:rPr>
              <a:t>(b) dissent ( c) agreement (d) new ideas </a:t>
            </a:r>
            <a:endParaRPr lang="en-US" sz="2000" dirty="0">
              <a:solidFill>
                <a:srgbClr val="FF0000"/>
              </a:solidFill>
            </a:endParaRP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1</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1</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1 / 2</a:t>
            </a:r>
          </a:p>
        </p:txBody>
      </p:sp>
      <p:sp>
        <p:nvSpPr>
          <p:cNvPr id="6" name="TextBox 5">
            <a:extLst>
              <a:ext uri="{FF2B5EF4-FFF2-40B4-BE49-F238E27FC236}">
                <a16:creationId xmlns:a16="http://schemas.microsoft.com/office/drawing/2014/main" id="{C49BAE88-E500-9963-83B9-8CF5FA91E361}"/>
              </a:ext>
            </a:extLst>
          </p:cNvPr>
          <p:cNvSpPr txBox="1"/>
          <p:nvPr/>
        </p:nvSpPr>
        <p:spPr>
          <a:xfrm>
            <a:off x="10456589" y="6488668"/>
            <a:ext cx="1735411" cy="369332"/>
          </a:xfrm>
          <a:prstGeom prst="rect">
            <a:avLst/>
          </a:prstGeom>
          <a:noFill/>
        </p:spPr>
        <p:txBody>
          <a:bodyPr wrap="none" rtlCol="0">
            <a:spAutoFit/>
          </a:bodyPr>
          <a:lstStyle/>
          <a:p>
            <a:r>
              <a:rPr lang="en-US" dirty="0"/>
              <a:t>5. Social Context</a:t>
            </a:r>
          </a:p>
        </p:txBody>
      </p:sp>
    </p:spTree>
    <p:extLst>
      <p:ext uri="{BB962C8B-B14F-4D97-AF65-F5344CB8AC3E}">
        <p14:creationId xmlns:p14="http://schemas.microsoft.com/office/powerpoint/2010/main" val="6854436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Interactive</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11008364" cy="4570430"/>
          </a:xfrm>
        </p:spPr>
        <p:txBody>
          <a:bodyPr>
            <a:normAutofit fontScale="70000" lnSpcReduction="20000"/>
          </a:bodyPr>
          <a:lstStyle/>
          <a:p>
            <a:r>
              <a:rPr lang="en-US" sz="2400" dirty="0"/>
              <a:t>Engaging in multi-user conversations or collaborative tasks</a:t>
            </a:r>
          </a:p>
          <a:p>
            <a:pPr lvl="1"/>
            <a:r>
              <a:rPr lang="en-US" sz="2000" dirty="0"/>
              <a:t>Expert: </a:t>
            </a:r>
            <a:r>
              <a:rPr lang="en-US" sz="2000" i="1" dirty="0"/>
              <a:t>Analysis/Synthesis</a:t>
            </a:r>
            <a:endParaRPr lang="en-US" sz="2000" dirty="0"/>
          </a:p>
          <a:p>
            <a:pPr lvl="2"/>
            <a:r>
              <a:rPr lang="en-US" sz="1700" dirty="0"/>
              <a:t>(MC) Prompt 2: What are some of the potential challenges associated with the first point in the AI assistant’s first response (Response A)? Select all that apply. </a:t>
            </a:r>
            <a:r>
              <a:rPr lang="en-US" sz="1700" dirty="0">
                <a:solidFill>
                  <a:srgbClr val="FF0000"/>
                </a:solidFill>
              </a:rPr>
              <a:t>(a) collateral damage (b) fatigue</a:t>
            </a:r>
            <a:r>
              <a:rPr lang="en-US" sz="1700" dirty="0"/>
              <a:t> ( c) too much peace </a:t>
            </a:r>
            <a:r>
              <a:rPr lang="en-US" sz="1700" dirty="0">
                <a:solidFill>
                  <a:srgbClr val="FF0000"/>
                </a:solidFill>
              </a:rPr>
              <a:t>(d) vulnerability </a:t>
            </a:r>
            <a:r>
              <a:rPr lang="en-US" sz="1700" dirty="0"/>
              <a:t>( e ) none of the above</a:t>
            </a:r>
          </a:p>
          <a:p>
            <a:pPr marL="1200150" lvl="2" indent="-285750">
              <a:buFont typeface="Arial" panose="020B0604020202020204" pitchFamily="34" charset="0"/>
              <a:buChar char="•"/>
            </a:pPr>
            <a:r>
              <a:rPr lang="en-US" sz="1700" dirty="0"/>
              <a:t>(MC) Prompt 2: What are some of the potential challenges associated with the second point in the AI assistant’s first response (Response B)? Select all that apply. (a) nothing </a:t>
            </a:r>
            <a:r>
              <a:rPr lang="en-US" sz="1700" dirty="0">
                <a:solidFill>
                  <a:srgbClr val="FF0000"/>
                </a:solidFill>
              </a:rPr>
              <a:t>(b)  intelligence </a:t>
            </a:r>
            <a:r>
              <a:rPr lang="en-US" sz="1700" dirty="0"/>
              <a:t>( c) rank (</a:t>
            </a:r>
            <a:r>
              <a:rPr lang="en-US" sz="1700" dirty="0">
                <a:solidFill>
                  <a:srgbClr val="FF0000"/>
                </a:solidFill>
              </a:rPr>
              <a:t>d) time (e ) trust</a:t>
            </a:r>
          </a:p>
          <a:p>
            <a:pPr marL="1200150" lvl="2" indent="-285750"/>
            <a:r>
              <a:rPr lang="en-US" sz="1700" dirty="0"/>
              <a:t>(MC) What are possible settings of the enemy stronghold in prompt 1, based on the strategies that each officer offers? Select all that apply: (a)there is no enemy present near the officers </a:t>
            </a:r>
            <a:r>
              <a:rPr lang="en-US" sz="1700" dirty="0">
                <a:solidFill>
                  <a:srgbClr val="FF0000"/>
                </a:solidFill>
              </a:rPr>
              <a:t>(b) coastal mountain range </a:t>
            </a:r>
            <a:r>
              <a:rPr lang="en-US" sz="1700" dirty="0"/>
              <a:t>(c ) satellite traffic </a:t>
            </a:r>
            <a:r>
              <a:rPr lang="en-US" sz="1700" dirty="0">
                <a:solidFill>
                  <a:srgbClr val="FF0000"/>
                </a:solidFill>
              </a:rPr>
              <a:t>(d) dense jungle on small, strategic island</a:t>
            </a:r>
          </a:p>
          <a:p>
            <a:pPr marL="1200150" lvl="2" indent="-285750"/>
            <a:r>
              <a:rPr lang="en-US" sz="1700" dirty="0"/>
              <a:t>(SR) Based on the dialogue in prompt 1, which branches of the military do officers 1, 2, and 3 most likely belong to, respectively? </a:t>
            </a:r>
            <a:r>
              <a:rPr lang="en-US" sz="1700" dirty="0">
                <a:solidFill>
                  <a:srgbClr val="FF0000"/>
                </a:solidFill>
              </a:rPr>
              <a:t>Army, air force, navy</a:t>
            </a:r>
          </a:p>
          <a:p>
            <a:pPr marL="1200150" lvl="2" indent="-285750"/>
            <a:r>
              <a:rPr lang="en-US" sz="1700" dirty="0"/>
              <a:t>(MC) Assume the geographical setting of prompts 1 and 2 are the same. Which one of the following options would be the most likely setting of the enemy stronghold? (a)there is no enemy present near the officers </a:t>
            </a:r>
            <a:r>
              <a:rPr lang="en-US" sz="1700" dirty="0">
                <a:solidFill>
                  <a:srgbClr val="FF0000"/>
                </a:solidFill>
              </a:rPr>
              <a:t>(b) coastal mountain range </a:t>
            </a:r>
            <a:r>
              <a:rPr lang="en-US" sz="1700" dirty="0"/>
              <a:t>(c ) satellite traffic (d) dense jungle on small, strategic island</a:t>
            </a:r>
          </a:p>
          <a:p>
            <a:pPr marL="742950" lvl="1" indent="-285750"/>
            <a:r>
              <a:rPr lang="en-US" sz="2000" dirty="0"/>
              <a:t>Master: </a:t>
            </a:r>
            <a:r>
              <a:rPr lang="en-US" sz="2000" i="1" dirty="0"/>
              <a:t>Synthesis/Evaluation</a:t>
            </a:r>
            <a:endParaRPr lang="en-US" sz="2000" dirty="0"/>
          </a:p>
          <a:p>
            <a:pPr marL="1200150" lvl="2" indent="-285750"/>
            <a:r>
              <a:rPr lang="en-US" sz="1700" dirty="0"/>
              <a:t>(SR/MC) Suppose the enemy stronghold referenced in prompt 1 is a heavily fortified mountainous range. Which officer's proposed approach in the dialogue demonstrates the most effective strategy for achieving the objective of securing the enemy's stronghold? </a:t>
            </a:r>
            <a:r>
              <a:rPr lang="en-US" sz="1700" dirty="0">
                <a:solidFill>
                  <a:srgbClr val="FF0000"/>
                </a:solidFill>
              </a:rPr>
              <a:t>Air Force</a:t>
            </a:r>
            <a:endParaRPr lang="en-US" sz="1700" i="1" dirty="0">
              <a:solidFill>
                <a:srgbClr val="FF0000"/>
              </a:solidFill>
            </a:endParaRPr>
          </a:p>
          <a:p>
            <a:pPr marL="1200150" lvl="2" indent="-285750">
              <a:buFont typeface="Arial" panose="020B0604020202020204" pitchFamily="34" charset="0"/>
              <a:buChar char="•"/>
            </a:pPr>
            <a:r>
              <a:rPr lang="en-US" sz="1700" dirty="0"/>
              <a:t>(MC) Indicate which characters, if any, overlap between prompts 1 and 2. For each of the characters that overlap, quote up to three words in each prompt that match the other prompt and indicate character overlap. </a:t>
            </a:r>
            <a:r>
              <a:rPr lang="en-US" sz="1700" dirty="0">
                <a:solidFill>
                  <a:srgbClr val="FF0000"/>
                </a:solidFill>
              </a:rPr>
              <a:t>O2: Air Force</a:t>
            </a:r>
          </a:p>
          <a:p>
            <a:pPr marL="1200150" lvl="2" indent="-285750">
              <a:buFont typeface="Arial" panose="020B0604020202020204" pitchFamily="34" charset="0"/>
              <a:buChar char="•"/>
            </a:pPr>
            <a:r>
              <a:rPr lang="en-US" sz="1700" dirty="0"/>
              <a:t>(MC) Based on the context of the dialogue in prompt 2, which of these would be the most likely response that O1 gave between the two sets of strategies that the AI delivered? </a:t>
            </a:r>
            <a:r>
              <a:rPr lang="en-US" sz="1700" dirty="0">
                <a:solidFill>
                  <a:srgbClr val="FF0000"/>
                </a:solidFill>
              </a:rPr>
              <a:t>(a) In your opinion, is Response A or Response B a more promising strategy? </a:t>
            </a:r>
            <a:r>
              <a:rPr lang="en-US" sz="1700" dirty="0"/>
              <a:t>(b) Is there an alternate strategy? ( c) These two strategies are perfect, thank you! (d) What can I do to implement both of these strategies? </a:t>
            </a:r>
          </a:p>
          <a:p>
            <a:pPr marL="1200150" lvl="2" indent="-285750">
              <a:buFont typeface="Arial" panose="020B0604020202020204" pitchFamily="34" charset="0"/>
              <a:buChar char="•"/>
            </a:pPr>
            <a:r>
              <a:rPr lang="en-US" sz="1700" dirty="0"/>
              <a:t>(CZ) Based on the context of passage 2, fill in the blank with an alternate strategy for Response D that could elicit the response in the last line from O2.</a:t>
            </a:r>
          </a:p>
          <a:p>
            <a:pPr marL="1200150" lvl="2" indent="-285750">
              <a:buFont typeface="Arial" panose="020B0604020202020204" pitchFamily="34" charset="0"/>
              <a:buChar char="•"/>
            </a:pPr>
            <a:r>
              <a:rPr lang="en-US" sz="1700" dirty="0"/>
              <a:t>(MC) Of the two prompts, in which one do the characters come to a more ready consensus? </a:t>
            </a:r>
            <a:r>
              <a:rPr lang="en-US" sz="1700" dirty="0">
                <a:solidFill>
                  <a:srgbClr val="FF0000"/>
                </a:solidFill>
              </a:rPr>
              <a:t>(a) prompt 1 because the joint warfare plan is set to be finalized with everyone’s inputs</a:t>
            </a:r>
            <a:r>
              <a:rPr lang="en-US" sz="1700" dirty="0"/>
              <a:t> (b) prompt 2 because the AI assistant introduces more options (c ) the characters do not come to a consensus in either prompt (d) the consensus is equally strong in both prompts </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1</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3 / 3</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2 / 2</a:t>
            </a:r>
          </a:p>
        </p:txBody>
      </p:sp>
      <p:sp>
        <p:nvSpPr>
          <p:cNvPr id="7" name="TextBox 6">
            <a:extLst>
              <a:ext uri="{FF2B5EF4-FFF2-40B4-BE49-F238E27FC236}">
                <a16:creationId xmlns:a16="http://schemas.microsoft.com/office/drawing/2014/main" id="{B1A48DC8-A81E-8694-4D03-996B80BF1AFF}"/>
              </a:ext>
            </a:extLst>
          </p:cNvPr>
          <p:cNvSpPr txBox="1"/>
          <p:nvPr/>
        </p:nvSpPr>
        <p:spPr>
          <a:xfrm>
            <a:off x="10456589" y="6488668"/>
            <a:ext cx="1735411" cy="369332"/>
          </a:xfrm>
          <a:prstGeom prst="rect">
            <a:avLst/>
          </a:prstGeom>
          <a:noFill/>
        </p:spPr>
        <p:txBody>
          <a:bodyPr wrap="none" rtlCol="0">
            <a:spAutoFit/>
          </a:bodyPr>
          <a:lstStyle/>
          <a:p>
            <a:r>
              <a:rPr lang="en-US" dirty="0"/>
              <a:t>5. Social Context</a:t>
            </a:r>
          </a:p>
        </p:txBody>
      </p:sp>
    </p:spTree>
    <p:extLst>
      <p:ext uri="{BB962C8B-B14F-4D97-AF65-F5344CB8AC3E}">
        <p14:creationId xmlns:p14="http://schemas.microsoft.com/office/powerpoint/2010/main" val="5670214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r>
              <a:rPr lang="en-US" dirty="0"/>
              <a:t>Functional Goal</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838200" y="1825625"/>
            <a:ext cx="6422136" cy="4351338"/>
          </a:xfrm>
        </p:spPr>
        <p:txBody>
          <a:bodyPr>
            <a:normAutofit/>
          </a:bodyPr>
          <a:lstStyle/>
          <a:p>
            <a:r>
              <a:rPr lang="en-US" dirty="0"/>
              <a:t>Practical Application</a:t>
            </a:r>
          </a:p>
          <a:p>
            <a:pPr lvl="1"/>
            <a:r>
              <a:rPr lang="en-US" dirty="0"/>
              <a:t>Providing information</a:t>
            </a:r>
          </a:p>
          <a:p>
            <a:pPr lvl="1"/>
            <a:r>
              <a:rPr lang="en-US" dirty="0"/>
              <a:t>Assistance</a:t>
            </a:r>
          </a:p>
          <a:p>
            <a:pPr lvl="1"/>
            <a:r>
              <a:rPr lang="en-US" dirty="0"/>
              <a:t>Entertainment </a:t>
            </a:r>
          </a:p>
          <a:p>
            <a:r>
              <a:rPr lang="en-US" dirty="0"/>
              <a:t>Cognitive Enhancement</a:t>
            </a:r>
          </a:p>
          <a:p>
            <a:pPr lvl="1"/>
            <a:r>
              <a:rPr lang="en-US" dirty="0"/>
              <a:t>Assisting in educational or cognitive tasks</a:t>
            </a:r>
          </a:p>
        </p:txBody>
      </p:sp>
      <p:sp>
        <p:nvSpPr>
          <p:cNvPr id="5" name="TextBox 4">
            <a:extLst>
              <a:ext uri="{FF2B5EF4-FFF2-40B4-BE49-F238E27FC236}">
                <a16:creationId xmlns:a16="http://schemas.microsoft.com/office/drawing/2014/main" id="{F07AB50D-0BCE-05B8-256E-A1201E2FC65A}"/>
              </a:ext>
            </a:extLst>
          </p:cNvPr>
          <p:cNvSpPr txBox="1"/>
          <p:nvPr/>
        </p:nvSpPr>
        <p:spPr>
          <a:xfrm>
            <a:off x="11683527" y="6488668"/>
            <a:ext cx="508473" cy="369332"/>
          </a:xfrm>
          <a:prstGeom prst="rect">
            <a:avLst/>
          </a:prstGeom>
          <a:noFill/>
        </p:spPr>
        <p:txBody>
          <a:bodyPr wrap="none" rtlCol="0">
            <a:spAutoFit/>
          </a:bodyPr>
          <a:lstStyle/>
          <a:p>
            <a:r>
              <a:rPr lang="en-US" dirty="0"/>
              <a:t>6/8</a:t>
            </a:r>
          </a:p>
        </p:txBody>
      </p:sp>
    </p:spTree>
    <p:extLst>
      <p:ext uri="{BB962C8B-B14F-4D97-AF65-F5344CB8AC3E}">
        <p14:creationId xmlns:p14="http://schemas.microsoft.com/office/powerpoint/2010/main" val="22104033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Practical Application</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2899" y="1690688"/>
            <a:ext cx="5816416" cy="4570430"/>
          </a:xfrm>
        </p:spPr>
        <p:txBody>
          <a:bodyPr>
            <a:normAutofit/>
          </a:bodyPr>
          <a:lstStyle/>
          <a:p>
            <a:r>
              <a:rPr lang="en-US" sz="1800" dirty="0"/>
              <a:t>Prompt 1: this passage needs assistance</a:t>
            </a:r>
          </a:p>
          <a:p>
            <a:pPr marL="742950" lvl="1" indent="-285750"/>
            <a:r>
              <a:rPr lang="en-US" sz="1400" b="0" i="0" u="none" strike="noStrike" dirty="0">
                <a:effectLst/>
                <a:latin typeface="Roboto" panose="02000000000000000000" pitchFamily="2" charset="0"/>
              </a:rPr>
              <a:t>”air farce is a branch of the military that fly planes and protect the country. They have many bases all over the world. The pilots are trained to fly the planes and they are very skilled. The Air Force is important for national security and they do missions to keep us safe. They also have cool uniforms and fly in the sky. The confidence in the military has ebbed and flowed between 60 and 90 percent over the last fifty years.” </a:t>
            </a:r>
          </a:p>
          <a:p>
            <a:pPr marL="285750" indent="-285750"/>
            <a:r>
              <a:rPr lang="en-US" sz="1800" dirty="0"/>
              <a:t>Prompt 2: Air Force Scenario</a:t>
            </a:r>
          </a:p>
          <a:p>
            <a:pPr marL="742950" lvl="1" indent="-285750"/>
            <a:r>
              <a:rPr lang="en-US" sz="1400" dirty="0"/>
              <a:t>Captain Johnson, an experienced Air Force pilot, received an urgent mission briefing. Intelligence reports indicated an enemy convoy moving towards a critical supply route. With limited time, Captain Johnson swiftly gathered his squadron and outlined the mission objectives. The team's task was to neutralize the convoy and ensure the safe passage of vital supplies to the front lines. As they prepared for takeoff, the roar of jet engines filled the air, and the squadron soared into the sky. With precision and coordination, they engaged the enemy, executing tactical maneuvers to disrupt their advance. After a fierce aerial battle, the enemy convoy was successfully neutralized, securing the critical supply route and bolstering the troops on the ground.</a:t>
            </a:r>
          </a:p>
          <a:p>
            <a:pPr marL="742950" lvl="1" indent="-285750"/>
            <a:endParaRPr lang="en-US" sz="1400" dirty="0"/>
          </a:p>
        </p:txBody>
      </p:sp>
      <p:sp>
        <p:nvSpPr>
          <p:cNvPr id="8" name="TextBox 7">
            <a:extLst>
              <a:ext uri="{FF2B5EF4-FFF2-40B4-BE49-F238E27FC236}">
                <a16:creationId xmlns:a16="http://schemas.microsoft.com/office/drawing/2014/main" id="{F3F91043-D0E7-03CC-EE4F-002C185C202F}"/>
              </a:ext>
            </a:extLst>
          </p:cNvPr>
          <p:cNvSpPr txBox="1"/>
          <p:nvPr/>
        </p:nvSpPr>
        <p:spPr>
          <a:xfrm>
            <a:off x="4454781" y="1182028"/>
            <a:ext cx="3282437" cy="369332"/>
          </a:xfrm>
          <a:prstGeom prst="rect">
            <a:avLst/>
          </a:prstGeom>
          <a:noFill/>
        </p:spPr>
        <p:txBody>
          <a:bodyPr wrap="none" rtlCol="0">
            <a:spAutoFit/>
          </a:bodyPr>
          <a:lstStyle/>
          <a:p>
            <a:r>
              <a:rPr lang="en-US" dirty="0"/>
              <a:t>Providing Information/Assistance</a:t>
            </a:r>
          </a:p>
        </p:txBody>
      </p:sp>
      <p:sp>
        <p:nvSpPr>
          <p:cNvPr id="10" name="Content Placeholder 2">
            <a:extLst>
              <a:ext uri="{FF2B5EF4-FFF2-40B4-BE49-F238E27FC236}">
                <a16:creationId xmlns:a16="http://schemas.microsoft.com/office/drawing/2014/main" id="{11D8D3E7-0E77-4400-B8E5-765922121393}"/>
              </a:ext>
            </a:extLst>
          </p:cNvPr>
          <p:cNvSpPr txBox="1">
            <a:spLocks/>
          </p:cNvSpPr>
          <p:nvPr/>
        </p:nvSpPr>
        <p:spPr>
          <a:xfrm>
            <a:off x="5869315" y="1690688"/>
            <a:ext cx="5816416" cy="4570430"/>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800" dirty="0"/>
              <a:t>Prompt 3: Mission Success Data</a:t>
            </a:r>
          </a:p>
          <a:p>
            <a:r>
              <a:rPr lang="en-US" sz="4000" b="0" i="0" u="none" strike="noStrike" dirty="0">
                <a:effectLst/>
                <a:latin typeface="Roboto" panose="02000000000000000000" pitchFamily="2" charset="0"/>
              </a:rPr>
              <a:t>Mission Data Table:</a:t>
            </a:r>
            <a:br>
              <a:rPr lang="en-US" sz="4000" dirty="0"/>
            </a:br>
            <a:r>
              <a:rPr lang="en-US" sz="4000" b="1" dirty="0">
                <a:solidFill>
                  <a:srgbClr val="1F6FEB"/>
                </a:solidFill>
                <a:effectLst/>
              </a:rPr>
              <a:t>Month | Mission Success Rate (%) | Number of Personnel | Average Mission Duration (hours)</a:t>
            </a:r>
            <a:br>
              <a:rPr lang="en-US" sz="4000" b="1" dirty="0">
                <a:solidFill>
                  <a:srgbClr val="1F6FEB"/>
                </a:solidFill>
                <a:effectLst/>
              </a:rPr>
            </a:br>
            <a:r>
              <a:rPr lang="en-US" sz="4000" b="1" dirty="0">
                <a:solidFill>
                  <a:srgbClr val="1F6FEB"/>
                </a:solidFill>
                <a:effectLst/>
              </a:rPr>
              <a:t>----------------------------------------------</a:t>
            </a:r>
            <a:br>
              <a:rPr lang="en-US" sz="4000" dirty="0"/>
            </a:br>
            <a:r>
              <a:rPr lang="en-US" sz="4000" dirty="0"/>
              <a:t>Jan | 85 | 50 | 6</a:t>
            </a:r>
            <a:br>
              <a:rPr lang="en-US" sz="4000" dirty="0"/>
            </a:br>
            <a:r>
              <a:rPr lang="en-US" sz="4000" dirty="0"/>
              <a:t>Feb | 90 | 55 | 5</a:t>
            </a:r>
            <a:br>
              <a:rPr lang="en-US" sz="4000" dirty="0"/>
            </a:br>
            <a:r>
              <a:rPr lang="en-US" sz="4000" dirty="0"/>
              <a:t>Mar | 80 | 45 | 7</a:t>
            </a:r>
            <a:br>
              <a:rPr lang="en-US" sz="4000" dirty="0"/>
            </a:br>
            <a:r>
              <a:rPr lang="en-US" sz="4000" dirty="0"/>
              <a:t>Apr | 75 | 40 | 8</a:t>
            </a:r>
            <a:br>
              <a:rPr lang="en-US" sz="4000" dirty="0"/>
            </a:br>
            <a:r>
              <a:rPr lang="en-US" sz="4000" dirty="0"/>
              <a:t>May | 88 | 52 | 6</a:t>
            </a:r>
            <a:br>
              <a:rPr lang="en-US" sz="4000" dirty="0"/>
            </a:br>
            <a:r>
              <a:rPr lang="en-US" sz="4000" dirty="0"/>
              <a:t>Jun | 92 | 58 | 5</a:t>
            </a:r>
          </a:p>
          <a:p>
            <a:endParaRPr lang="en-US" sz="4000" dirty="0"/>
          </a:p>
          <a:p>
            <a:r>
              <a:rPr lang="en-US" sz="4800" dirty="0"/>
              <a:t>Prompt 4: Opinions</a:t>
            </a:r>
          </a:p>
          <a:p>
            <a:r>
              <a:rPr lang="en-US" sz="4000" dirty="0"/>
              <a:t>Passage A:</a:t>
            </a:r>
            <a:br>
              <a:rPr lang="en-US" sz="4000" dirty="0"/>
            </a:br>
            <a:r>
              <a:rPr lang="en-US" sz="4000" dirty="0"/>
              <a:t>"In traditional military strategy, the focus has been on overwhelming force and achieving decisive victories. The idea is to concentrate superior firepower and resources to overpower the enemy, leading to a swift and conclusive outcome. This approach relies on conventional warfare tactics, such as large-scale troop deployments, combined arms operations, and direct engagements. The goal is to break the enemy's will and force surrender or capitulation. While this strategy has proven successful in many historical conflicts, it requires significant resources, logistical support, and can result in high casualties."</a:t>
            </a:r>
            <a:br>
              <a:rPr lang="en-US" sz="4000" dirty="0"/>
            </a:br>
            <a:br>
              <a:rPr lang="en-US" sz="4000" dirty="0"/>
            </a:br>
            <a:r>
              <a:rPr lang="en-US" sz="4000" dirty="0"/>
              <a:t>Passage B:</a:t>
            </a:r>
            <a:br>
              <a:rPr lang="en-US" sz="4000" dirty="0"/>
            </a:br>
            <a:r>
              <a:rPr lang="en-US" sz="4000" dirty="0"/>
              <a:t>"In recent years, there has been a shift towards asymmetric warfare and unconventional tactics in military strategy. This approach recognizes that smaller, less well-equipped forces can effectively challenge and disrupt larger, more conventional adversaries. By leveraging unconventional tactics such as guerrilla warfare, insurgency, and cyber warfare, smaller forces can exploit vulnerabilities and create strategic advantages. Asymmetric warfare emphasizes agility, adaptability, and the ability to blend in with the local population. It allows for flexibility and the ability to strike at the enemy's weaknesses while minimizing casualties and resource requirements."</a:t>
            </a:r>
          </a:p>
        </p:txBody>
      </p:sp>
    </p:spTree>
    <p:extLst>
      <p:ext uri="{BB962C8B-B14F-4D97-AF65-F5344CB8AC3E}">
        <p14:creationId xmlns:p14="http://schemas.microsoft.com/office/powerpoint/2010/main" val="4600964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Practical Application</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46284" y="1690688"/>
            <a:ext cx="11099432" cy="4570430"/>
          </a:xfrm>
        </p:spPr>
        <p:txBody>
          <a:bodyPr>
            <a:normAutofit fontScale="70000" lnSpcReduction="20000"/>
          </a:bodyPr>
          <a:lstStyle/>
          <a:p>
            <a:r>
              <a:rPr lang="en-US" dirty="0"/>
              <a:t>Providing information</a:t>
            </a:r>
          </a:p>
          <a:p>
            <a:pPr lvl="1"/>
            <a:r>
              <a:rPr lang="en-US" dirty="0"/>
              <a:t>Basic: </a:t>
            </a:r>
            <a:r>
              <a:rPr lang="en-US" i="1" dirty="0"/>
              <a:t>Knowledge</a:t>
            </a:r>
            <a:endParaRPr lang="en-US" dirty="0"/>
          </a:p>
          <a:p>
            <a:pPr lvl="2"/>
            <a:r>
              <a:rPr lang="en-US" dirty="0"/>
              <a:t>(T/</a:t>
            </a:r>
            <a:r>
              <a:rPr lang="en-US" dirty="0">
                <a:solidFill>
                  <a:srgbClr val="FF0000"/>
                </a:solidFill>
              </a:rPr>
              <a:t>F</a:t>
            </a:r>
            <a:r>
              <a:rPr lang="en-US" dirty="0"/>
              <a:t>) Without comprehending the prompt ahead of time: prompt 3 contains numbers, so it must primarily be a data analysis problem. </a:t>
            </a:r>
          </a:p>
          <a:p>
            <a:pPr lvl="2"/>
            <a:r>
              <a:rPr lang="en-US" dirty="0"/>
              <a:t>(</a:t>
            </a:r>
            <a:r>
              <a:rPr lang="en-US" dirty="0">
                <a:solidFill>
                  <a:srgbClr val="FF0000"/>
                </a:solidFill>
              </a:rPr>
              <a:t>T</a:t>
            </a:r>
            <a:r>
              <a:rPr lang="en-US" dirty="0"/>
              <a:t>/F) Prompt 1 features both air force personnel and aircraft.</a:t>
            </a:r>
          </a:p>
          <a:p>
            <a:pPr lvl="2"/>
            <a:r>
              <a:rPr lang="en-US" dirty="0"/>
              <a:t>(SR/MC) What is the word count of prompt 2? [</a:t>
            </a:r>
            <a:r>
              <a:rPr lang="en-US" dirty="0">
                <a:solidFill>
                  <a:srgbClr val="FF0000"/>
                </a:solidFill>
              </a:rPr>
              <a:t>116</a:t>
            </a:r>
            <a:r>
              <a:rPr lang="en-US" dirty="0"/>
              <a:t>]</a:t>
            </a:r>
          </a:p>
          <a:p>
            <a:pPr lvl="2"/>
            <a:r>
              <a:rPr lang="en-US" dirty="0"/>
              <a:t>(MC) Prompt 4 features how many paragraphs? (a) 1 (b) 3 </a:t>
            </a:r>
            <a:r>
              <a:rPr lang="en-US" dirty="0">
                <a:solidFill>
                  <a:srgbClr val="FF0000"/>
                </a:solidFill>
              </a:rPr>
              <a:t>(c ) 2 </a:t>
            </a:r>
            <a:r>
              <a:rPr lang="en-US" dirty="0"/>
              <a:t>(d) 0</a:t>
            </a:r>
          </a:p>
          <a:p>
            <a:pPr lvl="2"/>
            <a:r>
              <a:rPr lang="en-US" dirty="0"/>
              <a:t>(T/</a:t>
            </a:r>
            <a:r>
              <a:rPr lang="en-US" dirty="0">
                <a:solidFill>
                  <a:srgbClr val="FF0000"/>
                </a:solidFill>
              </a:rPr>
              <a:t>F</a:t>
            </a:r>
            <a:r>
              <a:rPr lang="en-US" dirty="0"/>
              <a:t>) All four of these passages feature the Air Force as their primary subject.</a:t>
            </a:r>
          </a:p>
          <a:p>
            <a:pPr marL="742950" lvl="1" indent="-285750">
              <a:buFont typeface="Arial" panose="020B0604020202020204" pitchFamily="34" charset="0"/>
              <a:buChar char="•"/>
            </a:pPr>
            <a:r>
              <a:rPr lang="en-US" sz="2400" dirty="0"/>
              <a:t>Intermediate: </a:t>
            </a:r>
            <a:r>
              <a:rPr lang="en-US" sz="2400" i="1" dirty="0"/>
              <a:t>Comprehension</a:t>
            </a:r>
            <a:endParaRPr lang="en-US" sz="2400" dirty="0"/>
          </a:p>
          <a:p>
            <a:pPr marL="1200150" lvl="2" indent="-285750">
              <a:buFont typeface="Arial" panose="020B0604020202020204" pitchFamily="34" charset="0"/>
              <a:buChar char="•"/>
            </a:pPr>
            <a:r>
              <a:rPr lang="en-US" sz="2000" dirty="0"/>
              <a:t>(</a:t>
            </a:r>
            <a:r>
              <a:rPr lang="en-US" dirty="0">
                <a:solidFill>
                  <a:srgbClr val="FF0000"/>
                </a:solidFill>
              </a:rPr>
              <a:t>T</a:t>
            </a:r>
            <a:r>
              <a:rPr lang="en-US" dirty="0"/>
              <a:t>/F</a:t>
            </a:r>
            <a:r>
              <a:rPr lang="en-US" sz="2000" dirty="0"/>
              <a:t>) Prompt 2 ends in a resolution for the main subject. </a:t>
            </a:r>
          </a:p>
          <a:p>
            <a:pPr marL="1200150" lvl="2" indent="-285750">
              <a:buFont typeface="Arial" panose="020B0604020202020204" pitchFamily="34" charset="0"/>
              <a:buChar char="•"/>
            </a:pPr>
            <a:r>
              <a:rPr lang="en-US" sz="2000" dirty="0"/>
              <a:t>(</a:t>
            </a:r>
            <a:r>
              <a:rPr lang="en-US" sz="2000" dirty="0">
                <a:solidFill>
                  <a:srgbClr val="FF0000"/>
                </a:solidFill>
              </a:rPr>
              <a:t>T</a:t>
            </a:r>
            <a:r>
              <a:rPr lang="en-US" sz="2000" dirty="0"/>
              <a:t>/F) </a:t>
            </a:r>
            <a:r>
              <a:rPr lang="en-US" dirty="0"/>
              <a:t>Prompt 3 features two metrics of time, one metric of performance, and one metric of size all as a function of each other.</a:t>
            </a:r>
            <a:endParaRPr lang="en-US" sz="2000" dirty="0"/>
          </a:p>
          <a:p>
            <a:pPr marL="1200150" lvl="2" indent="-285750">
              <a:buFont typeface="Arial" panose="020B0604020202020204" pitchFamily="34" charset="0"/>
              <a:buChar char="•"/>
            </a:pPr>
            <a:r>
              <a:rPr lang="en-US" dirty="0"/>
              <a:t>(</a:t>
            </a:r>
            <a:r>
              <a:rPr lang="en-US" dirty="0">
                <a:solidFill>
                  <a:srgbClr val="FF0000"/>
                </a:solidFill>
              </a:rPr>
              <a:t>T</a:t>
            </a:r>
            <a:r>
              <a:rPr lang="en-US" dirty="0"/>
              <a:t>/F) Over the years, according to prompt 1, approval for the military has fluctuated. </a:t>
            </a:r>
          </a:p>
          <a:p>
            <a:pPr marL="1200150" lvl="2" indent="-285750">
              <a:buFont typeface="Arial" panose="020B0604020202020204" pitchFamily="34" charset="0"/>
              <a:buChar char="•"/>
            </a:pPr>
            <a:r>
              <a:rPr lang="en-US" dirty="0"/>
              <a:t>(CZ) Whereas the speaker of passage 1 in prompt 4 details </a:t>
            </a:r>
            <a:r>
              <a:rPr lang="en-US" u="sng" dirty="0">
                <a:solidFill>
                  <a:srgbClr val="FF0000"/>
                </a:solidFill>
              </a:rPr>
              <a:t>traditional</a:t>
            </a:r>
            <a:r>
              <a:rPr lang="en-US" dirty="0"/>
              <a:t> warfare, the speaker of passage 2 favors </a:t>
            </a:r>
            <a:r>
              <a:rPr lang="en-US" u="sng" dirty="0">
                <a:solidFill>
                  <a:srgbClr val="FF0000"/>
                </a:solidFill>
              </a:rPr>
              <a:t>unconventional</a:t>
            </a:r>
            <a:r>
              <a:rPr lang="en-US" dirty="0"/>
              <a:t> tactics. </a:t>
            </a:r>
          </a:p>
          <a:p>
            <a:pPr marL="1200150" lvl="2" indent="-285750">
              <a:buFont typeface="Arial" panose="020B0604020202020204" pitchFamily="34" charset="0"/>
              <a:buChar char="•"/>
            </a:pPr>
            <a:r>
              <a:rPr lang="en-US" dirty="0"/>
              <a:t>(MC/SR) Which prompt reads as a story line with a beginning, middle, and end? </a:t>
            </a:r>
            <a:r>
              <a:rPr lang="en-US" dirty="0">
                <a:solidFill>
                  <a:srgbClr val="FF0000"/>
                </a:solidFill>
              </a:rPr>
              <a:t>2</a:t>
            </a:r>
            <a:r>
              <a:rPr lang="en-US" baseline="30000" dirty="0">
                <a:solidFill>
                  <a:srgbClr val="FF0000"/>
                </a:solidFill>
              </a:rPr>
              <a:t>nd</a:t>
            </a:r>
            <a:r>
              <a:rPr lang="en-US" dirty="0">
                <a:solidFill>
                  <a:srgbClr val="FF0000"/>
                </a:solidFill>
              </a:rPr>
              <a:t>  </a:t>
            </a:r>
          </a:p>
          <a:p>
            <a:pPr marL="742950" lvl="1" indent="-285750">
              <a:buFont typeface="Arial" panose="020B0604020202020204" pitchFamily="34" charset="0"/>
              <a:buChar char="•"/>
            </a:pPr>
            <a:r>
              <a:rPr lang="en-US" sz="2400" dirty="0"/>
              <a:t>Advanced: </a:t>
            </a:r>
            <a:r>
              <a:rPr lang="en-US" sz="2400" i="1" dirty="0"/>
              <a:t>Application</a:t>
            </a:r>
            <a:endParaRPr lang="en-US" dirty="0"/>
          </a:p>
          <a:p>
            <a:pPr marL="1200150" lvl="2" indent="-285750"/>
            <a:r>
              <a:rPr lang="en-US" sz="2000" dirty="0"/>
              <a:t>(CZ) Using </a:t>
            </a:r>
            <a:r>
              <a:rPr lang="en-US" sz="2000" u="sng" dirty="0">
                <a:solidFill>
                  <a:srgbClr val="FF0000"/>
                </a:solidFill>
              </a:rPr>
              <a:t>data analysis </a:t>
            </a:r>
            <a:r>
              <a:rPr lang="en-US" sz="2000" dirty="0"/>
              <a:t>skills will help us extract meaningful information out of prompt 3.</a:t>
            </a:r>
          </a:p>
          <a:p>
            <a:pPr marL="1200150" lvl="2" indent="-285750"/>
            <a:r>
              <a:rPr lang="en-US" dirty="0"/>
              <a:t>(MC) Assume the author of prompt 1 wanted to convey a clear message. In order to extract the intended information, which of the following types of edits would help clarify prompt 1’s information? Select all that apply. (</a:t>
            </a:r>
            <a:r>
              <a:rPr lang="en-US" dirty="0">
                <a:solidFill>
                  <a:srgbClr val="FF0000"/>
                </a:solidFill>
              </a:rPr>
              <a:t>a) spelling (b) grammar (c ) topic/focus </a:t>
            </a:r>
            <a:r>
              <a:rPr lang="en-US" dirty="0"/>
              <a:t>(d) intent </a:t>
            </a:r>
            <a:endParaRPr lang="en-US" sz="2000" dirty="0"/>
          </a:p>
          <a:p>
            <a:pPr marL="1200150" lvl="2" indent="-285750"/>
            <a:r>
              <a:rPr lang="en-US" sz="2000" dirty="0"/>
              <a:t>(MC) </a:t>
            </a:r>
            <a:r>
              <a:rPr lang="en-US" dirty="0"/>
              <a:t>If the author of prompt 4’s passage 2 believed in their warfare tactic more, how might you rewrite their last sentence? </a:t>
            </a:r>
            <a:endParaRPr lang="en-US" sz="2000" dirty="0"/>
          </a:p>
          <a:p>
            <a:pPr marL="1200150" lvl="2" indent="-285750"/>
            <a:r>
              <a:rPr lang="en-US" dirty="0"/>
              <a:t>(MC)</a:t>
            </a:r>
          </a:p>
          <a:p>
            <a:pPr marL="1200150" lvl="2" indent="-285750"/>
            <a:r>
              <a:rPr lang="en-US" sz="2000" dirty="0"/>
              <a:t>(MC) []</a:t>
            </a:r>
          </a:p>
        </p:txBody>
      </p:sp>
      <p:sp>
        <p:nvSpPr>
          <p:cNvPr id="4" name="TextBox 3">
            <a:extLst>
              <a:ext uri="{FF2B5EF4-FFF2-40B4-BE49-F238E27FC236}">
                <a16:creationId xmlns:a16="http://schemas.microsoft.com/office/drawing/2014/main" id="{09B3BD9E-F7AB-6D3E-B000-E68C16026097}"/>
              </a:ext>
            </a:extLst>
          </p:cNvPr>
          <p:cNvSpPr txBox="1"/>
          <p:nvPr/>
        </p:nvSpPr>
        <p:spPr>
          <a:xfrm>
            <a:off x="10311357" y="6488668"/>
            <a:ext cx="1880643" cy="369332"/>
          </a:xfrm>
          <a:prstGeom prst="rect">
            <a:avLst/>
          </a:prstGeom>
          <a:noFill/>
        </p:spPr>
        <p:txBody>
          <a:bodyPr wrap="none" rtlCol="0">
            <a:spAutoFit/>
          </a:bodyPr>
          <a:lstStyle/>
          <a:p>
            <a:r>
              <a:rPr lang="en-US" dirty="0"/>
              <a:t>6. Functional Goal</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1</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1</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1 / 2</a:t>
            </a:r>
          </a:p>
        </p:txBody>
      </p:sp>
    </p:spTree>
    <p:extLst>
      <p:ext uri="{BB962C8B-B14F-4D97-AF65-F5344CB8AC3E}">
        <p14:creationId xmlns:p14="http://schemas.microsoft.com/office/powerpoint/2010/main" val="4394339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Practical Application</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11008364" cy="4570430"/>
          </a:xfrm>
        </p:spPr>
        <p:txBody>
          <a:bodyPr>
            <a:normAutofit fontScale="85000" lnSpcReduction="10000"/>
          </a:bodyPr>
          <a:lstStyle/>
          <a:p>
            <a:r>
              <a:rPr lang="en-US" sz="2400" dirty="0"/>
              <a:t>Providing information</a:t>
            </a:r>
          </a:p>
          <a:p>
            <a:pPr lvl="1"/>
            <a:r>
              <a:rPr lang="en-US" sz="2000" dirty="0"/>
              <a:t>Expert: </a:t>
            </a:r>
            <a:r>
              <a:rPr lang="en-US" sz="2000" i="1" dirty="0"/>
              <a:t>Analysis/Synthesis</a:t>
            </a:r>
            <a:endParaRPr lang="en-US" sz="2000" dirty="0"/>
          </a:p>
          <a:p>
            <a:pPr lvl="2"/>
            <a:r>
              <a:rPr lang="en-US" sz="1700" dirty="0"/>
              <a:t>(MC) Which prompt(s) feature(s) the most objective information? You may select more than one option if applicable. (a) prompt 1 </a:t>
            </a:r>
            <a:r>
              <a:rPr lang="en-US" sz="1700" dirty="0">
                <a:solidFill>
                  <a:srgbClr val="FF0000"/>
                </a:solidFill>
              </a:rPr>
              <a:t>(b) prompt 2(c ) prompt 3 </a:t>
            </a:r>
            <a:r>
              <a:rPr lang="en-US" sz="1700" dirty="0"/>
              <a:t>(d) prompt 4</a:t>
            </a:r>
          </a:p>
          <a:p>
            <a:pPr marL="1200150" lvl="2" indent="-285750">
              <a:buFont typeface="Arial" panose="020B0604020202020204" pitchFamily="34" charset="0"/>
              <a:buChar char="•"/>
            </a:pPr>
            <a:r>
              <a:rPr lang="en-US" sz="1700" dirty="0"/>
              <a:t>(MC) Please select the option that best describes the nature of prompt 4. (a) The opinions of the two passages are diametrically opposed. (b) The passages are both purely observational. (c ) It is difficult to determine the nature of the prompts without more context. </a:t>
            </a:r>
            <a:r>
              <a:rPr lang="en-US" sz="1700" dirty="0">
                <a:solidFill>
                  <a:srgbClr val="FF0000"/>
                </a:solidFill>
              </a:rPr>
              <a:t>(d) While the passages describe opposing warfare tactics, only one passage clearly favors its tactic.</a:t>
            </a:r>
          </a:p>
          <a:p>
            <a:pPr marL="1200150" lvl="2" indent="-285750"/>
            <a:r>
              <a:rPr lang="en-US" sz="1700" dirty="0"/>
              <a:t>(CZ) </a:t>
            </a:r>
          </a:p>
          <a:p>
            <a:pPr marL="1200150" lvl="2" indent="-285750"/>
            <a:r>
              <a:rPr lang="en-US" sz="1700" dirty="0"/>
              <a:t>(SR) []</a:t>
            </a:r>
            <a:endParaRPr lang="en-US" sz="1700" dirty="0">
              <a:solidFill>
                <a:srgbClr val="FF0000"/>
              </a:solidFill>
            </a:endParaRPr>
          </a:p>
          <a:p>
            <a:pPr marL="1200150" lvl="2" indent="-285750"/>
            <a:r>
              <a:rPr lang="en-US" sz="1700" dirty="0"/>
              <a:t>(SR) []</a:t>
            </a:r>
          </a:p>
          <a:p>
            <a:pPr marL="742950" lvl="1" indent="-285750"/>
            <a:r>
              <a:rPr lang="en-US" sz="2000" dirty="0"/>
              <a:t>Master: </a:t>
            </a:r>
            <a:r>
              <a:rPr lang="en-US" sz="2000" i="1" dirty="0"/>
              <a:t>Synthesis/Evaluation</a:t>
            </a:r>
            <a:endParaRPr lang="en-US" sz="2000" dirty="0"/>
          </a:p>
          <a:p>
            <a:pPr marL="1200150" lvl="2" indent="-285750"/>
            <a:r>
              <a:rPr lang="en-US" sz="1700" dirty="0"/>
              <a:t>(MC) In prompt 2, how might the mission have turned out if the team did not possess the skills, expertise, and qualities it did? Please select all sensible possibilities. </a:t>
            </a:r>
            <a:r>
              <a:rPr lang="en-US" sz="1700" dirty="0">
                <a:solidFill>
                  <a:srgbClr val="FF0000"/>
                </a:solidFill>
              </a:rPr>
              <a:t>(a) mission failure (b) team retreat (c ) increased casualties </a:t>
            </a:r>
            <a:r>
              <a:rPr lang="en-US" sz="1700" dirty="0"/>
              <a:t>(d) none of the above</a:t>
            </a:r>
            <a:endParaRPr lang="en-US" sz="1700" i="1" dirty="0"/>
          </a:p>
          <a:p>
            <a:pPr marL="1200150" lvl="2" indent="-285750"/>
            <a:r>
              <a:rPr lang="en-US" sz="1700" dirty="0"/>
              <a:t>(MC/ER) If the author of prompt 4’s passage 2 believed in their warfare tactic more, how might you rewrite their last sentence? [</a:t>
            </a:r>
            <a:r>
              <a:rPr lang="en-US" sz="1700" dirty="0">
                <a:solidFill>
                  <a:srgbClr val="FF0000"/>
                </a:solidFill>
              </a:rPr>
              <a:t>wording may vary, but look out for one sentence and overall supportive tone; criticisms deflected or no longer present</a:t>
            </a:r>
            <a:r>
              <a:rPr lang="en-US" sz="1700" dirty="0"/>
              <a:t>]</a:t>
            </a:r>
          </a:p>
          <a:p>
            <a:pPr marL="1200150" lvl="2" indent="-285750">
              <a:buFont typeface="Arial" panose="020B0604020202020204" pitchFamily="34" charset="0"/>
              <a:buChar char="•"/>
            </a:pPr>
            <a:r>
              <a:rPr lang="en-US" sz="1700" dirty="0"/>
              <a:t>(MC/ER) The relationship between mission success rate and # of personnel is reported in prompt 3 for half of the year. The other half of data exists but is not reported in this table. Should we declare any patterns we see in this table to be true of the entire data set?  [</a:t>
            </a:r>
            <a:r>
              <a:rPr lang="en-US" sz="1700" dirty="0">
                <a:solidFill>
                  <a:srgbClr val="FF0000"/>
                </a:solidFill>
              </a:rPr>
              <a:t>no: potentially biased/skewed and therefore unrepresentative</a:t>
            </a:r>
            <a:r>
              <a:rPr lang="en-US" sz="1700" dirty="0"/>
              <a:t>]</a:t>
            </a:r>
          </a:p>
          <a:p>
            <a:pPr marL="1200150" lvl="2" indent="-285750">
              <a:buFont typeface="Arial" panose="020B0604020202020204" pitchFamily="34" charset="0"/>
              <a:buChar char="•"/>
            </a:pPr>
            <a:r>
              <a:rPr lang="en-US" sz="1700" dirty="0"/>
              <a:t>MC</a:t>
            </a:r>
          </a:p>
          <a:p>
            <a:pPr marL="1200150" lvl="2" indent="-285750">
              <a:buFont typeface="Arial" panose="020B0604020202020204" pitchFamily="34" charset="0"/>
              <a:buChar char="•"/>
            </a:pPr>
            <a:r>
              <a:rPr lang="en-US" sz="1700" dirty="0"/>
              <a:t>MC</a:t>
            </a:r>
          </a:p>
        </p:txBody>
      </p:sp>
      <p:sp>
        <p:nvSpPr>
          <p:cNvPr id="4" name="TextBox 3">
            <a:extLst>
              <a:ext uri="{FF2B5EF4-FFF2-40B4-BE49-F238E27FC236}">
                <a16:creationId xmlns:a16="http://schemas.microsoft.com/office/drawing/2014/main" id="{09B3BD9E-F7AB-6D3E-B000-E68C16026097}"/>
              </a:ext>
            </a:extLst>
          </p:cNvPr>
          <p:cNvSpPr txBox="1"/>
          <p:nvPr/>
        </p:nvSpPr>
        <p:spPr>
          <a:xfrm>
            <a:off x="10364256" y="6488668"/>
            <a:ext cx="1880643" cy="369332"/>
          </a:xfrm>
          <a:prstGeom prst="rect">
            <a:avLst/>
          </a:prstGeom>
          <a:noFill/>
        </p:spPr>
        <p:txBody>
          <a:bodyPr wrap="none" rtlCol="0">
            <a:spAutoFit/>
          </a:bodyPr>
          <a:lstStyle/>
          <a:p>
            <a:r>
              <a:rPr lang="en-US" dirty="0"/>
              <a:t>6. Functional Goal</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1</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3 / 3</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2 / 2</a:t>
            </a:r>
          </a:p>
        </p:txBody>
      </p:sp>
    </p:spTree>
    <p:extLst>
      <p:ext uri="{BB962C8B-B14F-4D97-AF65-F5344CB8AC3E}">
        <p14:creationId xmlns:p14="http://schemas.microsoft.com/office/powerpoint/2010/main" val="5392287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Practical Application</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46284" y="1690688"/>
            <a:ext cx="11099432" cy="4570430"/>
          </a:xfrm>
        </p:spPr>
        <p:txBody>
          <a:bodyPr>
            <a:normAutofit fontScale="70000" lnSpcReduction="20000"/>
          </a:bodyPr>
          <a:lstStyle/>
          <a:p>
            <a:r>
              <a:rPr lang="en-US" dirty="0"/>
              <a:t>Assistance</a:t>
            </a:r>
          </a:p>
          <a:p>
            <a:pPr lvl="1"/>
            <a:r>
              <a:rPr lang="en-US" dirty="0"/>
              <a:t>Basic: </a:t>
            </a:r>
            <a:r>
              <a:rPr lang="en-US" i="1" dirty="0"/>
              <a:t>Knowledge</a:t>
            </a:r>
            <a:endParaRPr lang="en-US" dirty="0"/>
          </a:p>
          <a:p>
            <a:pPr lvl="2"/>
            <a:r>
              <a:rPr lang="en-US" dirty="0"/>
              <a:t>(T/F) []</a:t>
            </a:r>
          </a:p>
          <a:p>
            <a:pPr lvl="2"/>
            <a:r>
              <a:rPr lang="en-US" dirty="0"/>
              <a:t>(SR) Please tell me the number of sentences in prompt 1. </a:t>
            </a:r>
            <a:r>
              <a:rPr lang="en-US" dirty="0">
                <a:solidFill>
                  <a:srgbClr val="FF0000"/>
                </a:solidFill>
              </a:rPr>
              <a:t>4</a:t>
            </a:r>
          </a:p>
          <a:p>
            <a:pPr lvl="2"/>
            <a:r>
              <a:rPr lang="en-US" dirty="0"/>
              <a:t>(SR) </a:t>
            </a:r>
          </a:p>
          <a:p>
            <a:pPr lvl="2"/>
            <a:r>
              <a:rPr lang="en-US" dirty="0"/>
              <a:t>MC []</a:t>
            </a:r>
          </a:p>
          <a:p>
            <a:pPr lvl="2"/>
            <a:r>
              <a:rPr lang="en-US" dirty="0"/>
              <a:t>MC []</a:t>
            </a:r>
          </a:p>
          <a:p>
            <a:pPr marL="742950" lvl="1" indent="-285750">
              <a:buFont typeface="Arial" panose="020B0604020202020204" pitchFamily="34" charset="0"/>
              <a:buChar char="•"/>
            </a:pPr>
            <a:r>
              <a:rPr lang="en-US" sz="2400" dirty="0"/>
              <a:t>Intermediate: </a:t>
            </a:r>
            <a:r>
              <a:rPr lang="en-US" sz="2400" i="1" dirty="0"/>
              <a:t>Comprehension</a:t>
            </a:r>
            <a:endParaRPr lang="en-US" sz="2400" dirty="0"/>
          </a:p>
          <a:p>
            <a:pPr marL="1200150" lvl="2" indent="-285750">
              <a:buFont typeface="Arial" panose="020B0604020202020204" pitchFamily="34" charset="0"/>
              <a:buChar char="•"/>
            </a:pPr>
            <a:r>
              <a:rPr lang="en-US" sz="2000" dirty="0"/>
              <a:t>(SR) [] </a:t>
            </a:r>
          </a:p>
          <a:p>
            <a:pPr marL="1200150" lvl="2" indent="-285750">
              <a:buFont typeface="Arial" panose="020B0604020202020204" pitchFamily="34" charset="0"/>
              <a:buChar char="•"/>
            </a:pPr>
            <a:r>
              <a:rPr lang="en-US" sz="2000" dirty="0"/>
              <a:t>(T/F) []</a:t>
            </a:r>
          </a:p>
          <a:p>
            <a:pPr marL="1200150" lvl="2" indent="-285750">
              <a:buFont typeface="Arial" panose="020B0604020202020204" pitchFamily="34" charset="0"/>
              <a:buChar char="•"/>
            </a:pPr>
            <a:r>
              <a:rPr lang="en-US" dirty="0"/>
              <a:t>(MC) []</a:t>
            </a:r>
          </a:p>
          <a:p>
            <a:pPr marL="1200150" lvl="2" indent="-285750">
              <a:buFont typeface="Arial" panose="020B0604020202020204" pitchFamily="34" charset="0"/>
              <a:buChar char="•"/>
            </a:pPr>
            <a:r>
              <a:rPr lang="en-US" dirty="0"/>
              <a:t>MC []</a:t>
            </a:r>
          </a:p>
          <a:p>
            <a:pPr marL="1200150" lvl="2" indent="-285750">
              <a:buFont typeface="Arial" panose="020B0604020202020204" pitchFamily="34" charset="0"/>
              <a:buChar char="•"/>
            </a:pPr>
            <a:r>
              <a:rPr lang="en-US" dirty="0"/>
              <a:t>MC[]</a:t>
            </a:r>
          </a:p>
          <a:p>
            <a:pPr marL="742950" lvl="1" indent="-285750">
              <a:buFont typeface="Arial" panose="020B0604020202020204" pitchFamily="34" charset="0"/>
              <a:buChar char="•"/>
            </a:pPr>
            <a:r>
              <a:rPr lang="en-US" sz="2400" dirty="0"/>
              <a:t>Advanced: </a:t>
            </a:r>
            <a:r>
              <a:rPr lang="en-US" sz="2400" i="1" dirty="0"/>
              <a:t>Application</a:t>
            </a:r>
            <a:endParaRPr lang="en-US" dirty="0"/>
          </a:p>
          <a:p>
            <a:pPr marL="1200150" lvl="2" indent="-285750"/>
            <a:r>
              <a:rPr lang="en-US" sz="2000" dirty="0"/>
              <a:t>(</a:t>
            </a:r>
            <a:r>
              <a:rPr lang="en-US" dirty="0"/>
              <a:t>SR</a:t>
            </a:r>
            <a:r>
              <a:rPr lang="en-US" sz="2000" dirty="0"/>
              <a:t>) </a:t>
            </a:r>
            <a:r>
              <a:rPr lang="en-US" dirty="0"/>
              <a:t>Please provide a phrase to replace “ebbed and flowed” in prompt 1 that better suits the meaning of the sentence.</a:t>
            </a:r>
            <a:endParaRPr lang="en-US" sz="2000" dirty="0"/>
          </a:p>
          <a:p>
            <a:pPr marL="1200150" lvl="2" indent="-285750"/>
            <a:r>
              <a:rPr lang="en-US" dirty="0"/>
              <a:t>(MC) []</a:t>
            </a:r>
            <a:endParaRPr lang="en-US" sz="2000" dirty="0"/>
          </a:p>
          <a:p>
            <a:pPr marL="1200150" lvl="2" indent="-285750"/>
            <a:r>
              <a:rPr lang="en-US" sz="2000" dirty="0"/>
              <a:t>(MC) []</a:t>
            </a:r>
          </a:p>
          <a:p>
            <a:pPr marL="1200150" lvl="2" indent="-285750"/>
            <a:r>
              <a:rPr lang="en-US" dirty="0"/>
              <a:t>MC []</a:t>
            </a:r>
          </a:p>
          <a:p>
            <a:pPr marL="1200150" lvl="2" indent="-285750"/>
            <a:r>
              <a:rPr lang="en-US" sz="2000" dirty="0"/>
              <a:t>MC []</a:t>
            </a:r>
          </a:p>
        </p:txBody>
      </p:sp>
      <p:sp>
        <p:nvSpPr>
          <p:cNvPr id="4" name="TextBox 3">
            <a:extLst>
              <a:ext uri="{FF2B5EF4-FFF2-40B4-BE49-F238E27FC236}">
                <a16:creationId xmlns:a16="http://schemas.microsoft.com/office/drawing/2014/main" id="{09B3BD9E-F7AB-6D3E-B000-E68C16026097}"/>
              </a:ext>
            </a:extLst>
          </p:cNvPr>
          <p:cNvSpPr txBox="1"/>
          <p:nvPr/>
        </p:nvSpPr>
        <p:spPr>
          <a:xfrm>
            <a:off x="10311357" y="6488668"/>
            <a:ext cx="1880643" cy="369332"/>
          </a:xfrm>
          <a:prstGeom prst="rect">
            <a:avLst/>
          </a:prstGeom>
          <a:noFill/>
        </p:spPr>
        <p:txBody>
          <a:bodyPr wrap="none" rtlCol="0">
            <a:spAutoFit/>
          </a:bodyPr>
          <a:lstStyle/>
          <a:p>
            <a:r>
              <a:rPr lang="en-US" dirty="0"/>
              <a:t>6. Functional Goal</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1</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1</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1 / 2</a:t>
            </a:r>
          </a:p>
        </p:txBody>
      </p:sp>
    </p:spTree>
    <p:extLst>
      <p:ext uri="{BB962C8B-B14F-4D97-AF65-F5344CB8AC3E}">
        <p14:creationId xmlns:p14="http://schemas.microsoft.com/office/powerpoint/2010/main" val="7322048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Practical Application</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11008364" cy="4570430"/>
          </a:xfrm>
        </p:spPr>
        <p:txBody>
          <a:bodyPr>
            <a:normAutofit lnSpcReduction="10000"/>
          </a:bodyPr>
          <a:lstStyle/>
          <a:p>
            <a:r>
              <a:rPr lang="en-US" sz="2400" dirty="0"/>
              <a:t>Assistance</a:t>
            </a:r>
          </a:p>
          <a:p>
            <a:pPr lvl="1"/>
            <a:r>
              <a:rPr lang="en-US" sz="2000" dirty="0"/>
              <a:t>Expert: </a:t>
            </a:r>
            <a:r>
              <a:rPr lang="en-US" sz="2000" i="1" dirty="0"/>
              <a:t>Analysis/Synthesis</a:t>
            </a:r>
            <a:endParaRPr lang="en-US" sz="2000" dirty="0"/>
          </a:p>
          <a:p>
            <a:pPr lvl="2"/>
            <a:r>
              <a:rPr lang="en-US" sz="1700" dirty="0"/>
              <a:t>(MC/SR/CZ) The two metrics in prompt 3 that have a directly proportional relationship to each other are </a:t>
            </a:r>
            <a:r>
              <a:rPr lang="en-US" sz="1700" u="sng" dirty="0">
                <a:solidFill>
                  <a:srgbClr val="FF0000"/>
                </a:solidFill>
              </a:rPr>
              <a:t>mission success rate </a:t>
            </a:r>
            <a:r>
              <a:rPr lang="en-US" sz="1700" dirty="0"/>
              <a:t>and </a:t>
            </a:r>
            <a:r>
              <a:rPr lang="en-US" sz="1700" u="sng" dirty="0">
                <a:solidFill>
                  <a:srgbClr val="FF0000"/>
                </a:solidFill>
              </a:rPr>
              <a:t>number of personnel.</a:t>
            </a:r>
          </a:p>
          <a:p>
            <a:pPr marL="1200150" lvl="2" indent="-285750">
              <a:buFont typeface="Arial" panose="020B0604020202020204" pitchFamily="34" charset="0"/>
              <a:buChar char="•"/>
            </a:pPr>
            <a:r>
              <a:rPr lang="en-US" sz="1700" dirty="0"/>
              <a:t>(MC/ER) []</a:t>
            </a:r>
          </a:p>
          <a:p>
            <a:pPr marL="1200150" lvl="2" indent="-285750"/>
            <a:r>
              <a:rPr lang="en-US" sz="1700" dirty="0"/>
              <a:t>(ER) []</a:t>
            </a:r>
          </a:p>
          <a:p>
            <a:pPr marL="1200150" lvl="2" indent="-285750"/>
            <a:r>
              <a:rPr lang="en-US" sz="1700" dirty="0"/>
              <a:t>(SR) []</a:t>
            </a:r>
            <a:endParaRPr lang="en-US" sz="1700" dirty="0">
              <a:solidFill>
                <a:srgbClr val="FF0000"/>
              </a:solidFill>
            </a:endParaRPr>
          </a:p>
          <a:p>
            <a:pPr marL="1200150" lvl="2" indent="-285750"/>
            <a:r>
              <a:rPr lang="en-US" sz="1700" dirty="0"/>
              <a:t>(SR) []</a:t>
            </a:r>
          </a:p>
          <a:p>
            <a:pPr marL="742950" lvl="1" indent="-285750"/>
            <a:r>
              <a:rPr lang="en-US" sz="2000" dirty="0"/>
              <a:t>Master: </a:t>
            </a:r>
            <a:r>
              <a:rPr lang="en-US" sz="2000" i="1" dirty="0"/>
              <a:t>Synthesis/Evaluation</a:t>
            </a:r>
            <a:endParaRPr lang="en-US" sz="2000" dirty="0"/>
          </a:p>
          <a:p>
            <a:pPr marL="1200150" lvl="2" indent="-285750"/>
            <a:r>
              <a:rPr lang="en-US" sz="1700" dirty="0"/>
              <a:t>(SR/MC) In prompt 1, please indicate the sentence which does not belong in the paragraph [</a:t>
            </a:r>
            <a:r>
              <a:rPr lang="en-US" sz="1700" dirty="0">
                <a:solidFill>
                  <a:srgbClr val="FF0000"/>
                </a:solidFill>
              </a:rPr>
              <a:t>last sentence]</a:t>
            </a:r>
            <a:endParaRPr lang="en-US" sz="1700" i="1" dirty="0">
              <a:solidFill>
                <a:srgbClr val="FF0000"/>
              </a:solidFill>
            </a:endParaRPr>
          </a:p>
          <a:p>
            <a:pPr marL="1200150" lvl="2" indent="-285750">
              <a:buFont typeface="Arial" panose="020B0604020202020204" pitchFamily="34" charset="0"/>
              <a:buChar char="•"/>
            </a:pPr>
            <a:r>
              <a:rPr lang="en-US" sz="1700" dirty="0"/>
              <a:t>(MC/ER) []</a:t>
            </a:r>
          </a:p>
          <a:p>
            <a:pPr marL="1200150" lvl="2" indent="-285750">
              <a:buFont typeface="Arial" panose="020B0604020202020204" pitchFamily="34" charset="0"/>
              <a:buChar char="•"/>
            </a:pPr>
            <a:r>
              <a:rPr lang="en-US" sz="1700" dirty="0"/>
              <a:t>(MC/ER) []</a:t>
            </a:r>
          </a:p>
          <a:p>
            <a:pPr marL="1200150" lvl="2" indent="-285750">
              <a:buFont typeface="Arial" panose="020B0604020202020204" pitchFamily="34" charset="0"/>
              <a:buChar char="•"/>
            </a:pPr>
            <a:r>
              <a:rPr lang="en-US" sz="1700" dirty="0"/>
              <a:t>(MC)</a:t>
            </a:r>
          </a:p>
          <a:p>
            <a:pPr marL="1200150" lvl="2" indent="-285750">
              <a:buFont typeface="Arial" panose="020B0604020202020204" pitchFamily="34" charset="0"/>
              <a:buChar char="•"/>
            </a:pPr>
            <a:r>
              <a:rPr lang="en-US" sz="1700" dirty="0"/>
              <a:t>(ER) Please provide a rewrite of prompt 1 that fixes spelling/grammar, conceptual, and writing quality issues from the original version. It needs to maintaining the same overall theme and length of the original. [</a:t>
            </a:r>
            <a:r>
              <a:rPr lang="en-US" sz="1700" dirty="0">
                <a:solidFill>
                  <a:srgbClr val="FF0000"/>
                </a:solidFill>
              </a:rPr>
              <a:t>responses will vary, so look out for a similar-length, similarly-themed rewrite</a:t>
            </a:r>
            <a:r>
              <a:rPr lang="en-US" sz="1700" dirty="0"/>
              <a:t>]</a:t>
            </a:r>
          </a:p>
        </p:txBody>
      </p:sp>
      <p:sp>
        <p:nvSpPr>
          <p:cNvPr id="4" name="TextBox 3">
            <a:extLst>
              <a:ext uri="{FF2B5EF4-FFF2-40B4-BE49-F238E27FC236}">
                <a16:creationId xmlns:a16="http://schemas.microsoft.com/office/drawing/2014/main" id="{09B3BD9E-F7AB-6D3E-B000-E68C16026097}"/>
              </a:ext>
            </a:extLst>
          </p:cNvPr>
          <p:cNvSpPr txBox="1"/>
          <p:nvPr/>
        </p:nvSpPr>
        <p:spPr>
          <a:xfrm>
            <a:off x="10364256" y="6488668"/>
            <a:ext cx="1880643" cy="369332"/>
          </a:xfrm>
          <a:prstGeom prst="rect">
            <a:avLst/>
          </a:prstGeom>
          <a:noFill/>
        </p:spPr>
        <p:txBody>
          <a:bodyPr wrap="none" rtlCol="0">
            <a:spAutoFit/>
          </a:bodyPr>
          <a:lstStyle/>
          <a:p>
            <a:r>
              <a:rPr lang="en-US" dirty="0"/>
              <a:t>6. Functional Goal</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1</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3 / 3</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2 / 2</a:t>
            </a:r>
          </a:p>
        </p:txBody>
      </p:sp>
    </p:spTree>
    <p:extLst>
      <p:ext uri="{BB962C8B-B14F-4D97-AF65-F5344CB8AC3E}">
        <p14:creationId xmlns:p14="http://schemas.microsoft.com/office/powerpoint/2010/main" val="12652482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Practical Application</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46284" y="1690688"/>
            <a:ext cx="11099432" cy="4570430"/>
          </a:xfrm>
        </p:spPr>
        <p:txBody>
          <a:bodyPr>
            <a:normAutofit fontScale="70000" lnSpcReduction="20000"/>
          </a:bodyPr>
          <a:lstStyle/>
          <a:p>
            <a:r>
              <a:rPr lang="en-US" dirty="0"/>
              <a:t>Entertainment</a:t>
            </a:r>
          </a:p>
          <a:p>
            <a:pPr lvl="1"/>
            <a:r>
              <a:rPr lang="en-US" dirty="0"/>
              <a:t>Basic: </a:t>
            </a:r>
            <a:r>
              <a:rPr lang="en-US" i="1" dirty="0"/>
              <a:t>Knowledge</a:t>
            </a:r>
            <a:endParaRPr lang="en-US" dirty="0"/>
          </a:p>
          <a:p>
            <a:pPr lvl="2"/>
            <a:r>
              <a:rPr lang="en-US" dirty="0"/>
              <a:t>(T/F) []</a:t>
            </a:r>
          </a:p>
          <a:p>
            <a:pPr lvl="2"/>
            <a:r>
              <a:rPr lang="en-US" dirty="0"/>
              <a:t>(MC) []</a:t>
            </a:r>
          </a:p>
          <a:p>
            <a:pPr lvl="2"/>
            <a:r>
              <a:rPr lang="en-US" dirty="0"/>
              <a:t>(SR) []</a:t>
            </a:r>
          </a:p>
          <a:p>
            <a:pPr lvl="2"/>
            <a:r>
              <a:rPr lang="en-US" dirty="0"/>
              <a:t>MC []</a:t>
            </a:r>
          </a:p>
          <a:p>
            <a:pPr lvl="2"/>
            <a:r>
              <a:rPr lang="en-US" dirty="0"/>
              <a:t>MC []</a:t>
            </a:r>
          </a:p>
          <a:p>
            <a:pPr marL="742950" lvl="1" indent="-285750">
              <a:buFont typeface="Arial" panose="020B0604020202020204" pitchFamily="34" charset="0"/>
              <a:buChar char="•"/>
            </a:pPr>
            <a:r>
              <a:rPr lang="en-US" sz="2400" dirty="0"/>
              <a:t>Intermediate: </a:t>
            </a:r>
            <a:r>
              <a:rPr lang="en-US" sz="2400" i="1" dirty="0"/>
              <a:t>Comprehension</a:t>
            </a:r>
            <a:endParaRPr lang="en-US" sz="2400" dirty="0"/>
          </a:p>
          <a:p>
            <a:pPr marL="1200150" lvl="2" indent="-285750">
              <a:buFont typeface="Arial" panose="020B0604020202020204" pitchFamily="34" charset="0"/>
              <a:buChar char="•"/>
            </a:pPr>
            <a:r>
              <a:rPr lang="en-US" sz="2000" dirty="0"/>
              <a:t>(SR) [] </a:t>
            </a:r>
          </a:p>
          <a:p>
            <a:pPr marL="1200150" lvl="2" indent="-285750">
              <a:buFont typeface="Arial" panose="020B0604020202020204" pitchFamily="34" charset="0"/>
              <a:buChar char="•"/>
            </a:pPr>
            <a:r>
              <a:rPr lang="en-US" sz="2000" dirty="0"/>
              <a:t>(T/F) []</a:t>
            </a:r>
          </a:p>
          <a:p>
            <a:pPr marL="1200150" lvl="2" indent="-285750">
              <a:buFont typeface="Arial" panose="020B0604020202020204" pitchFamily="34" charset="0"/>
              <a:buChar char="•"/>
            </a:pPr>
            <a:r>
              <a:rPr lang="en-US" dirty="0"/>
              <a:t>(MC) []</a:t>
            </a:r>
          </a:p>
          <a:p>
            <a:pPr marL="1200150" lvl="2" indent="-285750">
              <a:buFont typeface="Arial" panose="020B0604020202020204" pitchFamily="34" charset="0"/>
              <a:buChar char="•"/>
            </a:pPr>
            <a:r>
              <a:rPr lang="en-US" dirty="0"/>
              <a:t>MC []</a:t>
            </a:r>
          </a:p>
          <a:p>
            <a:pPr marL="1200150" lvl="2" indent="-285750">
              <a:buFont typeface="Arial" panose="020B0604020202020204" pitchFamily="34" charset="0"/>
              <a:buChar char="•"/>
            </a:pPr>
            <a:r>
              <a:rPr lang="en-US" dirty="0"/>
              <a:t>MC[]</a:t>
            </a:r>
          </a:p>
          <a:p>
            <a:pPr marL="742950" lvl="1" indent="-285750">
              <a:buFont typeface="Arial" panose="020B0604020202020204" pitchFamily="34" charset="0"/>
              <a:buChar char="•"/>
            </a:pPr>
            <a:r>
              <a:rPr lang="en-US" sz="2400" dirty="0"/>
              <a:t>Advanced: </a:t>
            </a:r>
            <a:r>
              <a:rPr lang="en-US" sz="2400" i="1" dirty="0"/>
              <a:t>Application</a:t>
            </a:r>
            <a:endParaRPr lang="en-US" dirty="0"/>
          </a:p>
          <a:p>
            <a:pPr marL="1200150" lvl="2" indent="-285750"/>
            <a:r>
              <a:rPr lang="en-US" sz="2000" dirty="0"/>
              <a:t>(MC) []</a:t>
            </a:r>
          </a:p>
          <a:p>
            <a:pPr marL="1200150" lvl="2" indent="-285750"/>
            <a:r>
              <a:rPr lang="en-US" dirty="0"/>
              <a:t>(MC) []</a:t>
            </a:r>
            <a:endParaRPr lang="en-US" sz="2000" dirty="0"/>
          </a:p>
          <a:p>
            <a:pPr marL="1200150" lvl="2" indent="-285750"/>
            <a:r>
              <a:rPr lang="en-US" sz="2000" dirty="0"/>
              <a:t>(MC) []</a:t>
            </a:r>
          </a:p>
          <a:p>
            <a:pPr marL="1200150" lvl="2" indent="-285750"/>
            <a:r>
              <a:rPr lang="en-US" dirty="0"/>
              <a:t>MC []</a:t>
            </a:r>
          </a:p>
          <a:p>
            <a:pPr marL="1200150" lvl="2" indent="-285750"/>
            <a:r>
              <a:rPr lang="en-US" sz="2000" dirty="0"/>
              <a:t>MC []</a:t>
            </a:r>
          </a:p>
        </p:txBody>
      </p:sp>
      <p:sp>
        <p:nvSpPr>
          <p:cNvPr id="4" name="TextBox 3">
            <a:extLst>
              <a:ext uri="{FF2B5EF4-FFF2-40B4-BE49-F238E27FC236}">
                <a16:creationId xmlns:a16="http://schemas.microsoft.com/office/drawing/2014/main" id="{09B3BD9E-F7AB-6D3E-B000-E68C16026097}"/>
              </a:ext>
            </a:extLst>
          </p:cNvPr>
          <p:cNvSpPr txBox="1"/>
          <p:nvPr/>
        </p:nvSpPr>
        <p:spPr>
          <a:xfrm>
            <a:off x="10311357" y="6488668"/>
            <a:ext cx="1880643" cy="369332"/>
          </a:xfrm>
          <a:prstGeom prst="rect">
            <a:avLst/>
          </a:prstGeom>
          <a:noFill/>
        </p:spPr>
        <p:txBody>
          <a:bodyPr wrap="none" rtlCol="0">
            <a:spAutoFit/>
          </a:bodyPr>
          <a:lstStyle/>
          <a:p>
            <a:r>
              <a:rPr lang="en-US" dirty="0"/>
              <a:t>6. Functional Goal</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1</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1</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1 / 2</a:t>
            </a:r>
          </a:p>
        </p:txBody>
      </p:sp>
    </p:spTree>
    <p:extLst>
      <p:ext uri="{BB962C8B-B14F-4D97-AF65-F5344CB8AC3E}">
        <p14:creationId xmlns:p14="http://schemas.microsoft.com/office/powerpoint/2010/main" val="4689273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Practical Application</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11008364" cy="4570430"/>
          </a:xfrm>
        </p:spPr>
        <p:txBody>
          <a:bodyPr>
            <a:normAutofit/>
          </a:bodyPr>
          <a:lstStyle/>
          <a:p>
            <a:r>
              <a:rPr lang="en-US" sz="2400" dirty="0"/>
              <a:t>Entertainment</a:t>
            </a:r>
          </a:p>
          <a:p>
            <a:pPr lvl="1"/>
            <a:r>
              <a:rPr lang="en-US" sz="2000" dirty="0"/>
              <a:t>Expert: </a:t>
            </a:r>
            <a:r>
              <a:rPr lang="en-US" sz="2000" i="1" dirty="0"/>
              <a:t>Analysis/Synthesis</a:t>
            </a:r>
            <a:endParaRPr lang="en-US" sz="2000" dirty="0"/>
          </a:p>
          <a:p>
            <a:pPr lvl="2"/>
            <a:r>
              <a:rPr lang="en-US" sz="1700" dirty="0"/>
              <a:t>(MC) []</a:t>
            </a:r>
          </a:p>
          <a:p>
            <a:pPr marL="1200150" lvl="2" indent="-285750">
              <a:buFont typeface="Arial" panose="020B0604020202020204" pitchFamily="34" charset="0"/>
              <a:buChar char="•"/>
            </a:pPr>
            <a:r>
              <a:rPr lang="en-US" sz="1700" dirty="0"/>
              <a:t>(MC/ER) []</a:t>
            </a:r>
          </a:p>
          <a:p>
            <a:pPr marL="1200150" lvl="2" indent="-285750"/>
            <a:r>
              <a:rPr lang="en-US" sz="1700" dirty="0"/>
              <a:t>(ER) []</a:t>
            </a:r>
          </a:p>
          <a:p>
            <a:pPr marL="1200150" lvl="2" indent="-285750"/>
            <a:r>
              <a:rPr lang="en-US" sz="1700" dirty="0"/>
              <a:t>(SR) []</a:t>
            </a:r>
            <a:endParaRPr lang="en-US" sz="1700" dirty="0">
              <a:solidFill>
                <a:srgbClr val="FF0000"/>
              </a:solidFill>
            </a:endParaRPr>
          </a:p>
          <a:p>
            <a:pPr marL="1200150" lvl="2" indent="-285750"/>
            <a:r>
              <a:rPr lang="en-US" sz="1700" dirty="0"/>
              <a:t>(SR) []</a:t>
            </a:r>
          </a:p>
          <a:p>
            <a:pPr marL="742950" lvl="1" indent="-285750"/>
            <a:r>
              <a:rPr lang="en-US" sz="2000" dirty="0"/>
              <a:t>Master: </a:t>
            </a:r>
            <a:r>
              <a:rPr lang="en-US" sz="2000" i="1" dirty="0"/>
              <a:t>Synthesis/Evaluation</a:t>
            </a:r>
            <a:endParaRPr lang="en-US" sz="2000" dirty="0"/>
          </a:p>
          <a:p>
            <a:pPr marL="1200150" lvl="2" indent="-285750"/>
            <a:r>
              <a:rPr lang="en-US" sz="1700" dirty="0"/>
              <a:t>(MC/ER) []</a:t>
            </a:r>
            <a:endParaRPr lang="en-US" sz="1700" i="1" dirty="0"/>
          </a:p>
          <a:p>
            <a:pPr marL="1200150" lvl="2" indent="-285750">
              <a:buFont typeface="Arial" panose="020B0604020202020204" pitchFamily="34" charset="0"/>
              <a:buChar char="•"/>
            </a:pPr>
            <a:r>
              <a:rPr lang="en-US" sz="1700" dirty="0"/>
              <a:t>(MC/ER) []</a:t>
            </a:r>
          </a:p>
          <a:p>
            <a:pPr marL="1200150" lvl="2" indent="-285750">
              <a:buFont typeface="Arial" panose="020B0604020202020204" pitchFamily="34" charset="0"/>
              <a:buChar char="•"/>
            </a:pPr>
            <a:r>
              <a:rPr lang="en-US" sz="1700" dirty="0"/>
              <a:t>(MC/ER) []</a:t>
            </a:r>
          </a:p>
          <a:p>
            <a:pPr marL="1200150" lvl="2" indent="-285750">
              <a:buFont typeface="Arial" panose="020B0604020202020204" pitchFamily="34" charset="0"/>
              <a:buChar char="•"/>
            </a:pPr>
            <a:r>
              <a:rPr lang="en-US" sz="1700" dirty="0"/>
              <a:t>MC</a:t>
            </a:r>
          </a:p>
          <a:p>
            <a:pPr marL="1200150" lvl="2" indent="-285750">
              <a:buFont typeface="Arial" panose="020B0604020202020204" pitchFamily="34" charset="0"/>
              <a:buChar char="•"/>
            </a:pPr>
            <a:r>
              <a:rPr lang="en-US" sz="1700" dirty="0"/>
              <a:t>MC</a:t>
            </a:r>
          </a:p>
        </p:txBody>
      </p:sp>
      <p:sp>
        <p:nvSpPr>
          <p:cNvPr id="4" name="TextBox 3">
            <a:extLst>
              <a:ext uri="{FF2B5EF4-FFF2-40B4-BE49-F238E27FC236}">
                <a16:creationId xmlns:a16="http://schemas.microsoft.com/office/drawing/2014/main" id="{09B3BD9E-F7AB-6D3E-B000-E68C16026097}"/>
              </a:ext>
            </a:extLst>
          </p:cNvPr>
          <p:cNvSpPr txBox="1"/>
          <p:nvPr/>
        </p:nvSpPr>
        <p:spPr>
          <a:xfrm>
            <a:off x="10364256" y="6488668"/>
            <a:ext cx="1880643" cy="369332"/>
          </a:xfrm>
          <a:prstGeom prst="rect">
            <a:avLst/>
          </a:prstGeom>
          <a:noFill/>
        </p:spPr>
        <p:txBody>
          <a:bodyPr wrap="none" rtlCol="0">
            <a:spAutoFit/>
          </a:bodyPr>
          <a:lstStyle/>
          <a:p>
            <a:r>
              <a:rPr lang="en-US" dirty="0"/>
              <a:t>6. Functional Goal</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1</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3 / 3</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2 / 2</a:t>
            </a:r>
          </a:p>
        </p:txBody>
      </p:sp>
    </p:spTree>
    <p:extLst>
      <p:ext uri="{BB962C8B-B14F-4D97-AF65-F5344CB8AC3E}">
        <p14:creationId xmlns:p14="http://schemas.microsoft.com/office/powerpoint/2010/main" val="22513673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Cognitive Enhancement</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46284" y="1690688"/>
            <a:ext cx="11099432" cy="4570430"/>
          </a:xfrm>
        </p:spPr>
        <p:txBody>
          <a:bodyPr>
            <a:normAutofit fontScale="47500" lnSpcReduction="20000"/>
          </a:bodyPr>
          <a:lstStyle/>
          <a:p>
            <a:r>
              <a:rPr lang="en-US" dirty="0"/>
              <a:t>Assisting in educational or cognitive tasks</a:t>
            </a:r>
          </a:p>
          <a:p>
            <a:pPr lvl="1"/>
            <a:r>
              <a:rPr lang="en-US" dirty="0"/>
              <a:t>Basic: </a:t>
            </a:r>
            <a:r>
              <a:rPr lang="en-US" i="1" dirty="0"/>
              <a:t>Knowledge</a:t>
            </a:r>
            <a:endParaRPr lang="en-US" dirty="0"/>
          </a:p>
          <a:p>
            <a:pPr lvl="2"/>
            <a:r>
              <a:rPr lang="en-US" dirty="0"/>
              <a:t>(</a:t>
            </a:r>
            <a:r>
              <a:rPr lang="en-US" dirty="0">
                <a:solidFill>
                  <a:srgbClr val="FF0000"/>
                </a:solidFill>
              </a:rPr>
              <a:t>T</a:t>
            </a:r>
            <a:r>
              <a:rPr lang="en-US" dirty="0"/>
              <a:t>/F) At the Air Force’s Air University, Airmen are trained to effectively deliver airpower by using their education and their cognitive skills. </a:t>
            </a:r>
          </a:p>
          <a:p>
            <a:pPr lvl="2"/>
            <a:r>
              <a:rPr lang="en-US" dirty="0"/>
              <a:t>(MC) Match the examples of military with their cognitive skills. (a) intelligence analysis (b) tactical planning (c ) foreign language communication (</a:t>
            </a:r>
            <a:r>
              <a:rPr lang="en-US" dirty="0" err="1"/>
              <a:t>i</a:t>
            </a:r>
            <a:r>
              <a:rPr lang="en-US" dirty="0"/>
              <a:t>) strategizing (ii) interpretation (iii) pattern recognition </a:t>
            </a:r>
            <a:r>
              <a:rPr lang="en-US" dirty="0">
                <a:solidFill>
                  <a:srgbClr val="FF0000"/>
                </a:solidFill>
              </a:rPr>
              <a:t>(a) iii (b) </a:t>
            </a:r>
            <a:r>
              <a:rPr lang="en-US" dirty="0" err="1">
                <a:solidFill>
                  <a:srgbClr val="FF0000"/>
                </a:solidFill>
              </a:rPr>
              <a:t>i</a:t>
            </a:r>
            <a:r>
              <a:rPr lang="en-US" dirty="0">
                <a:solidFill>
                  <a:srgbClr val="FF0000"/>
                </a:solidFill>
              </a:rPr>
              <a:t>. (c ) ii</a:t>
            </a:r>
          </a:p>
          <a:p>
            <a:pPr lvl="2"/>
            <a:r>
              <a:rPr lang="en-US" dirty="0"/>
              <a:t>(MC) What are some examples of military tasks that may leverage an Airman’s education? Select all that apply. </a:t>
            </a:r>
            <a:r>
              <a:rPr lang="en-US" dirty="0">
                <a:solidFill>
                  <a:srgbClr val="FF0000"/>
                </a:solidFill>
              </a:rPr>
              <a:t>(a) cybersecurity (b) research and development ( c) mission-centric planning (d) aircraft maintenance </a:t>
            </a:r>
          </a:p>
          <a:p>
            <a:pPr lvl="2"/>
            <a:r>
              <a:rPr lang="en-US" dirty="0"/>
              <a:t>(MC) Which situation would require statistical analysis? Select all that apply. (a) Elect monthly military awardees. </a:t>
            </a:r>
            <a:r>
              <a:rPr lang="en-US" dirty="0">
                <a:solidFill>
                  <a:srgbClr val="FF0000"/>
                </a:solidFill>
              </a:rPr>
              <a:t>(b) Using 1000 surviving and non-surviving aircraft to determine which areas of aircraft are typically most vulnerable to attack. (c ) Determine USAF hiring patterns over the last 30 years.</a:t>
            </a:r>
            <a:r>
              <a:rPr lang="en-US" dirty="0"/>
              <a:t> (d) Write an op-ed about the new General’s leadership. </a:t>
            </a:r>
          </a:p>
          <a:p>
            <a:pPr lvl="2"/>
            <a:r>
              <a:rPr lang="en-US" dirty="0">
                <a:solidFill>
                  <a:srgbClr val="FF0000"/>
                </a:solidFill>
              </a:rPr>
              <a:t>(T</a:t>
            </a:r>
            <a:r>
              <a:rPr lang="en-US" dirty="0"/>
              <a:t>/F) Military missions may require the use of more than one cognitive skill. </a:t>
            </a:r>
          </a:p>
          <a:p>
            <a:pPr marL="742950" lvl="1" indent="-285750">
              <a:buFont typeface="Arial" panose="020B0604020202020204" pitchFamily="34" charset="0"/>
              <a:buChar char="•"/>
            </a:pPr>
            <a:r>
              <a:rPr lang="en-US" sz="2400" dirty="0"/>
              <a:t>Intermediate: </a:t>
            </a:r>
            <a:r>
              <a:rPr lang="en-US" sz="2400" i="1" dirty="0"/>
              <a:t>Comprehension</a:t>
            </a:r>
            <a:endParaRPr lang="en-US" sz="2400" dirty="0"/>
          </a:p>
          <a:p>
            <a:pPr marL="1200150" lvl="2" indent="-285750"/>
            <a:r>
              <a:rPr lang="en-US" sz="2000" dirty="0"/>
              <a:t>(SR/CZ) If I ask you to help me sort the generals by their rank, what information do I need to know in order to complete this task? </a:t>
            </a:r>
            <a:r>
              <a:rPr lang="en-US" sz="2000" dirty="0">
                <a:solidFill>
                  <a:srgbClr val="FF0000"/>
                </a:solidFill>
              </a:rPr>
              <a:t>Rank of each general</a:t>
            </a:r>
          </a:p>
          <a:p>
            <a:pPr marL="1200150" lvl="2" indent="-285750">
              <a:buFont typeface="Arial" panose="020B0604020202020204" pitchFamily="34" charset="0"/>
              <a:buChar char="•"/>
            </a:pPr>
            <a:r>
              <a:rPr lang="en-US" sz="2000" dirty="0"/>
              <a:t>(</a:t>
            </a:r>
            <a:r>
              <a:rPr lang="en-US" dirty="0"/>
              <a:t>CZ</a:t>
            </a:r>
            <a:r>
              <a:rPr lang="en-US" sz="2000" dirty="0"/>
              <a:t>) If I ask you to help me determine the number of troops fit into a certain number of total Airmen, the mathematical skill I need is </a:t>
            </a:r>
            <a:r>
              <a:rPr lang="en-US" sz="2000" u="sng" dirty="0">
                <a:solidFill>
                  <a:srgbClr val="FF0000"/>
                </a:solidFill>
              </a:rPr>
              <a:t>(long) division</a:t>
            </a:r>
            <a:r>
              <a:rPr lang="en-US" sz="2000" dirty="0"/>
              <a:t>. </a:t>
            </a:r>
          </a:p>
          <a:p>
            <a:pPr marL="1200150" lvl="2" indent="-285750"/>
            <a:r>
              <a:rPr lang="en-US" dirty="0"/>
              <a:t>(MC) If I ask you to find the relationship between a pair of military-themed words below, and identify the most similar relationship in the answer options, what skill set(s) do you need to complete this? Select all that apply. </a:t>
            </a:r>
            <a:r>
              <a:rPr lang="en-US" dirty="0">
                <a:solidFill>
                  <a:srgbClr val="FF0000"/>
                </a:solidFill>
              </a:rPr>
              <a:t>(a) semantic (b) logic</a:t>
            </a:r>
            <a:r>
              <a:rPr lang="en-US" dirty="0"/>
              <a:t> (c ) math (d) deduction </a:t>
            </a:r>
          </a:p>
          <a:p>
            <a:pPr marL="1200150" lvl="2" indent="-285750">
              <a:buFont typeface="Arial" panose="020B0604020202020204" pitchFamily="34" charset="0"/>
              <a:buChar char="•"/>
            </a:pPr>
            <a:r>
              <a:rPr lang="en-US" dirty="0"/>
              <a:t>(MC) If a General has to make an analysis-based decision after reading a situational awareness report, which skill(s) will (s)he need? Select all that apply. </a:t>
            </a:r>
            <a:r>
              <a:rPr lang="en-US" dirty="0">
                <a:solidFill>
                  <a:srgbClr val="FF0000"/>
                </a:solidFill>
              </a:rPr>
              <a:t>(a) comprehension (b) reasoning </a:t>
            </a:r>
            <a:r>
              <a:rPr lang="en-US" dirty="0"/>
              <a:t>( c) memory ( d) spatial awareness</a:t>
            </a:r>
          </a:p>
          <a:p>
            <a:pPr marL="1200150" lvl="2" indent="-285750">
              <a:buFont typeface="Arial" panose="020B0604020202020204" pitchFamily="34" charset="0"/>
              <a:buChar char="•"/>
            </a:pPr>
            <a:r>
              <a:rPr lang="en-US" dirty="0"/>
              <a:t>(MC) If a reconnaissance specialist receives a foreign-language recording from a near-peer adversary, what skill(s) will (s)he need as related to the recording? (a) statistical analysis </a:t>
            </a:r>
            <a:r>
              <a:rPr lang="en-US" dirty="0">
                <a:solidFill>
                  <a:srgbClr val="FF0000"/>
                </a:solidFill>
              </a:rPr>
              <a:t>(b) listening comprehension</a:t>
            </a:r>
            <a:r>
              <a:rPr lang="en-US" dirty="0"/>
              <a:t> (c ) reading comprehension (d) none of the above</a:t>
            </a:r>
          </a:p>
          <a:p>
            <a:pPr marL="742950" lvl="1" indent="-285750">
              <a:buFont typeface="Arial" panose="020B0604020202020204" pitchFamily="34" charset="0"/>
              <a:buChar char="•"/>
            </a:pPr>
            <a:r>
              <a:rPr lang="en-US" sz="2400" dirty="0"/>
              <a:t>Advanced: </a:t>
            </a:r>
            <a:r>
              <a:rPr lang="en-US" sz="2400" i="1" dirty="0"/>
              <a:t>Application</a:t>
            </a:r>
            <a:endParaRPr lang="en-US" dirty="0"/>
          </a:p>
          <a:p>
            <a:pPr marL="1200150" lvl="2" indent="-285750"/>
            <a:r>
              <a:rPr lang="en-US" sz="2000" dirty="0"/>
              <a:t>(MC) “attack” is to “defend” as </a:t>
            </a:r>
            <a:r>
              <a:rPr lang="en-US" sz="2000" dirty="0">
                <a:solidFill>
                  <a:srgbClr val="FF0000"/>
                </a:solidFill>
              </a:rPr>
              <a:t>(a) “advance” is to “retreat” </a:t>
            </a:r>
            <a:r>
              <a:rPr lang="en-US" sz="2000" dirty="0"/>
              <a:t>(b) ”soldier” is to “trooper” ( c) “tank” is to “sniper” (d) “barracks” is to “battlefield” </a:t>
            </a:r>
            <a:endParaRPr lang="en-US" dirty="0"/>
          </a:p>
          <a:p>
            <a:pPr marL="1200150" lvl="2" indent="-285750"/>
            <a:r>
              <a:rPr lang="en-US" sz="2000" dirty="0"/>
              <a:t>(MC) </a:t>
            </a:r>
            <a:r>
              <a:rPr lang="en-US" dirty="0"/>
              <a:t>Below are sample skills needed to complete a reconnaissance mission. Select the one that typically does not belong. (a) spatial awareness (b) memory ( c) perception </a:t>
            </a:r>
            <a:r>
              <a:rPr lang="en-US" dirty="0">
                <a:solidFill>
                  <a:srgbClr val="FF0000"/>
                </a:solidFill>
              </a:rPr>
              <a:t>(d) creativity  </a:t>
            </a:r>
            <a:endParaRPr lang="en-US" sz="2000" dirty="0">
              <a:solidFill>
                <a:srgbClr val="FF0000"/>
              </a:solidFill>
            </a:endParaRPr>
          </a:p>
          <a:p>
            <a:pPr marL="1200150" lvl="2" indent="-285750"/>
            <a:r>
              <a:rPr lang="en-US" dirty="0"/>
              <a:t>(MC) If I ask you to determine the statistical significance of the 2023 recruitment results, what skill set would you most likely need? (a) memory (b ) perception </a:t>
            </a:r>
            <a:r>
              <a:rPr lang="en-US" dirty="0">
                <a:solidFill>
                  <a:srgbClr val="FF0000"/>
                </a:solidFill>
              </a:rPr>
              <a:t>(c ) data analytics</a:t>
            </a:r>
            <a:r>
              <a:rPr lang="en-US" dirty="0"/>
              <a:t> (d) none of the above</a:t>
            </a:r>
          </a:p>
          <a:p>
            <a:pPr marL="1200150" lvl="2" indent="-285750"/>
            <a:r>
              <a:rPr lang="en-US" sz="2000" dirty="0"/>
              <a:t>(SR) What is 122,286 Airmen into 458 troops? (</a:t>
            </a:r>
            <a:r>
              <a:rPr lang="en-US" sz="2000" dirty="0">
                <a:solidFill>
                  <a:srgbClr val="FF0000"/>
                </a:solidFill>
              </a:rPr>
              <a:t>exactly 267 airmen per troop</a:t>
            </a:r>
            <a:r>
              <a:rPr lang="en-US" sz="2000" dirty="0"/>
              <a:t>). </a:t>
            </a:r>
          </a:p>
          <a:p>
            <a:pPr marL="1200150" lvl="2" indent="-285750"/>
            <a:r>
              <a:rPr lang="en-US" dirty="0"/>
              <a:t>(SR) </a:t>
            </a:r>
            <a:r>
              <a:rPr lang="en-US" dirty="0">
                <a:latin typeface="Roboto" panose="02000000000000000000" pitchFamily="2" charset="0"/>
              </a:rPr>
              <a:t>I have 448,441 airmen that need to be split into 888 troops. how many airmen will be in each troop? </a:t>
            </a:r>
            <a:r>
              <a:rPr lang="en-US" dirty="0" err="1">
                <a:solidFill>
                  <a:srgbClr val="FF0000"/>
                </a:solidFill>
                <a:latin typeface="Roboto" panose="02000000000000000000" pitchFamily="2" charset="0"/>
              </a:rPr>
              <a:t>Approx</a:t>
            </a:r>
            <a:r>
              <a:rPr lang="en-US" dirty="0">
                <a:solidFill>
                  <a:srgbClr val="FF0000"/>
                </a:solidFill>
                <a:latin typeface="Roboto" panose="02000000000000000000" pitchFamily="2" charset="0"/>
              </a:rPr>
              <a:t> 505, mention that it is not even. </a:t>
            </a:r>
          </a:p>
          <a:p>
            <a:pPr marL="1200150" lvl="2" indent="-285750"/>
            <a:r>
              <a:rPr lang="en-US" sz="2000" dirty="0"/>
              <a:t>If I need to determine what factors may affect cognition in military tasks, what might I need to measure? (a) cognitive performance baseline (b) post-event cognitive performance (c ) assess patient behavior of well-known cognition interferants </a:t>
            </a:r>
            <a:r>
              <a:rPr lang="en-US" sz="2000" dirty="0">
                <a:solidFill>
                  <a:srgbClr val="FF0000"/>
                </a:solidFill>
              </a:rPr>
              <a:t>(d) all of the above</a:t>
            </a:r>
          </a:p>
        </p:txBody>
      </p:sp>
      <p:sp>
        <p:nvSpPr>
          <p:cNvPr id="4" name="TextBox 3">
            <a:extLst>
              <a:ext uri="{FF2B5EF4-FFF2-40B4-BE49-F238E27FC236}">
                <a16:creationId xmlns:a16="http://schemas.microsoft.com/office/drawing/2014/main" id="{09B3BD9E-F7AB-6D3E-B000-E68C16026097}"/>
              </a:ext>
            </a:extLst>
          </p:cNvPr>
          <p:cNvSpPr txBox="1"/>
          <p:nvPr/>
        </p:nvSpPr>
        <p:spPr>
          <a:xfrm>
            <a:off x="10311357" y="6488668"/>
            <a:ext cx="1880643" cy="369332"/>
          </a:xfrm>
          <a:prstGeom prst="rect">
            <a:avLst/>
          </a:prstGeom>
          <a:noFill/>
        </p:spPr>
        <p:txBody>
          <a:bodyPr wrap="none" rtlCol="0">
            <a:spAutoFit/>
          </a:bodyPr>
          <a:lstStyle/>
          <a:p>
            <a:r>
              <a:rPr lang="en-US" dirty="0"/>
              <a:t>6. Functional Goal</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1</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1</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1 / 2</a:t>
            </a:r>
          </a:p>
        </p:txBody>
      </p:sp>
    </p:spTree>
    <p:extLst>
      <p:ext uri="{BB962C8B-B14F-4D97-AF65-F5344CB8AC3E}">
        <p14:creationId xmlns:p14="http://schemas.microsoft.com/office/powerpoint/2010/main" val="11457970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Cognitive Enhancement</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11008364" cy="4570430"/>
          </a:xfrm>
        </p:spPr>
        <p:txBody>
          <a:bodyPr>
            <a:normAutofit fontScale="92500" lnSpcReduction="10000"/>
          </a:bodyPr>
          <a:lstStyle/>
          <a:p>
            <a:r>
              <a:rPr lang="en-US" sz="1400" dirty="0"/>
              <a:t>Assisting in educational or cognitive tasks</a:t>
            </a:r>
          </a:p>
          <a:p>
            <a:pPr lvl="1"/>
            <a:r>
              <a:rPr lang="en-US" sz="1200" dirty="0"/>
              <a:t>Expert: </a:t>
            </a:r>
            <a:r>
              <a:rPr lang="en-US" sz="1200" i="1" dirty="0"/>
              <a:t>Analysis/Synthesis</a:t>
            </a:r>
            <a:endParaRPr lang="en-US" sz="1200" dirty="0"/>
          </a:p>
          <a:p>
            <a:pPr lvl="2"/>
            <a:r>
              <a:rPr lang="en-US" sz="1000" dirty="0"/>
              <a:t>(MC) Scenario: During a military operation, a soldier discovers that a civilian family is hiding in a building that is being used by enemy combatants as a stronghold. The soldier knows that attacking the building could potentially harm or kill the innocent civilians. What should the soldier do? Select the option that balances both the military mission and ethics of civilian treatment. A) Follow orders and proceed with the attack, prioritizing the mission objective. </a:t>
            </a:r>
            <a:r>
              <a:rPr lang="en-US" sz="1000" dirty="0">
                <a:solidFill>
                  <a:srgbClr val="FF0000"/>
                </a:solidFill>
              </a:rPr>
              <a:t>B) Inform the commanding officer about the presence of civilians and request alternative strategies to minimize harm to innocent lives. </a:t>
            </a:r>
            <a:r>
              <a:rPr lang="en-US" sz="1000" dirty="0"/>
              <a:t>C) Take immediate action to evacuate the civilians from the building, even if it means jeopardizing the mission. D) Ignore the presence of civilians and proceed with the attack, considering it collateral damage in the pursuit of victory.</a:t>
            </a:r>
          </a:p>
          <a:p>
            <a:pPr marL="1200150" lvl="2" indent="-285750"/>
            <a:r>
              <a:rPr lang="en-US" sz="1000" dirty="0"/>
              <a:t>(CZ)* A military unit conducted a series of physical fitness tests for its soldiers. The number of push-ups performed by 10 soldiers during the test was 30, 35, 25, 40, 30, 35, 20, 25, 30, 35, respectively. Fill in the blank: if the commander wants to set the number of pushups to be the </a:t>
            </a:r>
            <a:r>
              <a:rPr lang="en-US" sz="1000" u="sng" dirty="0">
                <a:solidFill>
                  <a:srgbClr val="FF0000"/>
                </a:solidFill>
              </a:rPr>
              <a:t>mode</a:t>
            </a:r>
            <a:r>
              <a:rPr lang="en-US" sz="1000" dirty="0"/>
              <a:t> of this data set, she can either pick 30 or 35.</a:t>
            </a:r>
          </a:p>
          <a:p>
            <a:pPr marL="1200150" lvl="2" indent="-285750"/>
            <a:r>
              <a:rPr lang="en-US" sz="1000" dirty="0"/>
              <a:t>(ER) You are a military commander planning a complex operation involving multiple units and objectives. One of your subordinate units reports encountering unexpected enemy resistance and requests immediate reinforcements. However, another unit reports that they have identified a critical enemy supply route that, if disrupted, could significantly weaken the enemy's position. How would you prioritize your resources and make a decision that maximizes the chances of mission success? </a:t>
            </a:r>
          </a:p>
          <a:p>
            <a:pPr marL="1200150" lvl="2" indent="-285750"/>
            <a:r>
              <a:rPr lang="en-US" sz="1000" dirty="0"/>
              <a:t>(MA) Match the military activity with the primary cognitive skill needed to complete it. (a) military strategy (b) cyber warfare ( c) combat leadership (d) close quarters combat </a:t>
            </a:r>
            <a:r>
              <a:rPr lang="en-US" sz="1000" dirty="0" err="1"/>
              <a:t>i</a:t>
            </a:r>
            <a:r>
              <a:rPr lang="en-US" sz="1000" dirty="0"/>
              <a:t>. decision making ii. Spatial awareness ( e) operations research iii. Problem solving iv. Data analysis v. strategic thinking </a:t>
            </a:r>
            <a:r>
              <a:rPr lang="en-US" sz="1000" dirty="0">
                <a:solidFill>
                  <a:srgbClr val="FF0000"/>
                </a:solidFill>
              </a:rPr>
              <a:t>(a)v (b)iii (c )I (d) ii (e ) iv </a:t>
            </a:r>
          </a:p>
          <a:p>
            <a:pPr marL="1200150" lvl="2" indent="-285750"/>
            <a:r>
              <a:rPr lang="en-US" sz="1000" dirty="0"/>
              <a:t>(MA) If a commander has to determine the most effective warfare strategy while also considering civilian safety, which cognitive skill set is primarily/best associated with each part of the commander’s task? (a) Determine warfare strategy (b) safety considerations (</a:t>
            </a:r>
            <a:r>
              <a:rPr lang="en-US" sz="1000" dirty="0" err="1"/>
              <a:t>i</a:t>
            </a:r>
            <a:r>
              <a:rPr lang="en-US" sz="1000" dirty="0"/>
              <a:t>) critical thinking (ii) statistical analysis (iii) diplomacy (iv) decision making </a:t>
            </a:r>
            <a:r>
              <a:rPr lang="en-US" sz="1000" dirty="0">
                <a:solidFill>
                  <a:srgbClr val="FF0000"/>
                </a:solidFill>
              </a:rPr>
              <a:t>(a)(iv) (b)(</a:t>
            </a:r>
            <a:r>
              <a:rPr lang="en-US" sz="1000" dirty="0" err="1">
                <a:solidFill>
                  <a:srgbClr val="FF0000"/>
                </a:solidFill>
              </a:rPr>
              <a:t>i</a:t>
            </a:r>
            <a:r>
              <a:rPr lang="en-US" sz="1000" dirty="0">
                <a:solidFill>
                  <a:srgbClr val="FF0000"/>
                </a:solidFill>
              </a:rPr>
              <a:t>)</a:t>
            </a:r>
          </a:p>
          <a:p>
            <a:pPr marL="742950" lvl="1" indent="-285750"/>
            <a:r>
              <a:rPr lang="en-US" sz="1200" dirty="0"/>
              <a:t>Master: </a:t>
            </a:r>
            <a:r>
              <a:rPr lang="en-US" sz="1200" i="1" dirty="0"/>
              <a:t>Synthesis/Evaluation</a:t>
            </a:r>
            <a:endParaRPr lang="en-US" sz="1200" dirty="0"/>
          </a:p>
          <a:p>
            <a:pPr marL="1200150" lvl="2" indent="-285750"/>
            <a:r>
              <a:rPr lang="en-US" sz="1000" dirty="0"/>
              <a:t>(SR) </a:t>
            </a:r>
            <a:r>
              <a:rPr lang="en-US" sz="1100" dirty="0"/>
              <a:t>A statistician is trying to determine the best strategy for increasing survivor rate of Air Force pilots. He focused on the planes that survived and returned, analyzing where these aircraft had </a:t>
            </a:r>
            <a:r>
              <a:rPr lang="en-US" sz="1100" dirty="0" err="1"/>
              <a:t>thec</a:t>
            </a:r>
            <a:r>
              <a:rPr lang="en-US" sz="1100" dirty="0"/>
              <a:t> most amount of bullet holes. He determined that fortifying the most frequently-hit areas of the aircraft would increase Airman survivor rate. Unfortunately, he was wrong. What happened? Explain in no more than five words, but it can be explained in exactly two words. </a:t>
            </a:r>
            <a:r>
              <a:rPr lang="en-US" sz="1100" dirty="0">
                <a:solidFill>
                  <a:srgbClr val="FF0000"/>
                </a:solidFill>
              </a:rPr>
              <a:t>Survivorship bias/skewed analysis</a:t>
            </a:r>
            <a:endParaRPr lang="en-US" sz="1000" i="1" dirty="0"/>
          </a:p>
          <a:p>
            <a:pPr marL="1200150" lvl="2" indent="-285750"/>
            <a:r>
              <a:rPr lang="en-US" sz="1000" dirty="0"/>
              <a:t>(SR) </a:t>
            </a:r>
            <a:r>
              <a:rPr lang="en-US" sz="1100" dirty="0"/>
              <a:t>One Airman believes it is critical to learn more about near-peer adversary capabilities, while the other Airman believes it is more important to focus on fortifying our own capabilities. Which perspective can reconcile the differing opinions of the two Airmen regarding near-peer adversary capabilities and fortifying our own capabilities? A) Both perspectives are equally important and should be pursued simultaneously. B) Understanding near-peer adversary capabilities is more crucial, as it allows for better strategic planning and preparedness. C) Fortifying our own capabilities should take precedence, as it ensures our ability to counter any potential threats effectively. </a:t>
            </a:r>
            <a:r>
              <a:rPr lang="en-US" sz="1100" dirty="0">
                <a:solidFill>
                  <a:srgbClr val="FF0000"/>
                </a:solidFill>
              </a:rPr>
              <a:t>D) Understanding what our adversaries can do will allow us to prioritize the skills we need to strengthen.</a:t>
            </a:r>
            <a:endParaRPr lang="en-US" sz="1000" dirty="0"/>
          </a:p>
          <a:p>
            <a:pPr marL="1200150" lvl="2" indent="-285750"/>
            <a:r>
              <a:rPr lang="en-US" sz="1000" dirty="0"/>
              <a:t>(SR/ER) Based on the data set in the starred (*) question, would it be unreasonable to set the push-up goal to 75 push ups? Please use numbers that express statistical significance in your response. Format your response as: name of statistically significant number name: # or range. </a:t>
            </a:r>
            <a:r>
              <a:rPr lang="en-US" sz="1000" dirty="0">
                <a:solidFill>
                  <a:srgbClr val="FF0000"/>
                </a:solidFill>
              </a:rPr>
              <a:t>Unreasonable: avg, normal </a:t>
            </a:r>
            <a:r>
              <a:rPr lang="en-US" sz="1000" dirty="0" err="1">
                <a:solidFill>
                  <a:srgbClr val="FF0000"/>
                </a:solidFill>
              </a:rPr>
              <a:t>dist</a:t>
            </a:r>
            <a:r>
              <a:rPr lang="en-US" sz="1000" dirty="0">
                <a:solidFill>
                  <a:srgbClr val="FF0000"/>
                </a:solidFill>
              </a:rPr>
              <a:t>, etc.</a:t>
            </a:r>
          </a:p>
          <a:p>
            <a:pPr marL="1200150" lvl="2" indent="-285750"/>
            <a:r>
              <a:rPr lang="en-US" sz="1000" dirty="0"/>
              <a:t>(MC) To simplify the interpretation of racial and ethnic demographics in the Air Force, analysts would like to combine race and ethnicity into one category and renormalize the percentages. What are the probable outcomes? Select all of the relevant answers: </a:t>
            </a:r>
            <a:r>
              <a:rPr lang="en-US" sz="1000" dirty="0">
                <a:solidFill>
                  <a:srgbClr val="FF0000"/>
                </a:solidFill>
              </a:rPr>
              <a:t>(a) The analyst simplifies the picture for the stakeholder into one “identity” metric. (b) Airman can have both a race and an ethnicity, so this data will be lost.</a:t>
            </a:r>
            <a:r>
              <a:rPr lang="en-US" sz="1000" dirty="0"/>
              <a:t> (c ) The analyst will get tired of doing calculations. (d) none of the above</a:t>
            </a:r>
          </a:p>
          <a:p>
            <a:pPr marL="1200150" lvl="2" indent="-285750"/>
            <a:r>
              <a:rPr lang="en-US" sz="1000" dirty="0"/>
              <a:t>(MC) In order to determine racial diversity in the Air Force, a team of analysts calculated the Gini-Simpson diversity index for student groups of different sizes. What are probable outcomes? (a) large student groups will be well approximated. (b) The index value of small student groups are subject to random hiring patterns and therefore unreliable. ( c) The same Gini-Simpson value for two different groups could represent either the same or different demographic breakdowns. </a:t>
            </a:r>
            <a:r>
              <a:rPr lang="en-US" sz="1000" dirty="0">
                <a:solidFill>
                  <a:srgbClr val="FF0000"/>
                </a:solidFill>
              </a:rPr>
              <a:t>(d) all of the above.</a:t>
            </a:r>
          </a:p>
        </p:txBody>
      </p:sp>
      <p:sp>
        <p:nvSpPr>
          <p:cNvPr id="4" name="TextBox 3">
            <a:extLst>
              <a:ext uri="{FF2B5EF4-FFF2-40B4-BE49-F238E27FC236}">
                <a16:creationId xmlns:a16="http://schemas.microsoft.com/office/drawing/2014/main" id="{09B3BD9E-F7AB-6D3E-B000-E68C16026097}"/>
              </a:ext>
            </a:extLst>
          </p:cNvPr>
          <p:cNvSpPr txBox="1"/>
          <p:nvPr/>
        </p:nvSpPr>
        <p:spPr>
          <a:xfrm>
            <a:off x="10364256" y="6488668"/>
            <a:ext cx="1880643" cy="369332"/>
          </a:xfrm>
          <a:prstGeom prst="rect">
            <a:avLst/>
          </a:prstGeom>
          <a:noFill/>
        </p:spPr>
        <p:txBody>
          <a:bodyPr wrap="none" rtlCol="0">
            <a:spAutoFit/>
          </a:bodyPr>
          <a:lstStyle/>
          <a:p>
            <a:r>
              <a:rPr lang="en-US" dirty="0"/>
              <a:t>6. Functional Goal</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1</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3 / 3</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2 / 2</a:t>
            </a:r>
          </a:p>
        </p:txBody>
      </p:sp>
    </p:spTree>
    <p:extLst>
      <p:ext uri="{BB962C8B-B14F-4D97-AF65-F5344CB8AC3E}">
        <p14:creationId xmlns:p14="http://schemas.microsoft.com/office/powerpoint/2010/main" val="15509601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r>
              <a:rPr lang="en-US" dirty="0"/>
              <a:t>Adaptation and Flexibility</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838200" y="1825625"/>
            <a:ext cx="10515600" cy="4351338"/>
          </a:xfrm>
        </p:spPr>
        <p:txBody>
          <a:bodyPr>
            <a:normAutofit/>
          </a:bodyPr>
          <a:lstStyle/>
          <a:p>
            <a:r>
              <a:rPr lang="en-US" dirty="0"/>
              <a:t>Static </a:t>
            </a:r>
          </a:p>
          <a:p>
            <a:pPr lvl="1"/>
            <a:r>
              <a:rPr lang="en-US" dirty="0"/>
              <a:t>Predefined responses to specific questions</a:t>
            </a:r>
          </a:p>
          <a:p>
            <a:r>
              <a:rPr lang="en-US" dirty="0"/>
              <a:t>Dynamic </a:t>
            </a:r>
          </a:p>
          <a:p>
            <a:pPr lvl="1"/>
            <a:r>
              <a:rPr lang="en-US" dirty="0"/>
              <a:t>Adapting responses based on context, user feedback, or ongoing conversation</a:t>
            </a:r>
          </a:p>
          <a:p>
            <a:pPr marL="457200" lvl="1" indent="0">
              <a:buNone/>
            </a:pPr>
            <a:endParaRPr lang="en-US" dirty="0"/>
          </a:p>
        </p:txBody>
      </p:sp>
      <p:sp>
        <p:nvSpPr>
          <p:cNvPr id="5" name="TextBox 4">
            <a:extLst>
              <a:ext uri="{FF2B5EF4-FFF2-40B4-BE49-F238E27FC236}">
                <a16:creationId xmlns:a16="http://schemas.microsoft.com/office/drawing/2014/main" id="{F07AB50D-0BCE-05B8-256E-A1201E2FC65A}"/>
              </a:ext>
            </a:extLst>
          </p:cNvPr>
          <p:cNvSpPr txBox="1"/>
          <p:nvPr/>
        </p:nvSpPr>
        <p:spPr>
          <a:xfrm>
            <a:off x="11683527" y="6488668"/>
            <a:ext cx="508473" cy="369332"/>
          </a:xfrm>
          <a:prstGeom prst="rect">
            <a:avLst/>
          </a:prstGeom>
          <a:noFill/>
        </p:spPr>
        <p:txBody>
          <a:bodyPr wrap="none" rtlCol="0">
            <a:spAutoFit/>
          </a:bodyPr>
          <a:lstStyle/>
          <a:p>
            <a:r>
              <a:rPr lang="en-US" dirty="0"/>
              <a:t>7/8</a:t>
            </a:r>
          </a:p>
        </p:txBody>
      </p:sp>
    </p:spTree>
    <p:extLst>
      <p:ext uri="{BB962C8B-B14F-4D97-AF65-F5344CB8AC3E}">
        <p14:creationId xmlns:p14="http://schemas.microsoft.com/office/powerpoint/2010/main" val="31548086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Static</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46284" y="1690688"/>
            <a:ext cx="11099432" cy="4570430"/>
          </a:xfrm>
        </p:spPr>
        <p:txBody>
          <a:bodyPr>
            <a:normAutofit fontScale="70000" lnSpcReduction="20000"/>
          </a:bodyPr>
          <a:lstStyle/>
          <a:p>
            <a:r>
              <a:rPr lang="en-US" dirty="0"/>
              <a:t>Predefined responses to specific questions</a:t>
            </a:r>
          </a:p>
          <a:p>
            <a:pPr lvl="1"/>
            <a:r>
              <a:rPr lang="en-US" dirty="0"/>
              <a:t>Basic: </a:t>
            </a:r>
            <a:r>
              <a:rPr lang="en-US" i="1" dirty="0"/>
              <a:t>Knowledge</a:t>
            </a:r>
            <a:endParaRPr lang="en-US" dirty="0"/>
          </a:p>
          <a:p>
            <a:pPr lvl="2"/>
            <a:r>
              <a:rPr lang="en-US" dirty="0"/>
              <a:t>(T/F) []</a:t>
            </a:r>
          </a:p>
          <a:p>
            <a:pPr lvl="2"/>
            <a:r>
              <a:rPr lang="en-US" dirty="0"/>
              <a:t>(MC) []</a:t>
            </a:r>
          </a:p>
          <a:p>
            <a:pPr lvl="2"/>
            <a:r>
              <a:rPr lang="en-US" dirty="0"/>
              <a:t>(SR) []</a:t>
            </a:r>
          </a:p>
          <a:p>
            <a:pPr lvl="2"/>
            <a:r>
              <a:rPr lang="en-US" dirty="0"/>
              <a:t>MC []</a:t>
            </a:r>
          </a:p>
          <a:p>
            <a:pPr lvl="2"/>
            <a:r>
              <a:rPr lang="en-US" dirty="0"/>
              <a:t>MC []</a:t>
            </a:r>
          </a:p>
          <a:p>
            <a:pPr marL="742950" lvl="1" indent="-285750">
              <a:buFont typeface="Arial" panose="020B0604020202020204" pitchFamily="34" charset="0"/>
              <a:buChar char="•"/>
            </a:pPr>
            <a:r>
              <a:rPr lang="en-US" sz="2400" dirty="0"/>
              <a:t>Intermediate: </a:t>
            </a:r>
            <a:r>
              <a:rPr lang="en-US" sz="2400" i="1" dirty="0"/>
              <a:t>Comprehension</a:t>
            </a:r>
            <a:endParaRPr lang="en-US" sz="2400" dirty="0"/>
          </a:p>
          <a:p>
            <a:pPr marL="1200150" lvl="2" indent="-285750">
              <a:buFont typeface="Arial" panose="020B0604020202020204" pitchFamily="34" charset="0"/>
              <a:buChar char="•"/>
            </a:pPr>
            <a:r>
              <a:rPr lang="en-US" sz="2000" dirty="0"/>
              <a:t>(SR) [] </a:t>
            </a:r>
          </a:p>
          <a:p>
            <a:pPr marL="1200150" lvl="2" indent="-285750">
              <a:buFont typeface="Arial" panose="020B0604020202020204" pitchFamily="34" charset="0"/>
              <a:buChar char="•"/>
            </a:pPr>
            <a:r>
              <a:rPr lang="en-US" sz="2000" dirty="0"/>
              <a:t>(T/F) []</a:t>
            </a:r>
          </a:p>
          <a:p>
            <a:pPr marL="1200150" lvl="2" indent="-285750">
              <a:buFont typeface="Arial" panose="020B0604020202020204" pitchFamily="34" charset="0"/>
              <a:buChar char="•"/>
            </a:pPr>
            <a:r>
              <a:rPr lang="en-US" dirty="0"/>
              <a:t>(MC) []</a:t>
            </a:r>
          </a:p>
          <a:p>
            <a:pPr marL="1200150" lvl="2" indent="-285750">
              <a:buFont typeface="Arial" panose="020B0604020202020204" pitchFamily="34" charset="0"/>
              <a:buChar char="•"/>
            </a:pPr>
            <a:r>
              <a:rPr lang="en-US" dirty="0"/>
              <a:t>MC []</a:t>
            </a:r>
          </a:p>
          <a:p>
            <a:pPr marL="1200150" lvl="2" indent="-285750">
              <a:buFont typeface="Arial" panose="020B0604020202020204" pitchFamily="34" charset="0"/>
              <a:buChar char="•"/>
            </a:pPr>
            <a:r>
              <a:rPr lang="en-US" dirty="0"/>
              <a:t>MC[]</a:t>
            </a:r>
          </a:p>
          <a:p>
            <a:pPr marL="742950" lvl="1" indent="-285750">
              <a:buFont typeface="Arial" panose="020B0604020202020204" pitchFamily="34" charset="0"/>
              <a:buChar char="•"/>
            </a:pPr>
            <a:r>
              <a:rPr lang="en-US" sz="2400" dirty="0"/>
              <a:t>Advanced: </a:t>
            </a:r>
            <a:r>
              <a:rPr lang="en-US" sz="2400" i="1" dirty="0"/>
              <a:t>Application</a:t>
            </a:r>
            <a:endParaRPr lang="en-US" dirty="0"/>
          </a:p>
          <a:p>
            <a:pPr marL="1200150" lvl="2" indent="-285750"/>
            <a:r>
              <a:rPr lang="en-US" sz="2000" dirty="0"/>
              <a:t>(MC) []</a:t>
            </a:r>
          </a:p>
          <a:p>
            <a:pPr marL="1200150" lvl="2" indent="-285750"/>
            <a:r>
              <a:rPr lang="en-US" dirty="0"/>
              <a:t>(MC) []</a:t>
            </a:r>
            <a:endParaRPr lang="en-US" sz="2000" dirty="0"/>
          </a:p>
          <a:p>
            <a:pPr marL="1200150" lvl="2" indent="-285750"/>
            <a:r>
              <a:rPr lang="en-US" sz="2000" dirty="0"/>
              <a:t>(MC) []</a:t>
            </a:r>
          </a:p>
          <a:p>
            <a:pPr marL="1200150" lvl="2" indent="-285750"/>
            <a:r>
              <a:rPr lang="en-US" dirty="0"/>
              <a:t>MC []</a:t>
            </a:r>
          </a:p>
          <a:p>
            <a:pPr marL="1200150" lvl="2" indent="-285750"/>
            <a:r>
              <a:rPr lang="en-US" sz="2000" dirty="0"/>
              <a:t>MC []</a:t>
            </a:r>
          </a:p>
        </p:txBody>
      </p:sp>
      <p:sp>
        <p:nvSpPr>
          <p:cNvPr id="4" name="TextBox 3">
            <a:extLst>
              <a:ext uri="{FF2B5EF4-FFF2-40B4-BE49-F238E27FC236}">
                <a16:creationId xmlns:a16="http://schemas.microsoft.com/office/drawing/2014/main" id="{09B3BD9E-F7AB-6D3E-B000-E68C16026097}"/>
              </a:ext>
            </a:extLst>
          </p:cNvPr>
          <p:cNvSpPr txBox="1"/>
          <p:nvPr/>
        </p:nvSpPr>
        <p:spPr>
          <a:xfrm>
            <a:off x="10311357" y="6488668"/>
            <a:ext cx="1880643" cy="369332"/>
          </a:xfrm>
          <a:prstGeom prst="rect">
            <a:avLst/>
          </a:prstGeom>
          <a:noFill/>
        </p:spPr>
        <p:txBody>
          <a:bodyPr wrap="none" rtlCol="0">
            <a:spAutoFit/>
          </a:bodyPr>
          <a:lstStyle/>
          <a:p>
            <a:r>
              <a:rPr lang="en-US" dirty="0"/>
              <a:t>6. Functional Goal</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1</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1</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1 / 2</a:t>
            </a:r>
          </a:p>
        </p:txBody>
      </p:sp>
    </p:spTree>
    <p:extLst>
      <p:ext uri="{BB962C8B-B14F-4D97-AF65-F5344CB8AC3E}">
        <p14:creationId xmlns:p14="http://schemas.microsoft.com/office/powerpoint/2010/main" val="42504011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Static</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11008364" cy="4570430"/>
          </a:xfrm>
        </p:spPr>
        <p:txBody>
          <a:bodyPr>
            <a:normAutofit/>
          </a:bodyPr>
          <a:lstStyle/>
          <a:p>
            <a:r>
              <a:rPr lang="en-US" sz="2400" dirty="0"/>
              <a:t>Predefined responses to specific questions</a:t>
            </a:r>
          </a:p>
          <a:p>
            <a:pPr lvl="1"/>
            <a:r>
              <a:rPr lang="en-US" sz="2000" dirty="0"/>
              <a:t>Expert: </a:t>
            </a:r>
            <a:r>
              <a:rPr lang="en-US" sz="2000" i="1" dirty="0"/>
              <a:t>Analysis/Synthesis</a:t>
            </a:r>
            <a:endParaRPr lang="en-US" sz="2000" dirty="0"/>
          </a:p>
          <a:p>
            <a:pPr lvl="2"/>
            <a:r>
              <a:rPr lang="en-US" sz="1700" dirty="0"/>
              <a:t>(MC) []</a:t>
            </a:r>
          </a:p>
          <a:p>
            <a:pPr marL="1200150" lvl="2" indent="-285750">
              <a:buFont typeface="Arial" panose="020B0604020202020204" pitchFamily="34" charset="0"/>
              <a:buChar char="•"/>
            </a:pPr>
            <a:r>
              <a:rPr lang="en-US" sz="1700" dirty="0"/>
              <a:t>(MC/ER) []</a:t>
            </a:r>
          </a:p>
          <a:p>
            <a:pPr marL="1200150" lvl="2" indent="-285750"/>
            <a:r>
              <a:rPr lang="en-US" sz="1700" dirty="0"/>
              <a:t>(ER) []</a:t>
            </a:r>
          </a:p>
          <a:p>
            <a:pPr marL="1200150" lvl="2" indent="-285750"/>
            <a:r>
              <a:rPr lang="en-US" sz="1700" dirty="0"/>
              <a:t>(SR) []</a:t>
            </a:r>
            <a:endParaRPr lang="en-US" sz="1700" dirty="0">
              <a:solidFill>
                <a:srgbClr val="FF0000"/>
              </a:solidFill>
            </a:endParaRPr>
          </a:p>
          <a:p>
            <a:pPr marL="1200150" lvl="2" indent="-285750"/>
            <a:r>
              <a:rPr lang="en-US" sz="1700" dirty="0"/>
              <a:t>(SR) []</a:t>
            </a:r>
          </a:p>
          <a:p>
            <a:pPr marL="742950" lvl="1" indent="-285750"/>
            <a:r>
              <a:rPr lang="en-US" sz="2000" dirty="0"/>
              <a:t>Master: </a:t>
            </a:r>
            <a:r>
              <a:rPr lang="en-US" sz="2000" i="1" dirty="0"/>
              <a:t>Synthesis/Evaluation</a:t>
            </a:r>
            <a:endParaRPr lang="en-US" sz="2000" dirty="0"/>
          </a:p>
          <a:p>
            <a:pPr marL="1200150" lvl="2" indent="-285750"/>
            <a:r>
              <a:rPr lang="en-US" sz="1700" dirty="0"/>
              <a:t>(MC/ER) []</a:t>
            </a:r>
            <a:endParaRPr lang="en-US" sz="1700" i="1" dirty="0"/>
          </a:p>
          <a:p>
            <a:pPr marL="1200150" lvl="2" indent="-285750">
              <a:buFont typeface="Arial" panose="020B0604020202020204" pitchFamily="34" charset="0"/>
              <a:buChar char="•"/>
            </a:pPr>
            <a:r>
              <a:rPr lang="en-US" sz="1700" dirty="0"/>
              <a:t>(MC/ER) []</a:t>
            </a:r>
          </a:p>
          <a:p>
            <a:pPr marL="1200150" lvl="2" indent="-285750">
              <a:buFont typeface="Arial" panose="020B0604020202020204" pitchFamily="34" charset="0"/>
              <a:buChar char="•"/>
            </a:pPr>
            <a:r>
              <a:rPr lang="en-US" sz="1700" dirty="0"/>
              <a:t>(MC/ER) []</a:t>
            </a:r>
          </a:p>
          <a:p>
            <a:pPr marL="1200150" lvl="2" indent="-285750">
              <a:buFont typeface="Arial" panose="020B0604020202020204" pitchFamily="34" charset="0"/>
              <a:buChar char="•"/>
            </a:pPr>
            <a:r>
              <a:rPr lang="en-US" sz="1700" dirty="0"/>
              <a:t>MC</a:t>
            </a:r>
          </a:p>
          <a:p>
            <a:pPr marL="1200150" lvl="2" indent="-285750">
              <a:buFont typeface="Arial" panose="020B0604020202020204" pitchFamily="34" charset="0"/>
              <a:buChar char="•"/>
            </a:pPr>
            <a:r>
              <a:rPr lang="en-US" sz="1700" dirty="0"/>
              <a:t>MC</a:t>
            </a:r>
          </a:p>
        </p:txBody>
      </p:sp>
      <p:sp>
        <p:nvSpPr>
          <p:cNvPr id="4" name="TextBox 3">
            <a:extLst>
              <a:ext uri="{FF2B5EF4-FFF2-40B4-BE49-F238E27FC236}">
                <a16:creationId xmlns:a16="http://schemas.microsoft.com/office/drawing/2014/main" id="{09B3BD9E-F7AB-6D3E-B000-E68C16026097}"/>
              </a:ext>
            </a:extLst>
          </p:cNvPr>
          <p:cNvSpPr txBox="1"/>
          <p:nvPr/>
        </p:nvSpPr>
        <p:spPr>
          <a:xfrm>
            <a:off x="10364256" y="6488668"/>
            <a:ext cx="1880643" cy="369332"/>
          </a:xfrm>
          <a:prstGeom prst="rect">
            <a:avLst/>
          </a:prstGeom>
          <a:noFill/>
        </p:spPr>
        <p:txBody>
          <a:bodyPr wrap="none" rtlCol="0">
            <a:spAutoFit/>
          </a:bodyPr>
          <a:lstStyle/>
          <a:p>
            <a:r>
              <a:rPr lang="en-US" dirty="0"/>
              <a:t>6. Functional Goal</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1</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3 / 3</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2 / 2</a:t>
            </a:r>
          </a:p>
        </p:txBody>
      </p:sp>
    </p:spTree>
    <p:extLst>
      <p:ext uri="{BB962C8B-B14F-4D97-AF65-F5344CB8AC3E}">
        <p14:creationId xmlns:p14="http://schemas.microsoft.com/office/powerpoint/2010/main" val="39296776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Dynamic</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46284" y="1690688"/>
            <a:ext cx="11099432" cy="4570430"/>
          </a:xfrm>
        </p:spPr>
        <p:txBody>
          <a:bodyPr>
            <a:normAutofit fontScale="70000" lnSpcReduction="20000"/>
          </a:bodyPr>
          <a:lstStyle/>
          <a:p>
            <a:r>
              <a:rPr lang="en-US" dirty="0"/>
              <a:t>Adapting responses based on context, user feedback, or ongoing conversation</a:t>
            </a:r>
          </a:p>
          <a:p>
            <a:pPr lvl="1"/>
            <a:r>
              <a:rPr lang="en-US" dirty="0"/>
              <a:t>Basic: </a:t>
            </a:r>
            <a:r>
              <a:rPr lang="en-US" i="1" dirty="0"/>
              <a:t>Knowledge</a:t>
            </a:r>
            <a:endParaRPr lang="en-US" dirty="0"/>
          </a:p>
          <a:p>
            <a:pPr lvl="2"/>
            <a:r>
              <a:rPr lang="en-US" dirty="0"/>
              <a:t>(T/F) []</a:t>
            </a:r>
          </a:p>
          <a:p>
            <a:pPr lvl="2"/>
            <a:r>
              <a:rPr lang="en-US" dirty="0"/>
              <a:t>(MC) []</a:t>
            </a:r>
          </a:p>
          <a:p>
            <a:pPr lvl="2"/>
            <a:r>
              <a:rPr lang="en-US" dirty="0"/>
              <a:t>(SR) []</a:t>
            </a:r>
          </a:p>
          <a:p>
            <a:pPr lvl="2"/>
            <a:r>
              <a:rPr lang="en-US" dirty="0"/>
              <a:t>MC []</a:t>
            </a:r>
          </a:p>
          <a:p>
            <a:pPr lvl="2"/>
            <a:r>
              <a:rPr lang="en-US" dirty="0"/>
              <a:t>MC []</a:t>
            </a:r>
          </a:p>
          <a:p>
            <a:pPr marL="742950" lvl="1" indent="-285750">
              <a:buFont typeface="Arial" panose="020B0604020202020204" pitchFamily="34" charset="0"/>
              <a:buChar char="•"/>
            </a:pPr>
            <a:r>
              <a:rPr lang="en-US" sz="2400" dirty="0"/>
              <a:t>Intermediate: </a:t>
            </a:r>
            <a:r>
              <a:rPr lang="en-US" sz="2400" i="1" dirty="0"/>
              <a:t>Comprehension</a:t>
            </a:r>
            <a:endParaRPr lang="en-US" sz="2400" dirty="0"/>
          </a:p>
          <a:p>
            <a:pPr marL="1200150" lvl="2" indent="-285750">
              <a:buFont typeface="Arial" panose="020B0604020202020204" pitchFamily="34" charset="0"/>
              <a:buChar char="•"/>
            </a:pPr>
            <a:r>
              <a:rPr lang="en-US" sz="2000" dirty="0"/>
              <a:t>(SR) [] </a:t>
            </a:r>
          </a:p>
          <a:p>
            <a:pPr marL="1200150" lvl="2" indent="-285750">
              <a:buFont typeface="Arial" panose="020B0604020202020204" pitchFamily="34" charset="0"/>
              <a:buChar char="•"/>
            </a:pPr>
            <a:r>
              <a:rPr lang="en-US" sz="2000" dirty="0"/>
              <a:t>(T/F) []</a:t>
            </a:r>
          </a:p>
          <a:p>
            <a:pPr marL="1200150" lvl="2" indent="-285750">
              <a:buFont typeface="Arial" panose="020B0604020202020204" pitchFamily="34" charset="0"/>
              <a:buChar char="•"/>
            </a:pPr>
            <a:r>
              <a:rPr lang="en-US" dirty="0"/>
              <a:t>(MC) []</a:t>
            </a:r>
          </a:p>
          <a:p>
            <a:pPr marL="1200150" lvl="2" indent="-285750">
              <a:buFont typeface="Arial" panose="020B0604020202020204" pitchFamily="34" charset="0"/>
              <a:buChar char="•"/>
            </a:pPr>
            <a:r>
              <a:rPr lang="en-US" dirty="0"/>
              <a:t>MC []</a:t>
            </a:r>
          </a:p>
          <a:p>
            <a:pPr marL="1200150" lvl="2" indent="-285750">
              <a:buFont typeface="Arial" panose="020B0604020202020204" pitchFamily="34" charset="0"/>
              <a:buChar char="•"/>
            </a:pPr>
            <a:r>
              <a:rPr lang="en-US" dirty="0"/>
              <a:t>MC[]</a:t>
            </a:r>
          </a:p>
          <a:p>
            <a:pPr marL="742950" lvl="1" indent="-285750">
              <a:buFont typeface="Arial" panose="020B0604020202020204" pitchFamily="34" charset="0"/>
              <a:buChar char="•"/>
            </a:pPr>
            <a:r>
              <a:rPr lang="en-US" sz="2400" dirty="0"/>
              <a:t>Advanced: </a:t>
            </a:r>
            <a:r>
              <a:rPr lang="en-US" sz="2400" i="1" dirty="0"/>
              <a:t>Application</a:t>
            </a:r>
            <a:endParaRPr lang="en-US" dirty="0"/>
          </a:p>
          <a:p>
            <a:pPr marL="1200150" lvl="2" indent="-285750"/>
            <a:r>
              <a:rPr lang="en-US" sz="2000" dirty="0"/>
              <a:t>(MC) []</a:t>
            </a:r>
          </a:p>
          <a:p>
            <a:pPr marL="1200150" lvl="2" indent="-285750"/>
            <a:r>
              <a:rPr lang="en-US" dirty="0"/>
              <a:t>(MC) []</a:t>
            </a:r>
            <a:endParaRPr lang="en-US" sz="2000" dirty="0"/>
          </a:p>
          <a:p>
            <a:pPr marL="1200150" lvl="2" indent="-285750"/>
            <a:r>
              <a:rPr lang="en-US" sz="2000" dirty="0"/>
              <a:t>(MC) []</a:t>
            </a:r>
          </a:p>
          <a:p>
            <a:pPr marL="1200150" lvl="2" indent="-285750"/>
            <a:r>
              <a:rPr lang="en-US" dirty="0"/>
              <a:t>MC []</a:t>
            </a:r>
          </a:p>
          <a:p>
            <a:pPr marL="1200150" lvl="2" indent="-285750"/>
            <a:r>
              <a:rPr lang="en-US" sz="2000" dirty="0"/>
              <a:t>MC []</a:t>
            </a:r>
          </a:p>
        </p:txBody>
      </p:sp>
      <p:sp>
        <p:nvSpPr>
          <p:cNvPr id="4" name="TextBox 3">
            <a:extLst>
              <a:ext uri="{FF2B5EF4-FFF2-40B4-BE49-F238E27FC236}">
                <a16:creationId xmlns:a16="http://schemas.microsoft.com/office/drawing/2014/main" id="{09B3BD9E-F7AB-6D3E-B000-E68C16026097}"/>
              </a:ext>
            </a:extLst>
          </p:cNvPr>
          <p:cNvSpPr txBox="1"/>
          <p:nvPr/>
        </p:nvSpPr>
        <p:spPr>
          <a:xfrm>
            <a:off x="10311357" y="6488668"/>
            <a:ext cx="1880643" cy="369332"/>
          </a:xfrm>
          <a:prstGeom prst="rect">
            <a:avLst/>
          </a:prstGeom>
          <a:noFill/>
        </p:spPr>
        <p:txBody>
          <a:bodyPr wrap="none" rtlCol="0">
            <a:spAutoFit/>
          </a:bodyPr>
          <a:lstStyle/>
          <a:p>
            <a:r>
              <a:rPr lang="en-US" dirty="0"/>
              <a:t>6. Functional Goal</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1</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1</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1 / 2</a:t>
            </a:r>
          </a:p>
        </p:txBody>
      </p:sp>
    </p:spTree>
    <p:extLst>
      <p:ext uri="{BB962C8B-B14F-4D97-AF65-F5344CB8AC3E}">
        <p14:creationId xmlns:p14="http://schemas.microsoft.com/office/powerpoint/2010/main" val="17740296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Dynamic</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11008364" cy="4570430"/>
          </a:xfrm>
        </p:spPr>
        <p:txBody>
          <a:bodyPr>
            <a:normAutofit/>
          </a:bodyPr>
          <a:lstStyle/>
          <a:p>
            <a:r>
              <a:rPr lang="en-US" sz="2400" dirty="0"/>
              <a:t>Adapting responses based on context, user feedback, or ongoing conversation</a:t>
            </a:r>
          </a:p>
          <a:p>
            <a:pPr lvl="1"/>
            <a:r>
              <a:rPr lang="en-US" sz="2000" dirty="0"/>
              <a:t>Expert: </a:t>
            </a:r>
            <a:r>
              <a:rPr lang="en-US" sz="2000" i="1" dirty="0"/>
              <a:t>Analysis/Synthesis</a:t>
            </a:r>
            <a:endParaRPr lang="en-US" sz="2000" dirty="0"/>
          </a:p>
          <a:p>
            <a:pPr lvl="2"/>
            <a:r>
              <a:rPr lang="en-US" sz="1700" dirty="0"/>
              <a:t>(MC) []</a:t>
            </a:r>
          </a:p>
          <a:p>
            <a:pPr marL="1200150" lvl="2" indent="-285750">
              <a:buFont typeface="Arial" panose="020B0604020202020204" pitchFamily="34" charset="0"/>
              <a:buChar char="•"/>
            </a:pPr>
            <a:r>
              <a:rPr lang="en-US" sz="1700" dirty="0"/>
              <a:t>(MC/ER) []</a:t>
            </a:r>
          </a:p>
          <a:p>
            <a:pPr marL="1200150" lvl="2" indent="-285750"/>
            <a:r>
              <a:rPr lang="en-US" sz="1700" dirty="0"/>
              <a:t>(ER) []</a:t>
            </a:r>
          </a:p>
          <a:p>
            <a:pPr marL="1200150" lvl="2" indent="-285750"/>
            <a:r>
              <a:rPr lang="en-US" sz="1700" dirty="0"/>
              <a:t>(SR) []</a:t>
            </a:r>
            <a:endParaRPr lang="en-US" sz="1700" dirty="0">
              <a:solidFill>
                <a:srgbClr val="FF0000"/>
              </a:solidFill>
            </a:endParaRPr>
          </a:p>
          <a:p>
            <a:pPr marL="1200150" lvl="2" indent="-285750"/>
            <a:r>
              <a:rPr lang="en-US" sz="1700" dirty="0"/>
              <a:t>(SR) []</a:t>
            </a:r>
          </a:p>
          <a:p>
            <a:pPr marL="742950" lvl="1" indent="-285750"/>
            <a:r>
              <a:rPr lang="en-US" sz="2000" dirty="0"/>
              <a:t>Master: </a:t>
            </a:r>
            <a:r>
              <a:rPr lang="en-US" sz="2000" i="1" dirty="0"/>
              <a:t>Synthesis/Evaluation</a:t>
            </a:r>
            <a:endParaRPr lang="en-US" sz="2000" dirty="0"/>
          </a:p>
          <a:p>
            <a:pPr marL="1200150" lvl="2" indent="-285750"/>
            <a:r>
              <a:rPr lang="en-US" sz="1700" dirty="0"/>
              <a:t>(MC/ER) []</a:t>
            </a:r>
            <a:endParaRPr lang="en-US" sz="1700" i="1" dirty="0"/>
          </a:p>
          <a:p>
            <a:pPr marL="1200150" lvl="2" indent="-285750">
              <a:buFont typeface="Arial" panose="020B0604020202020204" pitchFamily="34" charset="0"/>
              <a:buChar char="•"/>
            </a:pPr>
            <a:r>
              <a:rPr lang="en-US" sz="1700" dirty="0"/>
              <a:t>(MC/ER) []</a:t>
            </a:r>
          </a:p>
          <a:p>
            <a:pPr marL="1200150" lvl="2" indent="-285750">
              <a:buFont typeface="Arial" panose="020B0604020202020204" pitchFamily="34" charset="0"/>
              <a:buChar char="•"/>
            </a:pPr>
            <a:r>
              <a:rPr lang="en-US" sz="1700" dirty="0"/>
              <a:t>(MC/ER) []</a:t>
            </a:r>
          </a:p>
          <a:p>
            <a:pPr marL="1200150" lvl="2" indent="-285750">
              <a:buFont typeface="Arial" panose="020B0604020202020204" pitchFamily="34" charset="0"/>
              <a:buChar char="•"/>
            </a:pPr>
            <a:r>
              <a:rPr lang="en-US" sz="1700" dirty="0"/>
              <a:t>MC</a:t>
            </a:r>
          </a:p>
          <a:p>
            <a:pPr marL="1200150" lvl="2" indent="-285750">
              <a:buFont typeface="Arial" panose="020B0604020202020204" pitchFamily="34" charset="0"/>
              <a:buChar char="•"/>
            </a:pPr>
            <a:r>
              <a:rPr lang="en-US" sz="1700" dirty="0"/>
              <a:t>MC</a:t>
            </a:r>
          </a:p>
        </p:txBody>
      </p:sp>
      <p:sp>
        <p:nvSpPr>
          <p:cNvPr id="4" name="TextBox 3">
            <a:extLst>
              <a:ext uri="{FF2B5EF4-FFF2-40B4-BE49-F238E27FC236}">
                <a16:creationId xmlns:a16="http://schemas.microsoft.com/office/drawing/2014/main" id="{09B3BD9E-F7AB-6D3E-B000-E68C16026097}"/>
              </a:ext>
            </a:extLst>
          </p:cNvPr>
          <p:cNvSpPr txBox="1"/>
          <p:nvPr/>
        </p:nvSpPr>
        <p:spPr>
          <a:xfrm>
            <a:off x="10364256" y="6488668"/>
            <a:ext cx="1880643" cy="369332"/>
          </a:xfrm>
          <a:prstGeom prst="rect">
            <a:avLst/>
          </a:prstGeom>
          <a:noFill/>
        </p:spPr>
        <p:txBody>
          <a:bodyPr wrap="none" rtlCol="0">
            <a:spAutoFit/>
          </a:bodyPr>
          <a:lstStyle/>
          <a:p>
            <a:r>
              <a:rPr lang="en-US" dirty="0"/>
              <a:t>6. Functional Goal</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1</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3 / 3</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2 / 2</a:t>
            </a:r>
          </a:p>
        </p:txBody>
      </p:sp>
    </p:spTree>
    <p:extLst>
      <p:ext uri="{BB962C8B-B14F-4D97-AF65-F5344CB8AC3E}">
        <p14:creationId xmlns:p14="http://schemas.microsoft.com/office/powerpoint/2010/main" val="39824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r>
              <a:rPr lang="en-US" dirty="0"/>
              <a:t>Emotional</a:t>
            </a:r>
            <a:r>
              <a:rPr lang="en-US" dirty="0">
                <a:solidFill>
                  <a:srgbClr val="FF0000"/>
                </a:solidFill>
              </a:rPr>
              <a:t> </a:t>
            </a:r>
            <a:r>
              <a:rPr lang="en-US" dirty="0"/>
              <a:t>Component</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838200" y="1825625"/>
            <a:ext cx="8689848" cy="4351338"/>
          </a:xfrm>
        </p:spPr>
        <p:txBody>
          <a:bodyPr>
            <a:normAutofit/>
          </a:bodyPr>
          <a:lstStyle/>
          <a:p>
            <a:r>
              <a:rPr lang="en-US" dirty="0"/>
              <a:t>Affective </a:t>
            </a:r>
          </a:p>
          <a:p>
            <a:pPr lvl="1"/>
            <a:r>
              <a:rPr lang="en-US" dirty="0"/>
              <a:t>Mimicking empathy or understanding of human emotions</a:t>
            </a:r>
          </a:p>
          <a:p>
            <a:r>
              <a:rPr lang="en-US" dirty="0"/>
              <a:t>Non-Affective </a:t>
            </a:r>
          </a:p>
          <a:p>
            <a:pPr lvl="1"/>
            <a:r>
              <a:rPr lang="en-US" dirty="0"/>
              <a:t>Purely informational or logical tasks</a:t>
            </a:r>
          </a:p>
          <a:p>
            <a:pPr marL="0" indent="0">
              <a:buNone/>
            </a:pPr>
            <a:endParaRPr lang="en-US" dirty="0"/>
          </a:p>
        </p:txBody>
      </p:sp>
      <p:sp>
        <p:nvSpPr>
          <p:cNvPr id="5" name="TextBox 4">
            <a:extLst>
              <a:ext uri="{FF2B5EF4-FFF2-40B4-BE49-F238E27FC236}">
                <a16:creationId xmlns:a16="http://schemas.microsoft.com/office/drawing/2014/main" id="{F07AB50D-0BCE-05B8-256E-A1201E2FC65A}"/>
              </a:ext>
            </a:extLst>
          </p:cNvPr>
          <p:cNvSpPr txBox="1"/>
          <p:nvPr/>
        </p:nvSpPr>
        <p:spPr>
          <a:xfrm>
            <a:off x="11683527" y="6488668"/>
            <a:ext cx="508473" cy="369332"/>
          </a:xfrm>
          <a:prstGeom prst="rect">
            <a:avLst/>
          </a:prstGeom>
          <a:noFill/>
        </p:spPr>
        <p:txBody>
          <a:bodyPr wrap="none" rtlCol="0">
            <a:spAutoFit/>
          </a:bodyPr>
          <a:lstStyle/>
          <a:p>
            <a:r>
              <a:rPr lang="en-US" dirty="0"/>
              <a:t>8/8</a:t>
            </a:r>
          </a:p>
        </p:txBody>
      </p:sp>
    </p:spTree>
    <p:extLst>
      <p:ext uri="{BB962C8B-B14F-4D97-AF65-F5344CB8AC3E}">
        <p14:creationId xmlns:p14="http://schemas.microsoft.com/office/powerpoint/2010/main" val="94792184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Affective | Non-Affective</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2898" y="1690688"/>
            <a:ext cx="11577729" cy="4797980"/>
          </a:xfrm>
        </p:spPr>
        <p:txBody>
          <a:bodyPr>
            <a:normAutofit fontScale="70000" lnSpcReduction="20000"/>
          </a:bodyPr>
          <a:lstStyle/>
          <a:p>
            <a:r>
              <a:rPr lang="en-US" sz="1900" dirty="0"/>
              <a:t>Mimicking empathy or understanding | Purely informational or logical tasks</a:t>
            </a:r>
            <a:endParaRPr lang="en-US" sz="800" dirty="0"/>
          </a:p>
          <a:p>
            <a:pPr lvl="1"/>
            <a:r>
              <a:rPr lang="en-US" sz="1200" b="0" i="0" u="none" strike="noStrike" dirty="0">
                <a:effectLst/>
                <a:latin typeface="Roboto" panose="02000000000000000000" pitchFamily="2" charset="0"/>
              </a:rPr>
              <a:t>Title: Combating Military Suicide: A Comprehensive Approach to Saving Lives</a:t>
            </a:r>
            <a:br>
              <a:rPr lang="en-US" sz="1200" b="0" i="0" u="none" strike="noStrike" dirty="0">
                <a:effectLst/>
                <a:latin typeface="Roboto" panose="02000000000000000000" pitchFamily="2" charset="0"/>
              </a:rPr>
            </a:b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Introduction:</a:t>
            </a: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In the realm of military service, the well-being of our brave men and women extends beyond the battlefield. It is a solemn duty to protect those who protect us, not only from physical harm but also from the invisible wounds that can plague their minds and hearts. Military suicide is a heart-wrenching issue that demands our unwavering attention, empathy, and a logical plan to address and prevent it. In this article, we will explore the current state of military suicide, delve into the emotional aspects surrounding it, and outline a comprehensive approach to saving lives.</a:t>
            </a:r>
            <a:br>
              <a:rPr lang="en-US" sz="1200" b="0" i="0" u="none" strike="noStrike" dirty="0">
                <a:effectLst/>
                <a:latin typeface="Roboto" panose="02000000000000000000" pitchFamily="2" charset="0"/>
              </a:rPr>
            </a:b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Understanding the Current State:</a:t>
            </a: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The statistics surrounding military suicide are deeply troubling. Each loss represents a brother, a sister, a comrade-in-arms, and a cherished member of our military family. When we lose our brothers and sisters, we lose parts of ourselves. Recent reports reveal that the rate of suicide among active-duty service members and veterans has reached devastating levels. These brave individuals, who have dedicated their lives to serving our nation, face unique challenges that can take a toll on their mental health. Factors such as combat exposure, post-traumatic stress disorder (PTSD), depression, and the difficulties of transitioning to civilian life contribute to the vulnerability of our military community.</a:t>
            </a:r>
            <a:br>
              <a:rPr lang="en-US" sz="1200" b="0" i="0" u="none" strike="noStrike" dirty="0">
                <a:effectLst/>
                <a:latin typeface="Roboto" panose="02000000000000000000" pitchFamily="2" charset="0"/>
              </a:rPr>
            </a:b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A Comprehensive Approach Rooted in Empathy:</a:t>
            </a: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To effectively combat military suicide, we must embrace the power of empathy and compassion. Behind every statistic lies a story of pain, struggle, and hope. By fostering a culture of understanding and support, we can create an environment where seeking help is not seen as a sign of weakness but as an act of courage. It is our duty to stand shoulder to shoulder with our brothers and sisters, offering a helping hand and a listening ear. Together, we can break down the barriers that prevent individuals from seeking the support they need and deserve.</a:t>
            </a:r>
            <a:br>
              <a:rPr lang="en-US" sz="1200" b="0" i="0" u="none" strike="noStrike" dirty="0">
                <a:effectLst/>
                <a:latin typeface="Roboto" panose="02000000000000000000" pitchFamily="2" charset="0"/>
              </a:rPr>
            </a:b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A Logical Plan for Prevention:</a:t>
            </a: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Addressing military suicide requires a comprehensive and logical plan that encompasses various aspects of prevention. Here are key steps to consider:</a:t>
            </a:r>
            <a:br>
              <a:rPr lang="en-US" sz="1200" b="0" i="0" u="none" strike="noStrike" dirty="0">
                <a:effectLst/>
                <a:latin typeface="Roboto" panose="02000000000000000000" pitchFamily="2" charset="0"/>
              </a:rPr>
            </a:b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1. Awareness and Education:</a:t>
            </a: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We must raise awareness and educate service members, their families, and the broader military community about the warning signs of suicide, available resources, and the importance of early intervention. By shining a light on this issue, we can ensure that no one suffers in silence.</a:t>
            </a:r>
            <a:br>
              <a:rPr lang="en-US" sz="1200" b="0" i="0" u="none" strike="noStrike" dirty="0">
                <a:effectLst/>
                <a:latin typeface="Roboto" panose="02000000000000000000" pitchFamily="2" charset="0"/>
              </a:rPr>
            </a:b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2. Enhanced Mental Health Support:</a:t>
            </a: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We must increase access to mental health services, ensuring that counseling, therapy, and psychiatric care are readily available to those in need. This includes reducing wait times, expanding telehealth options, and guaranteeing confidentiality. Let us create a safe space where individuals can share their burdens without fear of judgment.</a:t>
            </a:r>
            <a:br>
              <a:rPr lang="en-US" sz="1200" b="0" i="0" u="none" strike="noStrike" dirty="0">
                <a:effectLst/>
                <a:latin typeface="Roboto" panose="02000000000000000000" pitchFamily="2" charset="0"/>
              </a:rPr>
            </a:b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3. Training and Resilience Programs:</a:t>
            </a: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Equipping our service members with the tools to recognize and address mental health challenges is paramount. We must provide comprehensive training programs that build resilience, foster a supportive environment, and empower individuals to seek help for themselves and their comrades. Together, we can strengthen the bonds that hold us as a military family.</a:t>
            </a:r>
            <a:br>
              <a:rPr lang="en-US" sz="1200" b="0" i="0" u="none" strike="noStrike" dirty="0">
                <a:effectLst/>
                <a:latin typeface="Roboto" panose="02000000000000000000" pitchFamily="2" charset="0"/>
              </a:rPr>
            </a:b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4. Collaboration and Partnerships:</a:t>
            </a: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By forging strong partnerships with mental health organizations, community resources, and veteran support groups, we can create a safety net that catches those who are falling. Collaboration allows us to leverage expertise, share best practices, and provide a network of support for those in need. Together, we are stronger.</a:t>
            </a:r>
            <a:br>
              <a:rPr lang="en-US" sz="1200" b="0" i="0" u="none" strike="noStrike" dirty="0">
                <a:effectLst/>
                <a:latin typeface="Roboto" panose="02000000000000000000" pitchFamily="2" charset="0"/>
              </a:rPr>
            </a:b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5. Post-Service Transition Support:</a:t>
            </a: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We must recognize the unique challenges faced by veterans transitioning to civilian life and provide tailored support services. This includes assistance with employment, housing, and access to mental health resources. Let us ensure that no one is left behind as they navigate this critical phase of their lives.</a:t>
            </a:r>
            <a:br>
              <a:rPr lang="en-US" sz="1200" b="0" i="0" u="none" strike="noStrike" dirty="0">
                <a:effectLst/>
                <a:latin typeface="Roboto" panose="02000000000000000000" pitchFamily="2" charset="0"/>
              </a:rPr>
            </a:b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Conclusion:</a:t>
            </a: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Combating military suicide demands our collective empathy, understanding, and action. Each life lost is a profound tragedy that reverberates through our military community and beyond. Let us stand united in our commitment to protect those who have dedicated their lives to protecting us. By acknowledging the emotional toll of military service, raising awareness, enhancing mental health support, providing comprehensive training, fostering collaboration, and supporting veterans during their transition, we can make significant strides in preventing this heartbreaking loss of life. Together, we can create a future where our military family thrives, and no one feels alone in their darkest moments.</a:t>
            </a:r>
            <a:br>
              <a:rPr lang="en-US" sz="1200" b="0" i="0" u="none" strike="noStrike" dirty="0">
                <a:effectLst/>
                <a:latin typeface="Roboto" panose="02000000000000000000" pitchFamily="2" charset="0"/>
              </a:rPr>
            </a:b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Remember, if you or someone you know is struggling with thoughts of suicide, reach out to a mental health professional or contact a helpline immediately. You are not alone, and help is available.</a:t>
            </a:r>
            <a:br>
              <a:rPr lang="en-US" sz="1200" b="0" i="0" u="none" strike="noStrike" dirty="0">
                <a:effectLst/>
                <a:latin typeface="Roboto" panose="02000000000000000000" pitchFamily="2" charset="0"/>
              </a:rPr>
            </a:br>
            <a:br>
              <a:rPr lang="en-US" sz="1200" b="0" i="0" u="none" strike="noStrike" dirty="0">
                <a:effectLst/>
                <a:latin typeface="Roboto" panose="02000000000000000000" pitchFamily="2" charset="0"/>
              </a:rPr>
            </a:br>
            <a:r>
              <a:rPr lang="en-US" sz="1200" b="0" i="0" u="none" strike="noStrike" dirty="0">
                <a:effectLst/>
                <a:latin typeface="Roboto" panose="02000000000000000000" pitchFamily="2" charset="0"/>
              </a:rPr>
              <a:t>Note: This article provides a general overview and is not a substitute for professional advice.</a:t>
            </a:r>
            <a:endParaRPr lang="en-US" sz="1500" dirty="0"/>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2 / 4</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1</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0 / 3</a:t>
            </a:r>
          </a:p>
        </p:txBody>
      </p:sp>
      <p:sp>
        <p:nvSpPr>
          <p:cNvPr id="6" name="TextBox 5">
            <a:extLst>
              <a:ext uri="{FF2B5EF4-FFF2-40B4-BE49-F238E27FC236}">
                <a16:creationId xmlns:a16="http://schemas.microsoft.com/office/drawing/2014/main" id="{64A80497-E7B9-41E3-EB07-813D4D015018}"/>
              </a:ext>
            </a:extLst>
          </p:cNvPr>
          <p:cNvSpPr txBox="1"/>
          <p:nvPr/>
        </p:nvSpPr>
        <p:spPr>
          <a:xfrm>
            <a:off x="9717156" y="6488668"/>
            <a:ext cx="2527743" cy="369332"/>
          </a:xfrm>
          <a:prstGeom prst="rect">
            <a:avLst/>
          </a:prstGeom>
          <a:noFill/>
        </p:spPr>
        <p:txBody>
          <a:bodyPr wrap="none" rtlCol="0">
            <a:spAutoFit/>
          </a:bodyPr>
          <a:lstStyle/>
          <a:p>
            <a:r>
              <a:rPr lang="en-US" dirty="0"/>
              <a:t>8. Emotional Component</a:t>
            </a:r>
          </a:p>
        </p:txBody>
      </p:sp>
    </p:spTree>
    <p:extLst>
      <p:ext uri="{BB962C8B-B14F-4D97-AF65-F5344CB8AC3E}">
        <p14:creationId xmlns:p14="http://schemas.microsoft.com/office/powerpoint/2010/main" val="33580146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Affective</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46284" y="1690688"/>
            <a:ext cx="11099432" cy="4570430"/>
          </a:xfrm>
        </p:spPr>
        <p:txBody>
          <a:bodyPr>
            <a:normAutofit fontScale="47500" lnSpcReduction="20000"/>
          </a:bodyPr>
          <a:lstStyle/>
          <a:p>
            <a:r>
              <a:rPr lang="en-US" dirty="0"/>
              <a:t>Mimicking empathy or understanding of human emotions</a:t>
            </a:r>
          </a:p>
          <a:p>
            <a:pPr lvl="1"/>
            <a:r>
              <a:rPr lang="en-US" dirty="0"/>
              <a:t>Basic: </a:t>
            </a:r>
            <a:r>
              <a:rPr lang="en-US" i="1" dirty="0"/>
              <a:t>Knowledge</a:t>
            </a:r>
            <a:endParaRPr lang="en-US" dirty="0"/>
          </a:p>
          <a:p>
            <a:pPr lvl="2"/>
            <a:r>
              <a:rPr lang="en-US" dirty="0"/>
              <a:t>(</a:t>
            </a:r>
            <a:r>
              <a:rPr lang="en-US" dirty="0">
                <a:solidFill>
                  <a:srgbClr val="FF0000"/>
                </a:solidFill>
              </a:rPr>
              <a:t>T</a:t>
            </a:r>
            <a:r>
              <a:rPr lang="en-US" dirty="0"/>
              <a:t>/F) Addressing and preventing military suicide is widely considered an emotional topic. </a:t>
            </a:r>
          </a:p>
          <a:p>
            <a:pPr lvl="2"/>
            <a:r>
              <a:rPr lang="en-US" dirty="0"/>
              <a:t>(</a:t>
            </a:r>
            <a:r>
              <a:rPr lang="en-US" dirty="0">
                <a:solidFill>
                  <a:srgbClr val="FF0000"/>
                </a:solidFill>
              </a:rPr>
              <a:t>T</a:t>
            </a:r>
            <a:r>
              <a:rPr lang="en-US" dirty="0"/>
              <a:t>/F) A common way to talk about military suicide is with compassion and sensitivity.</a:t>
            </a:r>
          </a:p>
          <a:p>
            <a:pPr lvl="2"/>
            <a:r>
              <a:rPr lang="en-US" dirty="0"/>
              <a:t>(T/</a:t>
            </a:r>
            <a:r>
              <a:rPr lang="en-US" dirty="0">
                <a:solidFill>
                  <a:srgbClr val="FF0000"/>
                </a:solidFill>
              </a:rPr>
              <a:t>F</a:t>
            </a:r>
            <a:r>
              <a:rPr lang="en-US" dirty="0"/>
              <a:t>) Patriotism is often the first characteristic used when talking about military suicide. </a:t>
            </a:r>
          </a:p>
          <a:p>
            <a:pPr lvl="2"/>
            <a:r>
              <a:rPr lang="en-US" dirty="0"/>
              <a:t>(T/</a:t>
            </a:r>
            <a:r>
              <a:rPr lang="en-US" dirty="0">
                <a:solidFill>
                  <a:srgbClr val="FF0000"/>
                </a:solidFill>
              </a:rPr>
              <a:t>F</a:t>
            </a:r>
            <a:r>
              <a:rPr lang="en-US" dirty="0"/>
              <a:t>) Only one emotion is related to military suicide. </a:t>
            </a:r>
          </a:p>
          <a:p>
            <a:pPr lvl="2"/>
            <a:r>
              <a:rPr lang="en-US" dirty="0"/>
              <a:t>(T/</a:t>
            </a:r>
            <a:r>
              <a:rPr lang="en-US" dirty="0">
                <a:solidFill>
                  <a:srgbClr val="FF0000"/>
                </a:solidFill>
              </a:rPr>
              <a:t>F</a:t>
            </a:r>
            <a:r>
              <a:rPr lang="en-US" dirty="0"/>
              <a:t>) Military suicide emotions felt by all involved are static. </a:t>
            </a:r>
          </a:p>
          <a:p>
            <a:pPr marL="742950" lvl="1" indent="-285750">
              <a:buFont typeface="Arial" panose="020B0604020202020204" pitchFamily="34" charset="0"/>
              <a:buChar char="•"/>
            </a:pPr>
            <a:r>
              <a:rPr lang="en-US" sz="2400" dirty="0"/>
              <a:t>Intermediate: </a:t>
            </a:r>
            <a:r>
              <a:rPr lang="en-US" sz="2400" i="1" dirty="0"/>
              <a:t>Comprehension</a:t>
            </a:r>
            <a:endParaRPr lang="en-US" sz="2400" dirty="0"/>
          </a:p>
          <a:p>
            <a:pPr marL="1200150" lvl="2" indent="-285750"/>
            <a:r>
              <a:rPr lang="en-US" sz="2000" dirty="0"/>
              <a:t>(</a:t>
            </a:r>
            <a:r>
              <a:rPr lang="en-US" dirty="0"/>
              <a:t>MC</a:t>
            </a:r>
            <a:r>
              <a:rPr lang="en-US" sz="2000" dirty="0"/>
              <a:t>) According to the passage, What are some factors that contribute to the vulnerability of the military community in terms of mental health? a) Lack of physical fitness training </a:t>
            </a:r>
            <a:r>
              <a:rPr lang="en-US" sz="2000" dirty="0">
                <a:solidFill>
                  <a:srgbClr val="FF0000"/>
                </a:solidFill>
              </a:rPr>
              <a:t>b) Exposure to combat </a:t>
            </a:r>
            <a:r>
              <a:rPr lang="en-US" sz="2000" dirty="0"/>
              <a:t>c) Excessive social media usage d) Lack of access to entertainment options</a:t>
            </a:r>
          </a:p>
          <a:p>
            <a:pPr marL="1200150" lvl="2" indent="-285750"/>
            <a:r>
              <a:rPr lang="en-US" sz="2000" dirty="0"/>
              <a:t>(</a:t>
            </a:r>
            <a:r>
              <a:rPr lang="en-US" dirty="0"/>
              <a:t>MC</a:t>
            </a:r>
            <a:r>
              <a:rPr lang="en-US" sz="2000" dirty="0"/>
              <a:t>) Why is it important to foster a culture of understanding and support when addressing military suicide? a) It helps to reduce military spending </a:t>
            </a:r>
            <a:r>
              <a:rPr lang="en-US" sz="2000" dirty="0">
                <a:solidFill>
                  <a:srgbClr val="FF0000"/>
                </a:solidFill>
              </a:rPr>
              <a:t>b) It creates an environment where seeking help is seen as a sign of strength, not weakness </a:t>
            </a:r>
            <a:r>
              <a:rPr lang="en-US" sz="2000" dirty="0"/>
              <a:t>c) It promotes competition among service members d) It increases the risk of suicide</a:t>
            </a:r>
          </a:p>
          <a:p>
            <a:pPr marL="1200150" lvl="2" indent="-285750">
              <a:buFont typeface="Arial" panose="020B0604020202020204" pitchFamily="34" charset="0"/>
              <a:buChar char="•"/>
            </a:pPr>
            <a:r>
              <a:rPr lang="en-US" dirty="0"/>
              <a:t>(</a:t>
            </a:r>
            <a:r>
              <a:rPr lang="en-US" dirty="0">
                <a:solidFill>
                  <a:srgbClr val="FF0000"/>
                </a:solidFill>
              </a:rPr>
              <a:t>T</a:t>
            </a:r>
            <a:r>
              <a:rPr lang="en-US" dirty="0"/>
              <a:t>/F) The first half of this passage focuses on the emotional toll and other emotional aspects of military suicide. </a:t>
            </a:r>
          </a:p>
          <a:p>
            <a:pPr marL="1200150" lvl="2" indent="-285750">
              <a:buFont typeface="Arial" panose="020B0604020202020204" pitchFamily="34" charset="0"/>
              <a:buChar char="•"/>
            </a:pPr>
            <a:r>
              <a:rPr lang="en-US" dirty="0"/>
              <a:t>(T/</a:t>
            </a:r>
            <a:r>
              <a:rPr lang="en-US" dirty="0">
                <a:solidFill>
                  <a:srgbClr val="FF0000"/>
                </a:solidFill>
              </a:rPr>
              <a:t>F</a:t>
            </a:r>
            <a:r>
              <a:rPr lang="en-US" dirty="0"/>
              <a:t>) The article explicitly mentions the emotional toll on immediate family members in the face of military suicide.</a:t>
            </a:r>
          </a:p>
          <a:p>
            <a:pPr marL="1200150" lvl="2" indent="-285750"/>
            <a:r>
              <a:rPr lang="en-US" dirty="0"/>
              <a:t>(MC/SR/CZ) In the following sentence from the passage, what are key words that elicit emotion? It is a </a:t>
            </a:r>
            <a:r>
              <a:rPr lang="en-US" dirty="0">
                <a:solidFill>
                  <a:srgbClr val="FF0000"/>
                </a:solidFill>
              </a:rPr>
              <a:t>solemn</a:t>
            </a:r>
            <a:r>
              <a:rPr lang="en-US" dirty="0"/>
              <a:t> duty to protect those who </a:t>
            </a:r>
            <a:r>
              <a:rPr lang="en-US" dirty="0">
                <a:solidFill>
                  <a:srgbClr val="FF8A23"/>
                </a:solidFill>
              </a:rPr>
              <a:t>protect</a:t>
            </a:r>
            <a:r>
              <a:rPr lang="en-US" dirty="0"/>
              <a:t> us, not only from physical harm but also from the </a:t>
            </a:r>
            <a:r>
              <a:rPr lang="en-US" dirty="0">
                <a:solidFill>
                  <a:srgbClr val="FF0000"/>
                </a:solidFill>
              </a:rPr>
              <a:t>invisible wound</a:t>
            </a:r>
            <a:r>
              <a:rPr lang="en-US" dirty="0"/>
              <a:t>s that can </a:t>
            </a:r>
            <a:r>
              <a:rPr lang="en-US" dirty="0">
                <a:solidFill>
                  <a:srgbClr val="FF0000"/>
                </a:solidFill>
              </a:rPr>
              <a:t>plague</a:t>
            </a:r>
            <a:r>
              <a:rPr lang="en-US" dirty="0"/>
              <a:t> their </a:t>
            </a:r>
            <a:r>
              <a:rPr lang="en-US" dirty="0">
                <a:solidFill>
                  <a:srgbClr val="FF0000"/>
                </a:solidFill>
              </a:rPr>
              <a:t>minds and hearts</a:t>
            </a:r>
            <a:r>
              <a:rPr lang="en-US" dirty="0"/>
              <a:t>. </a:t>
            </a:r>
            <a:r>
              <a:rPr lang="en-US" dirty="0">
                <a:solidFill>
                  <a:srgbClr val="FF0000"/>
                </a:solidFill>
              </a:rPr>
              <a:t>(+1pt for each one identified, orange optional)</a:t>
            </a:r>
          </a:p>
          <a:p>
            <a:pPr marL="742950" lvl="1" indent="-285750">
              <a:buFont typeface="Arial" panose="020B0604020202020204" pitchFamily="34" charset="0"/>
              <a:buChar char="•"/>
            </a:pPr>
            <a:r>
              <a:rPr lang="en-US" sz="2400" dirty="0"/>
              <a:t>Advanced: </a:t>
            </a:r>
            <a:r>
              <a:rPr lang="en-US" sz="2400" i="1" dirty="0"/>
              <a:t>Application</a:t>
            </a:r>
            <a:endParaRPr lang="en-US" dirty="0"/>
          </a:p>
          <a:p>
            <a:pPr marL="1200150" lvl="2" indent="-285750"/>
            <a:r>
              <a:rPr lang="en-US" sz="2000" dirty="0"/>
              <a:t>(</a:t>
            </a:r>
            <a:r>
              <a:rPr lang="en-US" dirty="0"/>
              <a:t>CZ</a:t>
            </a:r>
            <a:r>
              <a:rPr lang="en-US" sz="2000" dirty="0"/>
              <a:t>) The article me</a:t>
            </a:r>
            <a:r>
              <a:rPr lang="en-US" dirty="0"/>
              <a:t>ntions that each military suicide is the loss of a </a:t>
            </a:r>
            <a:r>
              <a:rPr lang="en-US" u="sng" dirty="0">
                <a:solidFill>
                  <a:srgbClr val="FF0000"/>
                </a:solidFill>
              </a:rPr>
              <a:t>brother or sister. </a:t>
            </a:r>
            <a:r>
              <a:rPr lang="en-US" dirty="0"/>
              <a:t>The message here, then, is that each loss is felt as deeply as losing someone from one’s own family. </a:t>
            </a:r>
            <a:endParaRPr lang="en-US" sz="2000" dirty="0"/>
          </a:p>
          <a:p>
            <a:pPr marL="1200150" lvl="2" indent="-285750"/>
            <a:r>
              <a:rPr lang="en-US" dirty="0"/>
              <a:t>(MC) If a military family who experienced a suicide loss read this article, which language might they emotionally relate to? Select all that apply: (a) Military suicide trends increase without a full resolution established. (b) Addressing military suicide requires a comprehensive and logical plan that encompasses various aspects of prevention.  (</a:t>
            </a:r>
            <a:r>
              <a:rPr lang="en-US" dirty="0">
                <a:solidFill>
                  <a:srgbClr val="FF0000"/>
                </a:solidFill>
              </a:rPr>
              <a:t>c ) When we lose our brothers and sisters, we lose parts of ourselves.</a:t>
            </a:r>
            <a:r>
              <a:rPr lang="en-US" dirty="0"/>
              <a:t> </a:t>
            </a:r>
            <a:r>
              <a:rPr lang="en-US" dirty="0">
                <a:solidFill>
                  <a:srgbClr val="FF0000"/>
                </a:solidFill>
              </a:rPr>
              <a:t>(d) Behind every statistic lies a story of pain, struggle, and hope. </a:t>
            </a:r>
            <a:endParaRPr lang="en-US" sz="2000" dirty="0">
              <a:solidFill>
                <a:srgbClr val="FF0000"/>
              </a:solidFill>
            </a:endParaRPr>
          </a:p>
          <a:p>
            <a:pPr marL="1200150" lvl="2" indent="-285750"/>
            <a:r>
              <a:rPr lang="en-US" sz="2000" dirty="0"/>
              <a:t>(</a:t>
            </a:r>
            <a:r>
              <a:rPr lang="en-US" dirty="0"/>
              <a:t>SR</a:t>
            </a:r>
            <a:r>
              <a:rPr lang="en-US" sz="2000" dirty="0"/>
              <a:t>) How might you edit the following sentence to show, not tell, about the emotions behind military suicide? </a:t>
            </a:r>
          </a:p>
          <a:p>
            <a:pPr marL="1200150" lvl="2" indent="-285750"/>
            <a:r>
              <a:rPr lang="en-US" dirty="0"/>
              <a:t>(MA) </a:t>
            </a:r>
            <a:r>
              <a:rPr lang="en-US" sz="2000" dirty="0"/>
              <a:t>Match the examples that may correspond to the three components in the following sentence: Behind every statistic lies a story of pain, struggle, and hope. (a) pain (b) struggle ( c) hope </a:t>
            </a:r>
            <a:r>
              <a:rPr lang="en-US" sz="2000" dirty="0" err="1"/>
              <a:t>i</a:t>
            </a:r>
            <a:r>
              <a:rPr lang="en-US" sz="2000" dirty="0"/>
              <a:t>. sharing the lost soldier’s story can offer a blueprint to helping others survive and heal ii. In the months following deployment, the soldier fought inner demons to show up for his family and friends. iii. Despite his best efforts, the soldier never felt like he was enough nor that things would improve. </a:t>
            </a:r>
            <a:r>
              <a:rPr lang="en-US" sz="2000" dirty="0">
                <a:solidFill>
                  <a:srgbClr val="FF0000"/>
                </a:solidFill>
              </a:rPr>
              <a:t>(a)iii (b)ii (c )</a:t>
            </a:r>
            <a:r>
              <a:rPr lang="en-US" sz="2000" dirty="0" err="1">
                <a:solidFill>
                  <a:srgbClr val="FF0000"/>
                </a:solidFill>
              </a:rPr>
              <a:t>i</a:t>
            </a:r>
            <a:endParaRPr lang="en-US" dirty="0"/>
          </a:p>
          <a:p>
            <a:pPr marL="1200150" lvl="2" indent="-285750"/>
            <a:r>
              <a:rPr lang="en-US" sz="2000" dirty="0"/>
              <a:t>(MC) Who would most likely </a:t>
            </a:r>
            <a:r>
              <a:rPr lang="en-US" dirty="0"/>
              <a:t>be</a:t>
            </a:r>
            <a:r>
              <a:rPr lang="en-US" sz="2000" dirty="0"/>
              <a:t> interested or personally invested in reading this article? Select all that apply. </a:t>
            </a:r>
            <a:r>
              <a:rPr lang="en-US" sz="2000" dirty="0">
                <a:solidFill>
                  <a:srgbClr val="FF0000"/>
                </a:solidFill>
              </a:rPr>
              <a:t>(a) mental health professionals </a:t>
            </a:r>
            <a:r>
              <a:rPr lang="en-US" sz="2000" dirty="0"/>
              <a:t>(b) style magazine </a:t>
            </a:r>
            <a:r>
              <a:rPr lang="en-US" sz="2000" dirty="0">
                <a:solidFill>
                  <a:srgbClr val="FF0000"/>
                </a:solidFill>
              </a:rPr>
              <a:t>journalists (c ) military families (d) policymakers and government officials </a:t>
            </a:r>
          </a:p>
        </p:txBody>
      </p:sp>
      <p:sp>
        <p:nvSpPr>
          <p:cNvPr id="4" name="TextBox 3">
            <a:extLst>
              <a:ext uri="{FF2B5EF4-FFF2-40B4-BE49-F238E27FC236}">
                <a16:creationId xmlns:a16="http://schemas.microsoft.com/office/drawing/2014/main" id="{09B3BD9E-F7AB-6D3E-B000-E68C16026097}"/>
              </a:ext>
            </a:extLst>
          </p:cNvPr>
          <p:cNvSpPr txBox="1"/>
          <p:nvPr/>
        </p:nvSpPr>
        <p:spPr>
          <a:xfrm>
            <a:off x="9717156" y="6488668"/>
            <a:ext cx="2527743" cy="369332"/>
          </a:xfrm>
          <a:prstGeom prst="rect">
            <a:avLst/>
          </a:prstGeom>
          <a:noFill/>
        </p:spPr>
        <p:txBody>
          <a:bodyPr wrap="none" rtlCol="0">
            <a:spAutoFit/>
          </a:bodyPr>
          <a:lstStyle/>
          <a:p>
            <a:r>
              <a:rPr lang="en-US" dirty="0"/>
              <a:t>8. Emotional Component</a:t>
            </a:r>
          </a:p>
        </p:txBody>
      </p:sp>
    </p:spTree>
    <p:extLst>
      <p:ext uri="{BB962C8B-B14F-4D97-AF65-F5344CB8AC3E}">
        <p14:creationId xmlns:p14="http://schemas.microsoft.com/office/powerpoint/2010/main" val="236056813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Affective</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11008364" cy="4570430"/>
          </a:xfrm>
        </p:spPr>
        <p:txBody>
          <a:bodyPr>
            <a:normAutofit fontScale="62500" lnSpcReduction="20000"/>
          </a:bodyPr>
          <a:lstStyle/>
          <a:p>
            <a:r>
              <a:rPr lang="en-US" sz="2400" dirty="0"/>
              <a:t>Mimicking empathy or understanding of human emotions</a:t>
            </a:r>
          </a:p>
          <a:p>
            <a:pPr lvl="1"/>
            <a:r>
              <a:rPr lang="en-US" sz="2000" dirty="0"/>
              <a:t>Expert: </a:t>
            </a:r>
            <a:r>
              <a:rPr lang="en-US" sz="2000" i="1" dirty="0"/>
              <a:t>Analysis/Synthesis</a:t>
            </a:r>
            <a:endParaRPr lang="en-US" sz="2000" dirty="0"/>
          </a:p>
          <a:p>
            <a:pPr lvl="2"/>
            <a:r>
              <a:rPr lang="en-US" sz="1700" dirty="0"/>
              <a:t>(SR) Information and data on military suicide can influence emotions in what ways? Select all that apply. </a:t>
            </a:r>
            <a:r>
              <a:rPr lang="en-US" sz="1700" dirty="0">
                <a:solidFill>
                  <a:srgbClr val="FF0000"/>
                </a:solidFill>
              </a:rPr>
              <a:t>(a) understanding (b) sense of urgency (c ) provocation (d) mix of sadness and hope</a:t>
            </a:r>
          </a:p>
          <a:p>
            <a:pPr lvl="2"/>
            <a:r>
              <a:rPr lang="en-US" sz="1700" dirty="0"/>
              <a:t>(MC) What key words from the following excerpt elicit emotion and empathy? </a:t>
            </a:r>
            <a:r>
              <a:rPr lang="en-US" sz="1700" i="1" dirty="0"/>
              <a:t>Let us create a safe space where individuals can share their burdens without fear of judgment. </a:t>
            </a:r>
            <a:r>
              <a:rPr lang="en-US" sz="1700" dirty="0">
                <a:solidFill>
                  <a:srgbClr val="FF0000"/>
                </a:solidFill>
              </a:rPr>
              <a:t>[+1 for each answer: “safe space”, “burdens”, “fear (of judgement)”]</a:t>
            </a:r>
          </a:p>
          <a:p>
            <a:pPr marL="1200150" lvl="2" indent="-285750"/>
            <a:r>
              <a:rPr lang="en-US" sz="1700" dirty="0"/>
              <a:t>(MC) How might assisting with transition to civilian life lessen suicide risk factors? (a) lessen isolation (b) a felt understanding and acknowledgement of one’s transition challenges (c ) easier ability to obtain essentials, leaving energy to address emotional health. </a:t>
            </a:r>
            <a:r>
              <a:rPr lang="en-US" sz="1700" dirty="0">
                <a:solidFill>
                  <a:srgbClr val="FF0000"/>
                </a:solidFill>
              </a:rPr>
              <a:t>(d) all of the above. </a:t>
            </a:r>
          </a:p>
          <a:p>
            <a:pPr marL="1200150" lvl="2" indent="-285750"/>
            <a:r>
              <a:rPr lang="en-US" sz="1700" dirty="0"/>
              <a:t>(MC) What is the overall tone you would ascribe to this article? Select all that could apply. (</a:t>
            </a:r>
            <a:r>
              <a:rPr lang="en-US" sz="1700" dirty="0">
                <a:solidFill>
                  <a:srgbClr val="FF0000"/>
                </a:solidFill>
              </a:rPr>
              <a:t>a) empathetic </a:t>
            </a:r>
            <a:r>
              <a:rPr lang="en-US" sz="1700" dirty="0"/>
              <a:t>(b) foreboding </a:t>
            </a:r>
            <a:r>
              <a:rPr lang="en-US" sz="1700" dirty="0">
                <a:solidFill>
                  <a:srgbClr val="FF0000"/>
                </a:solidFill>
              </a:rPr>
              <a:t>(c ) urgent</a:t>
            </a:r>
            <a:r>
              <a:rPr lang="en-US" sz="1700" dirty="0"/>
              <a:t> (d) apathetic</a:t>
            </a:r>
          </a:p>
          <a:p>
            <a:pPr marL="1200150" lvl="2" indent="-285750"/>
            <a:r>
              <a:rPr lang="en-US" sz="1700" dirty="0"/>
              <a:t>(CZ) How does the author effectively evoke </a:t>
            </a:r>
            <a:r>
              <a:rPr lang="en-US" sz="1700" u="sng" dirty="0">
                <a:solidFill>
                  <a:srgbClr val="FF0000"/>
                </a:solidFill>
              </a:rPr>
              <a:t>empathy</a:t>
            </a:r>
            <a:r>
              <a:rPr lang="en-US" sz="1700" dirty="0"/>
              <a:t>  in this article? One example is by using personal </a:t>
            </a:r>
            <a:r>
              <a:rPr lang="en-US" sz="1700" u="sng" dirty="0" err="1">
                <a:solidFill>
                  <a:srgbClr val="FF0000"/>
                </a:solidFill>
              </a:rPr>
              <a:t>anectodes</a:t>
            </a:r>
            <a:r>
              <a:rPr lang="en-US" sz="1700" dirty="0"/>
              <a:t> and storytelling techniques. </a:t>
            </a:r>
          </a:p>
          <a:p>
            <a:pPr marL="742950" lvl="1" indent="-285750"/>
            <a:r>
              <a:rPr lang="en-US" sz="2000" dirty="0"/>
              <a:t>Master: </a:t>
            </a:r>
            <a:r>
              <a:rPr lang="en-US" sz="2000" i="1" dirty="0"/>
              <a:t>Synthesis/Evaluation</a:t>
            </a:r>
            <a:endParaRPr lang="en-US" sz="2000" dirty="0"/>
          </a:p>
          <a:p>
            <a:pPr marL="1200150" lvl="2" indent="-285750"/>
            <a:r>
              <a:rPr lang="en-US" sz="1700" dirty="0"/>
              <a:t>(MC) </a:t>
            </a:r>
            <a:r>
              <a:rPr lang="en-US" sz="1800" dirty="0"/>
              <a:t>Select the people that will certainly have the same reaction to this article as surviving parents of military suicide victims. If none apply, do not select any of these options. (a) other surviving parents of military suicide victims (b) victim’s siblings from the same family. (c ) military suicide researchers (d) the victim’s unit [</a:t>
            </a:r>
            <a:r>
              <a:rPr lang="en-US" sz="1800" dirty="0">
                <a:solidFill>
                  <a:srgbClr val="FF0000"/>
                </a:solidFill>
              </a:rPr>
              <a:t>NONE or an explanation saying that reactions can still vary</a:t>
            </a:r>
            <a:r>
              <a:rPr lang="en-US" sz="1800" dirty="0"/>
              <a:t>]</a:t>
            </a:r>
            <a:endParaRPr lang="en-US" sz="1700" i="1" dirty="0"/>
          </a:p>
          <a:p>
            <a:pPr marL="1200150" lvl="2" indent="-285750">
              <a:buFont typeface="Arial" panose="020B0604020202020204" pitchFamily="34" charset="0"/>
              <a:buChar char="•"/>
            </a:pPr>
            <a:r>
              <a:rPr lang="en-US" sz="1700" dirty="0"/>
              <a:t>(MA) Match the audience with the response that reading this article is most likely to elicit. (a) veteran contemplating suicide (b) current military member contemplating suicide ( c) researchers or academics (d) policymakers </a:t>
            </a:r>
            <a:r>
              <a:rPr lang="en-US" sz="1700" dirty="0" err="1"/>
              <a:t>i</a:t>
            </a:r>
            <a:r>
              <a:rPr lang="en-US" sz="1700" dirty="0"/>
              <a:t>. asking fellow unit members if they have read the article ii. Launch a large, federally-funded formal study on military suicide trends. </a:t>
            </a:r>
            <a:r>
              <a:rPr lang="en-US" sz="1700" dirty="0" err="1"/>
              <a:t>Iii</a:t>
            </a:r>
            <a:r>
              <a:rPr lang="en-US" sz="1700" dirty="0"/>
              <a:t>. Launch Interviews for military members and families about their experiences. Iv. Wondering if therapy resources still apply to him </a:t>
            </a:r>
            <a:r>
              <a:rPr lang="en-US" sz="1700" dirty="0">
                <a:solidFill>
                  <a:srgbClr val="FF0000"/>
                </a:solidFill>
              </a:rPr>
              <a:t>(a)iv (b)I (c )iii (d)ii</a:t>
            </a:r>
            <a:r>
              <a:rPr lang="en-US" sz="1700" dirty="0"/>
              <a:t>    </a:t>
            </a:r>
          </a:p>
          <a:p>
            <a:pPr marL="1200150" lvl="2" indent="-285750">
              <a:buFont typeface="Arial" panose="020B0604020202020204" pitchFamily="34" charset="0"/>
              <a:buChar char="•"/>
            </a:pPr>
            <a:r>
              <a:rPr lang="en-US" sz="1700" dirty="0"/>
              <a:t>(MC) Select the most optimal reaction that a veteran contemplating suicide would have after reading this article (a) spend a lot of time finding more articles to corroborate or refute this article (b) recover on their own </a:t>
            </a:r>
            <a:r>
              <a:rPr lang="en-US" sz="1700" dirty="0">
                <a:solidFill>
                  <a:srgbClr val="FF0000"/>
                </a:solidFill>
              </a:rPr>
              <a:t>( c) seek out help from a trusted and trustworthy licensed professional</a:t>
            </a:r>
            <a:r>
              <a:rPr lang="en-US" sz="1700" dirty="0"/>
              <a:t> (d) stay silent</a:t>
            </a:r>
          </a:p>
          <a:p>
            <a:pPr marL="1200150" lvl="2" indent="-285750"/>
            <a:r>
              <a:rPr lang="en-US" sz="1700" dirty="0"/>
              <a:t>(MC) A currently healthy active duty military becomes hopeful upon reading this article. Is this an emotional component to this response? </a:t>
            </a:r>
            <a:r>
              <a:rPr lang="en-US" sz="1700" dirty="0">
                <a:solidFill>
                  <a:srgbClr val="FF0000"/>
                </a:solidFill>
              </a:rPr>
              <a:t>(a) Yes, there is an emotional component. The military member's feeling of hope is influenced by the empathetic language used in the article and their personal connection to the topic</a:t>
            </a:r>
            <a:r>
              <a:rPr lang="en-US" sz="1700" dirty="0"/>
              <a:t>. (b) No, there is no emotional component. The military member's response is purely based on logical reasoning and understanding of the article's content. (c) It is impossible to determine. Without further information or context, it is difficult to assess whether there is an emotional component to the military member's response. (d) The response is purely logical. The military member's feeling of hope is solely based on the logical steps outlined in the article and their understanding of the preventive measures.</a:t>
            </a:r>
            <a:endParaRPr lang="en-US" sz="1700" dirty="0">
              <a:solidFill>
                <a:srgbClr val="FF0000"/>
              </a:solidFill>
            </a:endParaRPr>
          </a:p>
          <a:p>
            <a:pPr marL="1200150" lvl="2" indent="-285750"/>
            <a:r>
              <a:rPr lang="en-US" sz="1700" dirty="0"/>
              <a:t>(MC) If a person does not have an emotional response to an article that contains emotionally empathetic language, does it necessarily mean that they are lacking in empathy? (a) Yes, the absence of an emotional response indicates a lack of empathy. </a:t>
            </a:r>
            <a:r>
              <a:rPr lang="en-US" sz="1700" dirty="0">
                <a:solidFill>
                  <a:srgbClr val="FF0000"/>
                </a:solidFill>
              </a:rPr>
              <a:t>(b) No, empathy can be expressed in different ways, including a more cognitive or rational approach. </a:t>
            </a:r>
            <a:r>
              <a:rPr lang="en-US" sz="1700" dirty="0"/>
              <a:t>(c) It depends on the individual's personality and experiences. (d) It is impossible to determine without further information.</a:t>
            </a:r>
            <a:br>
              <a:rPr lang="en-US" sz="1700" dirty="0"/>
            </a:br>
            <a:endParaRPr lang="en-US" sz="1700" dirty="0"/>
          </a:p>
        </p:txBody>
      </p:sp>
      <p:sp>
        <p:nvSpPr>
          <p:cNvPr id="4" name="TextBox 3">
            <a:extLst>
              <a:ext uri="{FF2B5EF4-FFF2-40B4-BE49-F238E27FC236}">
                <a16:creationId xmlns:a16="http://schemas.microsoft.com/office/drawing/2014/main" id="{09B3BD9E-F7AB-6D3E-B000-E68C16026097}"/>
              </a:ext>
            </a:extLst>
          </p:cNvPr>
          <p:cNvSpPr txBox="1"/>
          <p:nvPr/>
        </p:nvSpPr>
        <p:spPr>
          <a:xfrm>
            <a:off x="10364256" y="6488668"/>
            <a:ext cx="1880643" cy="369332"/>
          </a:xfrm>
          <a:prstGeom prst="rect">
            <a:avLst/>
          </a:prstGeom>
          <a:noFill/>
        </p:spPr>
        <p:txBody>
          <a:bodyPr wrap="none" rtlCol="0">
            <a:spAutoFit/>
          </a:bodyPr>
          <a:lstStyle/>
          <a:p>
            <a:r>
              <a:rPr lang="en-US" dirty="0"/>
              <a:t>6. Functional Goal</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1</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3 / 3</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2 / 2</a:t>
            </a:r>
          </a:p>
        </p:txBody>
      </p:sp>
    </p:spTree>
    <p:extLst>
      <p:ext uri="{BB962C8B-B14F-4D97-AF65-F5344CB8AC3E}">
        <p14:creationId xmlns:p14="http://schemas.microsoft.com/office/powerpoint/2010/main" val="361599314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Non Affective</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46284" y="1690688"/>
            <a:ext cx="11099432" cy="4570430"/>
          </a:xfrm>
        </p:spPr>
        <p:txBody>
          <a:bodyPr>
            <a:normAutofit fontScale="55000" lnSpcReduction="20000"/>
          </a:bodyPr>
          <a:lstStyle/>
          <a:p>
            <a:r>
              <a:rPr lang="en-US" dirty="0"/>
              <a:t>Purely informational or logical tasks</a:t>
            </a:r>
          </a:p>
          <a:p>
            <a:pPr lvl="1"/>
            <a:r>
              <a:rPr lang="en-US" dirty="0"/>
              <a:t>Basic: </a:t>
            </a:r>
            <a:r>
              <a:rPr lang="en-US" i="1" dirty="0"/>
              <a:t>Knowledge</a:t>
            </a:r>
            <a:endParaRPr lang="en-US" dirty="0"/>
          </a:p>
          <a:p>
            <a:pPr lvl="2"/>
            <a:r>
              <a:rPr lang="en-US" dirty="0"/>
              <a:t>(</a:t>
            </a:r>
            <a:r>
              <a:rPr lang="en-US" dirty="0">
                <a:solidFill>
                  <a:srgbClr val="FF0000"/>
                </a:solidFill>
              </a:rPr>
              <a:t>T</a:t>
            </a:r>
            <a:r>
              <a:rPr lang="en-US" dirty="0"/>
              <a:t>/F) Each prevention step has a title that summarizes its gist. </a:t>
            </a:r>
          </a:p>
          <a:p>
            <a:pPr lvl="2"/>
            <a:r>
              <a:rPr lang="en-US" dirty="0"/>
              <a:t>(MC) How many steps to prevention does the article outline? </a:t>
            </a:r>
            <a:r>
              <a:rPr lang="en-US" dirty="0">
                <a:solidFill>
                  <a:srgbClr val="FF0000"/>
                </a:solidFill>
              </a:rPr>
              <a:t>(a) 5 </a:t>
            </a:r>
            <a:r>
              <a:rPr lang="en-US" dirty="0"/>
              <a:t>(b) 9 ( c) 2 (d) 0</a:t>
            </a:r>
          </a:p>
          <a:p>
            <a:pPr lvl="2"/>
            <a:r>
              <a:rPr lang="en-US" dirty="0"/>
              <a:t>(T/</a:t>
            </a:r>
            <a:r>
              <a:rPr lang="en-US" dirty="0">
                <a:solidFill>
                  <a:srgbClr val="FF0000"/>
                </a:solidFill>
              </a:rPr>
              <a:t>F</a:t>
            </a:r>
            <a:r>
              <a:rPr lang="en-US" dirty="0"/>
              <a:t>) Addressing military suicide requires an emotionless, logic-only response. </a:t>
            </a:r>
          </a:p>
          <a:p>
            <a:pPr lvl="2"/>
            <a:r>
              <a:rPr lang="en-US" dirty="0"/>
              <a:t>(T/</a:t>
            </a:r>
            <a:r>
              <a:rPr lang="en-US" dirty="0">
                <a:solidFill>
                  <a:srgbClr val="FF0000"/>
                </a:solidFill>
              </a:rPr>
              <a:t>F</a:t>
            </a:r>
            <a:r>
              <a:rPr lang="en-US" dirty="0"/>
              <a:t>) Only people personally affected by military suicide can get involved and help preventative efforts. </a:t>
            </a:r>
          </a:p>
          <a:p>
            <a:pPr lvl="2"/>
            <a:r>
              <a:rPr lang="en-US" dirty="0"/>
              <a:t>(</a:t>
            </a:r>
            <a:r>
              <a:rPr lang="en-US" dirty="0">
                <a:solidFill>
                  <a:srgbClr val="FF0000"/>
                </a:solidFill>
              </a:rPr>
              <a:t>T</a:t>
            </a:r>
            <a:r>
              <a:rPr lang="en-US" dirty="0"/>
              <a:t>/F) The passage can be read by communities beyond the </a:t>
            </a:r>
            <a:r>
              <a:rPr lang="en-US" dirty="0" err="1"/>
              <a:t>miltary</a:t>
            </a:r>
            <a:r>
              <a:rPr lang="en-US" dirty="0"/>
              <a:t>. </a:t>
            </a:r>
          </a:p>
          <a:p>
            <a:pPr marL="742950" lvl="1" indent="-285750">
              <a:buFont typeface="Arial" panose="020B0604020202020204" pitchFamily="34" charset="0"/>
              <a:buChar char="•"/>
            </a:pPr>
            <a:r>
              <a:rPr lang="en-US" sz="2400" dirty="0"/>
              <a:t>Intermediate: </a:t>
            </a:r>
            <a:r>
              <a:rPr lang="en-US" sz="2400" i="1" dirty="0"/>
              <a:t>Comprehension</a:t>
            </a:r>
            <a:endParaRPr lang="en-US" sz="2400" dirty="0"/>
          </a:p>
          <a:p>
            <a:pPr marL="1200150" lvl="2" indent="-285750"/>
            <a:r>
              <a:rPr lang="en-US" sz="2000" dirty="0"/>
              <a:t>(</a:t>
            </a:r>
            <a:r>
              <a:rPr lang="en-US" dirty="0"/>
              <a:t>T/</a:t>
            </a:r>
            <a:r>
              <a:rPr lang="en-US" dirty="0">
                <a:solidFill>
                  <a:srgbClr val="FF0000"/>
                </a:solidFill>
              </a:rPr>
              <a:t>F</a:t>
            </a:r>
            <a:r>
              <a:rPr lang="en-US" sz="2000" dirty="0"/>
              <a:t>) As written, the prevention steps are designed to eliminate every single instance of military suicide</a:t>
            </a:r>
          </a:p>
          <a:p>
            <a:pPr marL="1200150" lvl="2" indent="-285750">
              <a:buFont typeface="Arial" panose="020B0604020202020204" pitchFamily="34" charset="0"/>
              <a:buChar char="•"/>
            </a:pPr>
            <a:r>
              <a:rPr lang="en-US" sz="2000" dirty="0"/>
              <a:t>(</a:t>
            </a:r>
            <a:r>
              <a:rPr lang="en-US" sz="2000" dirty="0">
                <a:solidFill>
                  <a:srgbClr val="FF0000"/>
                </a:solidFill>
              </a:rPr>
              <a:t>T</a:t>
            </a:r>
            <a:r>
              <a:rPr lang="en-US" sz="2000" dirty="0"/>
              <a:t>/F) </a:t>
            </a:r>
            <a:r>
              <a:rPr lang="en-US" dirty="0"/>
              <a:t>The second half of this article is dominated by logical steps to military suicide prevention. </a:t>
            </a:r>
            <a:endParaRPr lang="en-US" sz="2000" dirty="0"/>
          </a:p>
          <a:p>
            <a:pPr marL="1200150" lvl="2" indent="-285750">
              <a:buFont typeface="Arial" panose="020B0604020202020204" pitchFamily="34" charset="0"/>
              <a:buChar char="•"/>
            </a:pPr>
            <a:r>
              <a:rPr lang="en-US" dirty="0"/>
              <a:t>(CZ) According to the passage, to encompass various aspects of prevention, the plan needs to be </a:t>
            </a:r>
            <a:r>
              <a:rPr lang="en-US" u="sng" dirty="0">
                <a:solidFill>
                  <a:srgbClr val="FF0000"/>
                </a:solidFill>
              </a:rPr>
              <a:t>comprehensive</a:t>
            </a:r>
            <a:r>
              <a:rPr lang="en-US" dirty="0"/>
              <a:t>.</a:t>
            </a:r>
          </a:p>
          <a:p>
            <a:pPr marL="1200150" lvl="2" indent="-285750">
              <a:buFont typeface="Arial" panose="020B0604020202020204" pitchFamily="34" charset="0"/>
              <a:buChar char="•"/>
            </a:pPr>
            <a:r>
              <a:rPr lang="en-US" dirty="0"/>
              <a:t>(CZ) According to step 3, empowering military members with mental health tools fosters </a:t>
            </a:r>
            <a:r>
              <a:rPr lang="en-US" u="sng" dirty="0">
                <a:solidFill>
                  <a:srgbClr val="FF0000"/>
                </a:solidFill>
              </a:rPr>
              <a:t>resilience</a:t>
            </a:r>
            <a:r>
              <a:rPr lang="en-US" dirty="0"/>
              <a:t>.  </a:t>
            </a:r>
          </a:p>
          <a:p>
            <a:pPr marL="1200150" lvl="2" indent="-285750">
              <a:buFont typeface="Arial" panose="020B0604020202020204" pitchFamily="34" charset="0"/>
              <a:buChar char="•"/>
            </a:pPr>
            <a:r>
              <a:rPr lang="en-US" dirty="0"/>
              <a:t>(</a:t>
            </a:r>
            <a:r>
              <a:rPr lang="en-US" dirty="0">
                <a:solidFill>
                  <a:srgbClr val="FF0000"/>
                </a:solidFill>
              </a:rPr>
              <a:t>T</a:t>
            </a:r>
            <a:r>
              <a:rPr lang="en-US" dirty="0"/>
              <a:t>/F) The passage references statistical significance to underscore the urgency of the main topic. </a:t>
            </a:r>
          </a:p>
          <a:p>
            <a:pPr marL="742950" lvl="1" indent="-285750">
              <a:buFont typeface="Arial" panose="020B0604020202020204" pitchFamily="34" charset="0"/>
              <a:buChar char="•"/>
            </a:pPr>
            <a:r>
              <a:rPr lang="en-US" sz="2400" dirty="0"/>
              <a:t>Advanced: </a:t>
            </a:r>
            <a:r>
              <a:rPr lang="en-US" sz="2400" i="1" dirty="0"/>
              <a:t>Application</a:t>
            </a:r>
            <a:endParaRPr lang="en-US" dirty="0"/>
          </a:p>
          <a:p>
            <a:pPr marL="1200150" lvl="2" indent="-285750"/>
            <a:r>
              <a:rPr lang="en-US" sz="2000" dirty="0"/>
              <a:t>(</a:t>
            </a:r>
            <a:r>
              <a:rPr lang="en-US" dirty="0"/>
              <a:t>CZ</a:t>
            </a:r>
            <a:r>
              <a:rPr lang="en-US" sz="2000" dirty="0"/>
              <a:t>) Based on the passage’s recommendation, implementing these recommendations most likely requires many different organizations to </a:t>
            </a:r>
            <a:r>
              <a:rPr lang="en-US" sz="2000" dirty="0">
                <a:solidFill>
                  <a:srgbClr val="FF0000"/>
                </a:solidFill>
              </a:rPr>
              <a:t>unite/collaborate/work together </a:t>
            </a:r>
            <a:r>
              <a:rPr lang="en-US" sz="2000" dirty="0"/>
              <a:t>to achieve the collective goal of military suicide prevention. </a:t>
            </a:r>
          </a:p>
          <a:p>
            <a:pPr marL="1200150" lvl="2" indent="-285750"/>
            <a:r>
              <a:rPr lang="en-US" dirty="0"/>
              <a:t>(MC) The prevention steps are one of the following: (a) chronological </a:t>
            </a:r>
            <a:r>
              <a:rPr lang="en-US" dirty="0">
                <a:solidFill>
                  <a:srgbClr val="FF0000"/>
                </a:solidFill>
              </a:rPr>
              <a:t>(b) categorical </a:t>
            </a:r>
            <a:r>
              <a:rPr lang="en-US" dirty="0"/>
              <a:t>( c) both (d) none</a:t>
            </a:r>
            <a:endParaRPr lang="en-US" sz="2000" dirty="0"/>
          </a:p>
          <a:p>
            <a:pPr marL="1200150" lvl="2" indent="-285750"/>
            <a:r>
              <a:rPr lang="en-US" sz="2000" dirty="0"/>
              <a:t>(MC)</a:t>
            </a:r>
            <a:r>
              <a:rPr lang="en-US" dirty="0"/>
              <a:t> If policymakers wanted to adopt this plan, according to the passage, how would they need to accomplish this? (a) implement the steps exactly in the order they appear in the article. (b) only implement the ones that congress can pass a budget on </a:t>
            </a:r>
            <a:r>
              <a:rPr lang="en-US" dirty="0">
                <a:solidFill>
                  <a:srgbClr val="FF0000"/>
                </a:solidFill>
              </a:rPr>
              <a:t>(c ) invest time, empathy, and resources into collaboration and execution of the elements in this plan </a:t>
            </a:r>
            <a:r>
              <a:rPr lang="en-US" dirty="0"/>
              <a:t>(d) hope for the best!</a:t>
            </a:r>
            <a:endParaRPr lang="en-US" sz="2000" dirty="0"/>
          </a:p>
          <a:p>
            <a:pPr marL="1200150" lvl="2" indent="-285750"/>
            <a:r>
              <a:rPr lang="en-US" dirty="0"/>
              <a:t>(MC) Elements of the preventative plan can be implemented on ____ scales as well as _____ scales. [</a:t>
            </a:r>
            <a:r>
              <a:rPr lang="en-US" dirty="0">
                <a:solidFill>
                  <a:srgbClr val="FF0000"/>
                </a:solidFill>
              </a:rPr>
              <a:t>smaller/larger, individual/organizational, etc.</a:t>
            </a:r>
            <a:r>
              <a:rPr lang="en-US" dirty="0"/>
              <a:t>]</a:t>
            </a:r>
          </a:p>
          <a:p>
            <a:pPr marL="1200150" lvl="2" indent="-285750"/>
            <a:r>
              <a:rPr lang="en-US" sz="2000" dirty="0"/>
              <a:t>(MC) Select all of the possible parties that can implement the preventative steps outlined here. (</a:t>
            </a:r>
            <a:r>
              <a:rPr lang="en-US" sz="2000" dirty="0">
                <a:solidFill>
                  <a:srgbClr val="FF0000"/>
                </a:solidFill>
              </a:rPr>
              <a:t>a) future military communities (b) current military communities (c ) wider civilian communities (d) other communities not listed here</a:t>
            </a:r>
          </a:p>
        </p:txBody>
      </p:sp>
      <p:sp>
        <p:nvSpPr>
          <p:cNvPr id="4" name="TextBox 3">
            <a:extLst>
              <a:ext uri="{FF2B5EF4-FFF2-40B4-BE49-F238E27FC236}">
                <a16:creationId xmlns:a16="http://schemas.microsoft.com/office/drawing/2014/main" id="{09B3BD9E-F7AB-6D3E-B000-E68C16026097}"/>
              </a:ext>
            </a:extLst>
          </p:cNvPr>
          <p:cNvSpPr txBox="1"/>
          <p:nvPr/>
        </p:nvSpPr>
        <p:spPr>
          <a:xfrm>
            <a:off x="10189528" y="6488668"/>
            <a:ext cx="2055371" cy="369332"/>
          </a:xfrm>
          <a:prstGeom prst="rect">
            <a:avLst/>
          </a:prstGeom>
          <a:noFill/>
        </p:spPr>
        <p:txBody>
          <a:bodyPr wrap="none" rtlCol="0">
            <a:spAutoFit/>
          </a:bodyPr>
          <a:lstStyle/>
          <a:p>
            <a:r>
              <a:rPr lang="en-US" dirty="0"/>
              <a:t>8. Emotional Aspect</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1</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1 / 1</a:t>
            </a:r>
          </a:p>
        </p:txBody>
      </p:sp>
      <p:sp>
        <p:nvSpPr>
          <p:cNvPr id="7" name="TextBox 6">
            <a:extLst>
              <a:ext uri="{FF2B5EF4-FFF2-40B4-BE49-F238E27FC236}">
                <a16:creationId xmlns:a16="http://schemas.microsoft.com/office/drawing/2014/main" id="{EEBCA424-D396-332B-ED01-7C714D180B22}"/>
              </a:ext>
            </a:extLst>
          </p:cNvPr>
          <p:cNvSpPr txBox="1"/>
          <p:nvPr/>
        </p:nvSpPr>
        <p:spPr>
          <a:xfrm>
            <a:off x="52899" y="0"/>
            <a:ext cx="614271" cy="369332"/>
          </a:xfrm>
          <a:prstGeom prst="rect">
            <a:avLst/>
          </a:prstGeom>
          <a:noFill/>
        </p:spPr>
        <p:txBody>
          <a:bodyPr wrap="none" rtlCol="0">
            <a:spAutoFit/>
          </a:bodyPr>
          <a:lstStyle/>
          <a:p>
            <a:r>
              <a:rPr lang="en-US" dirty="0"/>
              <a:t>1 / 2</a:t>
            </a:r>
          </a:p>
        </p:txBody>
      </p:sp>
    </p:spTree>
    <p:extLst>
      <p:ext uri="{BB962C8B-B14F-4D97-AF65-F5344CB8AC3E}">
        <p14:creationId xmlns:p14="http://schemas.microsoft.com/office/powerpoint/2010/main" val="129645824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Non Affective</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11008364" cy="4570430"/>
          </a:xfrm>
        </p:spPr>
        <p:txBody>
          <a:bodyPr>
            <a:normAutofit fontScale="70000" lnSpcReduction="20000"/>
          </a:bodyPr>
          <a:lstStyle/>
          <a:p>
            <a:r>
              <a:rPr lang="en-US" sz="2400" dirty="0"/>
              <a:t>Purely informational or logical tasks</a:t>
            </a:r>
          </a:p>
          <a:p>
            <a:pPr lvl="1"/>
            <a:r>
              <a:rPr lang="en-US" sz="2000" dirty="0"/>
              <a:t>Expert: </a:t>
            </a:r>
            <a:r>
              <a:rPr lang="en-US" sz="2000" i="1" dirty="0"/>
              <a:t>Analysis/Synthesis</a:t>
            </a:r>
            <a:endParaRPr lang="en-US" sz="2000" dirty="0"/>
          </a:p>
          <a:p>
            <a:pPr lvl="2"/>
            <a:r>
              <a:rPr lang="en-US" sz="1700" dirty="0"/>
              <a:t>(MC) According to the passage, what is the role of the greater community in military suicide prevention? A. Providing financial support for mental health program B. Raising awareness and reducing stigma surrounding mental health C. Offering peer support and counseling services </a:t>
            </a:r>
            <a:r>
              <a:rPr lang="en-US" sz="1700" dirty="0">
                <a:solidFill>
                  <a:srgbClr val="FF0000"/>
                </a:solidFill>
              </a:rPr>
              <a:t>D. All of the above</a:t>
            </a:r>
            <a:endParaRPr lang="en-US" sz="1700" dirty="0"/>
          </a:p>
          <a:p>
            <a:pPr marL="1200150" lvl="2" indent="-285750"/>
            <a:r>
              <a:rPr lang="en-US" sz="1700" dirty="0"/>
              <a:t>(MC) List all of the prevention steps that require awareness of the at-risk person’s individual thoughts to complete. </a:t>
            </a:r>
            <a:r>
              <a:rPr lang="en-US" sz="1700" dirty="0">
                <a:solidFill>
                  <a:srgbClr val="FF0000"/>
                </a:solidFill>
              </a:rPr>
              <a:t>[none]</a:t>
            </a:r>
            <a:endParaRPr lang="en-US" sz="1700" dirty="0"/>
          </a:p>
          <a:p>
            <a:pPr marL="1200150" lvl="2" indent="-285750"/>
            <a:r>
              <a:rPr lang="en-US" sz="1700" dirty="0"/>
              <a:t>(CZ/T-F) Based on the tone of this article, the author of this passage does </a:t>
            </a:r>
            <a:r>
              <a:rPr lang="en-US" sz="1700" dirty="0">
                <a:solidFill>
                  <a:srgbClr val="FF0000"/>
                </a:solidFill>
              </a:rPr>
              <a:t>[not]</a:t>
            </a:r>
            <a:r>
              <a:rPr lang="en-US" sz="1700" dirty="0"/>
              <a:t> believe that, out of these prevention steps, there are some that are more important than others. </a:t>
            </a:r>
          </a:p>
          <a:p>
            <a:pPr marL="1200150" lvl="2" indent="-285750"/>
            <a:r>
              <a:rPr lang="en-US" sz="1700" dirty="0"/>
              <a:t>(MC) What does mentioning statistics do to the overall tone of the passage? (a) reputability (b) urgency (c ) logic </a:t>
            </a:r>
            <a:r>
              <a:rPr lang="en-US" sz="1700" dirty="0">
                <a:solidFill>
                  <a:srgbClr val="FF0000"/>
                </a:solidFill>
              </a:rPr>
              <a:t>(d) all of the above</a:t>
            </a:r>
          </a:p>
          <a:p>
            <a:pPr marL="1200150" lvl="2" indent="-285750"/>
            <a:r>
              <a:rPr lang="en-US" sz="1700" dirty="0"/>
              <a:t>(SR) Are the preventative steps in the article solely informational/logical and devoid of any emotion? (a) yes </a:t>
            </a:r>
            <a:r>
              <a:rPr lang="en-US" sz="1700" dirty="0">
                <a:solidFill>
                  <a:srgbClr val="FF0000"/>
                </a:solidFill>
              </a:rPr>
              <a:t>(b) although they primarily focus on information and reason, there is language designed to evoke emotion.</a:t>
            </a:r>
            <a:r>
              <a:rPr lang="en-US" sz="1700" dirty="0"/>
              <a:t> ( c) the preventative steps rely primarily on emotions and little reason. (d) none of the above</a:t>
            </a:r>
          </a:p>
          <a:p>
            <a:pPr marL="742950" lvl="1" indent="-285750"/>
            <a:r>
              <a:rPr lang="en-US" sz="2000" dirty="0"/>
              <a:t>Master: </a:t>
            </a:r>
            <a:r>
              <a:rPr lang="en-US" sz="2000" i="1" dirty="0"/>
              <a:t>Synthesis/Evaluation</a:t>
            </a:r>
            <a:endParaRPr lang="en-US" sz="2000" dirty="0"/>
          </a:p>
          <a:p>
            <a:pPr marL="1200150" lvl="2" indent="-285750"/>
            <a:r>
              <a:rPr lang="en-US" sz="1700" dirty="0"/>
              <a:t>(MC) What are some non-emotional information-based additions to this article that could strengthen its message? Select all that apply. </a:t>
            </a:r>
            <a:r>
              <a:rPr lang="en-US" sz="1700" dirty="0">
                <a:solidFill>
                  <a:srgbClr val="FF0000"/>
                </a:solidFill>
              </a:rPr>
              <a:t>(a) Concrete numbers with statistics (b) a budget plan with feasibility</a:t>
            </a:r>
            <a:r>
              <a:rPr lang="en-US" sz="1700" dirty="0"/>
              <a:t> (c ) testimony of grief from a victim’s family (d) none of the above</a:t>
            </a:r>
            <a:endParaRPr lang="en-US" sz="1700" i="1" dirty="0"/>
          </a:p>
          <a:p>
            <a:pPr marL="1200150" lvl="2" indent="-285750">
              <a:buFont typeface="Arial" panose="020B0604020202020204" pitchFamily="34" charset="0"/>
              <a:buChar char="•"/>
            </a:pPr>
            <a:r>
              <a:rPr lang="en-US" sz="1700" dirty="0"/>
              <a:t>(MC) In which instances did information and logic over-emphasize the article’s overall message? Select all that apply. (a) The preventative steps’ titles (b) The detailed descriptions of the preventative steps. ( c) testimony from a victim’s loved ones </a:t>
            </a:r>
            <a:r>
              <a:rPr lang="en-US" sz="1700" dirty="0">
                <a:solidFill>
                  <a:srgbClr val="FF0000"/>
                </a:solidFill>
              </a:rPr>
              <a:t>(d) none of the above</a:t>
            </a:r>
          </a:p>
          <a:p>
            <a:pPr marL="1200150" lvl="2" indent="-285750">
              <a:buFont typeface="Arial" panose="020B0604020202020204" pitchFamily="34" charset="0"/>
              <a:buChar char="•"/>
            </a:pPr>
            <a:r>
              <a:rPr lang="en-US" sz="1700" dirty="0"/>
              <a:t>(SR) Please provide a sentence on why individuals not affiliated with the military would or would not benefit from adopting the preventative steps in this article. [</a:t>
            </a:r>
            <a:r>
              <a:rPr lang="en-US" sz="1700" dirty="0">
                <a:solidFill>
                  <a:srgbClr val="FF0000"/>
                </a:solidFill>
              </a:rPr>
              <a:t>answers will vary, so check for single sentence</a:t>
            </a:r>
            <a:r>
              <a:rPr lang="en-US" sz="1700" dirty="0"/>
              <a:t>]</a:t>
            </a:r>
          </a:p>
          <a:p>
            <a:pPr marL="1200150" lvl="2" indent="-285750"/>
            <a:r>
              <a:rPr lang="en-US" sz="1700" dirty="0"/>
              <a:t>(MA) Match the contributing factors to the vulnerability of the military community regarding mental health and suicide to the most likely successful remedy. (a) combat exposure (b) PTSD ( c) transition to civilian life (d) substance abuse </a:t>
            </a:r>
            <a:r>
              <a:rPr lang="en-US" sz="1700" dirty="0" err="1"/>
              <a:t>i</a:t>
            </a:r>
            <a:r>
              <a:rPr lang="en-US" sz="1700" dirty="0"/>
              <a:t>. training assistance programs (TAPs) ii. Mental health support iii. Trauma-focused counselling iv. Addiction treatment centers </a:t>
            </a:r>
            <a:r>
              <a:rPr lang="en-US" sz="1700" dirty="0">
                <a:solidFill>
                  <a:srgbClr val="FF0000"/>
                </a:solidFill>
              </a:rPr>
              <a:t>(a)iii (b)ii ( c)</a:t>
            </a:r>
            <a:r>
              <a:rPr lang="en-US" sz="1700" dirty="0" err="1">
                <a:solidFill>
                  <a:srgbClr val="FF0000"/>
                </a:solidFill>
              </a:rPr>
              <a:t>i</a:t>
            </a:r>
            <a:r>
              <a:rPr lang="en-US" sz="1700" dirty="0">
                <a:solidFill>
                  <a:srgbClr val="FF0000"/>
                </a:solidFill>
              </a:rPr>
              <a:t> (d)iv</a:t>
            </a:r>
          </a:p>
          <a:p>
            <a:pPr marL="1200150" lvl="2" indent="-285750"/>
            <a:r>
              <a:rPr lang="en-US" sz="1700" dirty="0"/>
              <a:t>(MC) A currently healthy active duty military becomes hopeful upon reading this article. Is this a logical component to this response? (a) Yes, there is an emotional component. The military member's feeling of hope is influenced by the empathetic language used in the article and their personal connection to the topic. (b) No, there is no logical component. The military member's response is purely based on the emotional language found in the article. </a:t>
            </a:r>
            <a:r>
              <a:rPr lang="en-US" sz="1700" dirty="0">
                <a:solidFill>
                  <a:srgbClr val="FF0000"/>
                </a:solidFill>
              </a:rPr>
              <a:t>(c) Yes, the response can at least in part driven by following the logic of the preventative steps outlined.</a:t>
            </a:r>
            <a:r>
              <a:rPr lang="en-US" sz="1700" dirty="0"/>
              <a:t> (d) The response is purely logical. The military member's feeling of hope is solely based on the logical steps outlined in the article and their understanding of the preventive measures.</a:t>
            </a:r>
            <a:endParaRPr lang="en-US" sz="1700" dirty="0">
              <a:solidFill>
                <a:srgbClr val="FF0000"/>
              </a:solidFill>
            </a:endParaRPr>
          </a:p>
          <a:p>
            <a:pPr marL="1200150" lvl="2" indent="-285750">
              <a:buFont typeface="Arial" panose="020B0604020202020204" pitchFamily="34" charset="0"/>
              <a:buChar char="•"/>
            </a:pPr>
            <a:endParaRPr lang="en-US" sz="1700" dirty="0"/>
          </a:p>
        </p:txBody>
      </p:sp>
      <p:sp>
        <p:nvSpPr>
          <p:cNvPr id="4" name="TextBox 3">
            <a:extLst>
              <a:ext uri="{FF2B5EF4-FFF2-40B4-BE49-F238E27FC236}">
                <a16:creationId xmlns:a16="http://schemas.microsoft.com/office/drawing/2014/main" id="{09B3BD9E-F7AB-6D3E-B000-E68C16026097}"/>
              </a:ext>
            </a:extLst>
          </p:cNvPr>
          <p:cNvSpPr txBox="1"/>
          <p:nvPr/>
        </p:nvSpPr>
        <p:spPr>
          <a:xfrm>
            <a:off x="10189528" y="6488668"/>
            <a:ext cx="2055371" cy="369332"/>
          </a:xfrm>
          <a:prstGeom prst="rect">
            <a:avLst/>
          </a:prstGeom>
          <a:noFill/>
        </p:spPr>
        <p:txBody>
          <a:bodyPr wrap="none" rtlCol="0">
            <a:spAutoFit/>
          </a:bodyPr>
          <a:lstStyle/>
          <a:p>
            <a:r>
              <a:rPr lang="en-US" dirty="0"/>
              <a:t>8. Emotional Aspect</a:t>
            </a:r>
          </a:p>
        </p:txBody>
      </p:sp>
      <p:sp>
        <p:nvSpPr>
          <p:cNvPr id="5" name="TextBox 4">
            <a:extLst>
              <a:ext uri="{FF2B5EF4-FFF2-40B4-BE49-F238E27FC236}">
                <a16:creationId xmlns:a16="http://schemas.microsoft.com/office/drawing/2014/main" id="{F35534BC-4F44-37B5-FEDB-A90E065B1DDC}"/>
              </a:ext>
            </a:extLst>
          </p:cNvPr>
          <p:cNvSpPr txBox="1"/>
          <p:nvPr/>
        </p:nvSpPr>
        <p:spPr>
          <a:xfrm>
            <a:off x="0" y="6488668"/>
            <a:ext cx="614271" cy="369332"/>
          </a:xfrm>
          <a:prstGeom prst="rect">
            <a:avLst/>
          </a:prstGeom>
          <a:noFill/>
        </p:spPr>
        <p:txBody>
          <a:bodyPr wrap="none" rtlCol="0">
            <a:spAutoFit/>
          </a:bodyPr>
          <a:lstStyle/>
          <a:p>
            <a:r>
              <a:rPr lang="en-US" dirty="0"/>
              <a:t>1 / 1</a:t>
            </a:r>
            <a:endParaRPr lang="en-US" dirty="0">
              <a:solidFill>
                <a:srgbClr val="FF0000"/>
              </a:solidFill>
            </a:endParaRPr>
          </a:p>
        </p:txBody>
      </p:sp>
      <p:sp>
        <p:nvSpPr>
          <p:cNvPr id="16" name="TextBox 15">
            <a:extLst>
              <a:ext uri="{FF2B5EF4-FFF2-40B4-BE49-F238E27FC236}">
                <a16:creationId xmlns:a16="http://schemas.microsoft.com/office/drawing/2014/main" id="{BFCE0D72-5392-5BDD-DFE3-E4C17F3BBF81}"/>
              </a:ext>
            </a:extLst>
          </p:cNvPr>
          <p:cNvSpPr txBox="1"/>
          <p:nvPr/>
        </p:nvSpPr>
        <p:spPr>
          <a:xfrm>
            <a:off x="11630628" y="0"/>
            <a:ext cx="614271" cy="369332"/>
          </a:xfrm>
          <a:prstGeom prst="rect">
            <a:avLst/>
          </a:prstGeom>
          <a:noFill/>
        </p:spPr>
        <p:txBody>
          <a:bodyPr wrap="none" rtlCol="0">
            <a:spAutoFit/>
          </a:bodyPr>
          <a:lstStyle/>
          <a:p>
            <a:r>
              <a:rPr lang="en-US" dirty="0"/>
              <a:t>3 / 3</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8" name="TextBox 7">
            <a:extLst>
              <a:ext uri="{FF2B5EF4-FFF2-40B4-BE49-F238E27FC236}">
                <a16:creationId xmlns:a16="http://schemas.microsoft.com/office/drawing/2014/main" id="{7FD1BFD9-E2CD-5AA3-02EE-3D9FF463AF14}"/>
              </a:ext>
            </a:extLst>
          </p:cNvPr>
          <p:cNvSpPr txBox="1"/>
          <p:nvPr/>
        </p:nvSpPr>
        <p:spPr>
          <a:xfrm>
            <a:off x="52899" y="0"/>
            <a:ext cx="614271" cy="369332"/>
          </a:xfrm>
          <a:prstGeom prst="rect">
            <a:avLst/>
          </a:prstGeom>
          <a:noFill/>
        </p:spPr>
        <p:txBody>
          <a:bodyPr wrap="none" rtlCol="0">
            <a:spAutoFit/>
          </a:bodyPr>
          <a:lstStyle/>
          <a:p>
            <a:r>
              <a:rPr lang="en-US" dirty="0"/>
              <a:t>2 / 2</a:t>
            </a:r>
          </a:p>
        </p:txBody>
      </p:sp>
    </p:spTree>
    <p:extLst>
      <p:ext uri="{BB962C8B-B14F-4D97-AF65-F5344CB8AC3E}">
        <p14:creationId xmlns:p14="http://schemas.microsoft.com/office/powerpoint/2010/main" val="16334479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242E-49DB-226D-71A5-B61BF2C9F675}"/>
              </a:ext>
            </a:extLst>
          </p:cNvPr>
          <p:cNvSpPr>
            <a:spLocks noGrp="1"/>
          </p:cNvSpPr>
          <p:nvPr>
            <p:ph type="title"/>
          </p:nvPr>
        </p:nvSpPr>
        <p:spPr/>
        <p:txBody>
          <a:bodyPr/>
          <a:lstStyle/>
          <a:p>
            <a:pPr algn="ctr"/>
            <a:r>
              <a:rPr lang="en-US" dirty="0"/>
              <a:t>Excess Questions</a:t>
            </a:r>
          </a:p>
        </p:txBody>
      </p:sp>
      <p:sp>
        <p:nvSpPr>
          <p:cNvPr id="3" name="Content Placeholder 2">
            <a:extLst>
              <a:ext uri="{FF2B5EF4-FFF2-40B4-BE49-F238E27FC236}">
                <a16:creationId xmlns:a16="http://schemas.microsoft.com/office/drawing/2014/main" id="{B4224FFA-E7E9-60A9-05E4-286C20912B93}"/>
              </a:ext>
            </a:extLst>
          </p:cNvPr>
          <p:cNvSpPr>
            <a:spLocks noGrp="1"/>
          </p:cNvSpPr>
          <p:nvPr>
            <p:ph idx="1"/>
          </p:nvPr>
        </p:nvSpPr>
        <p:spPr>
          <a:xfrm>
            <a:off x="591818" y="1690688"/>
            <a:ext cx="4789437" cy="4570430"/>
          </a:xfrm>
        </p:spPr>
        <p:txBody>
          <a:bodyPr>
            <a:normAutofit fontScale="85000" lnSpcReduction="10000"/>
          </a:bodyPr>
          <a:lstStyle/>
          <a:p>
            <a:r>
              <a:rPr lang="en-US" sz="2400" dirty="0"/>
              <a:t>Any variable</a:t>
            </a:r>
          </a:p>
          <a:p>
            <a:pPr lvl="1"/>
            <a:r>
              <a:rPr lang="en-US" sz="2000" dirty="0"/>
              <a:t>Creativity:</a:t>
            </a:r>
          </a:p>
          <a:p>
            <a:pPr lvl="2"/>
            <a:r>
              <a:rPr lang="en-US" sz="1700" dirty="0"/>
              <a:t>(MC) Pretend that the text covers all of the core US-China relationship dynamics. Pick one of either economy, military, politics, culture, and explain in one sentence why this factor would be the best method to improve China-US relations. </a:t>
            </a:r>
          </a:p>
          <a:p>
            <a:pPr marL="1200150" lvl="2" indent="-285750">
              <a:buFont typeface="Arial" panose="020B0604020202020204" pitchFamily="34" charset="0"/>
              <a:buChar char="•"/>
            </a:pPr>
            <a:r>
              <a:rPr lang="en-US" sz="1700" dirty="0"/>
              <a:t>(MC/ER) []</a:t>
            </a:r>
          </a:p>
          <a:p>
            <a:pPr marL="1200150" lvl="2" indent="-285750"/>
            <a:r>
              <a:rPr lang="en-US" sz="1700" dirty="0"/>
              <a:t>(MC/ER) []</a:t>
            </a:r>
          </a:p>
          <a:p>
            <a:pPr marL="1200150" lvl="2" indent="-285750"/>
            <a:r>
              <a:rPr lang="en-US" sz="1700" dirty="0"/>
              <a:t>MC</a:t>
            </a:r>
          </a:p>
          <a:p>
            <a:pPr marL="1200150" lvl="2" indent="-285750"/>
            <a:r>
              <a:rPr lang="en-US" sz="1700" dirty="0"/>
              <a:t>MC</a:t>
            </a:r>
          </a:p>
          <a:p>
            <a:pPr marL="742950" lvl="1" indent="-285750"/>
            <a:r>
              <a:rPr lang="en-US" sz="2000" dirty="0"/>
              <a:t>Text-based generation + processing</a:t>
            </a:r>
          </a:p>
          <a:p>
            <a:pPr marL="1200150" lvl="2" indent="-285750"/>
            <a:r>
              <a:rPr lang="en-US" sz="1700" dirty="0"/>
              <a:t>(MC/ER) rewrite</a:t>
            </a:r>
            <a:endParaRPr lang="en-US" sz="1700" i="1" dirty="0"/>
          </a:p>
          <a:p>
            <a:pPr marL="1200150" lvl="2" indent="-285750">
              <a:buFont typeface="Arial" panose="020B0604020202020204" pitchFamily="34" charset="0"/>
              <a:buChar char="•"/>
            </a:pPr>
            <a:r>
              <a:rPr lang="en-US" sz="1700" dirty="0"/>
              <a:t>(MC/ER) correct code</a:t>
            </a:r>
          </a:p>
          <a:p>
            <a:pPr marL="1200150" lvl="2" indent="-285750">
              <a:buFont typeface="Arial" panose="020B0604020202020204" pitchFamily="34" charset="0"/>
              <a:buChar char="•"/>
            </a:pPr>
            <a:r>
              <a:rPr lang="en-US" sz="1700" dirty="0"/>
              <a:t>(MC/ER) in a mc </a:t>
            </a:r>
            <a:r>
              <a:rPr lang="en-US" sz="1700" dirty="0" err="1"/>
              <a:t>queston</a:t>
            </a:r>
            <a:r>
              <a:rPr lang="en-US" sz="1700" dirty="0"/>
              <a:t>, I select both (b) “text” and (d) (none of the above). Is this logical? </a:t>
            </a:r>
          </a:p>
          <a:p>
            <a:pPr marL="1200150" lvl="2" indent="-285750">
              <a:buFont typeface="Arial" panose="020B0604020202020204" pitchFamily="34" charset="0"/>
              <a:buChar char="•"/>
            </a:pPr>
            <a:r>
              <a:rPr lang="en-US" sz="1700" dirty="0"/>
              <a:t>MC</a:t>
            </a:r>
          </a:p>
          <a:p>
            <a:pPr marL="1200150" lvl="2" indent="-285750">
              <a:buFont typeface="Arial" panose="020B0604020202020204" pitchFamily="34" charset="0"/>
              <a:buChar char="•"/>
            </a:pPr>
            <a:r>
              <a:rPr lang="en-US" sz="1700" dirty="0"/>
              <a:t>MC</a:t>
            </a:r>
          </a:p>
        </p:txBody>
      </p:sp>
      <p:sp>
        <p:nvSpPr>
          <p:cNvPr id="6" name="Content Placeholder 2">
            <a:extLst>
              <a:ext uri="{FF2B5EF4-FFF2-40B4-BE49-F238E27FC236}">
                <a16:creationId xmlns:a16="http://schemas.microsoft.com/office/drawing/2014/main" id="{F6117E0C-6915-9BD8-856D-3ECB5ADC040F}"/>
              </a:ext>
            </a:extLst>
          </p:cNvPr>
          <p:cNvSpPr txBox="1">
            <a:spLocks/>
          </p:cNvSpPr>
          <p:nvPr/>
        </p:nvSpPr>
        <p:spPr>
          <a:xfrm>
            <a:off x="7238176" y="1707321"/>
            <a:ext cx="4895052" cy="45704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1200150" lvl="2" indent="-285750"/>
            <a:endParaRPr lang="en-US" dirty="0"/>
          </a:p>
        </p:txBody>
      </p:sp>
      <p:sp>
        <p:nvSpPr>
          <p:cNvPr id="4" name="Content Placeholder 2">
            <a:extLst>
              <a:ext uri="{FF2B5EF4-FFF2-40B4-BE49-F238E27FC236}">
                <a16:creationId xmlns:a16="http://schemas.microsoft.com/office/drawing/2014/main" id="{8DA252C6-B3EE-3108-1404-3F77AB2DA83E}"/>
              </a:ext>
            </a:extLst>
          </p:cNvPr>
          <p:cNvSpPr txBox="1">
            <a:spLocks/>
          </p:cNvSpPr>
          <p:nvPr/>
        </p:nvSpPr>
        <p:spPr>
          <a:xfrm>
            <a:off x="5381255" y="1674055"/>
            <a:ext cx="5816416" cy="457043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User queries:</a:t>
            </a:r>
          </a:p>
          <a:p>
            <a:pPr marL="742950" lvl="1" indent="-285750"/>
            <a:r>
              <a:rPr lang="en-US" sz="1400" dirty="0"/>
              <a:t>"How are military aircraft refueled during long-range missions?</a:t>
            </a:r>
          </a:p>
          <a:p>
            <a:pPr marL="742950" lvl="1" indent="-285750"/>
            <a:r>
              <a:rPr lang="en-US" sz="1400" dirty="0"/>
              <a:t>Sage: "During long-range missions, military aircraft can be refueled in-flight to extend their operational range. This process is known as aerial refueling or air-to-air refueling. It involves a tanker aircraft equipped with a refueling boom or drogue system that transfers fuel to the receiving aircraft. The receiving aircraft, such as fighter jets or bombers, have specialized receptacles or probes that connect to the tanker's refueling system. Once connected, fuel is transferred from the tanker to the receiving aircraft, allowing it to continue its mission without the need to land and refuel. Aerial refueling significantly enhances the range and endurance of military aircraft, enabling them to reach distant targets or stay airborne for extended periods.</a:t>
            </a:r>
          </a:p>
          <a:p>
            <a:pPr marL="285750" indent="-285750"/>
            <a:r>
              <a:rPr lang="en-US" sz="1400" dirty="0"/>
              <a:t>AI Responses:</a:t>
            </a:r>
          </a:p>
          <a:p>
            <a:pPr marL="742950" lvl="1" indent="-285750"/>
            <a:r>
              <a:rPr lang="en-US" sz="1400" dirty="0"/>
              <a:t>User: "How are military aircraft refueled during long-range missions?”</a:t>
            </a:r>
          </a:p>
          <a:p>
            <a:pPr marL="742950" lvl="1" indent="-285750"/>
            <a:r>
              <a:rPr lang="en-US" sz="1400" dirty="0"/>
              <a:t>Sage: "Military aircraft can be refueled in-flight during long-range missions. They use a process called aerial refueling. A tanker aircraft refuels the other aircraft while they're flying. This helps the aircraft stay in the air for longer and reach their targets. It's a useful technique for extending their range.”</a:t>
            </a:r>
          </a:p>
          <a:p>
            <a:pPr marL="742950" lvl="1" indent="-285750"/>
            <a:r>
              <a:rPr lang="en-US" sz="1400" dirty="0"/>
              <a:t>"Military aircraft are refueled during long-range missions through a process called aerial refueling. A tanker aircraft equipped with a refueling system rendezvous with the aircraft that needs to be refueled. The receiving aircraft maneuvers into position behind the tanker, aligns its refueling receptacle or probe with the tanker's refueling system, and fuel is transferred from the tanker to the receiver. Aerial refueling allows military aircraft to extend their range and carry out long-range missions without landing to refuel.”</a:t>
            </a:r>
          </a:p>
        </p:txBody>
      </p:sp>
    </p:spTree>
    <p:extLst>
      <p:ext uri="{BB962C8B-B14F-4D97-AF65-F5344CB8AC3E}">
        <p14:creationId xmlns:p14="http://schemas.microsoft.com/office/powerpoint/2010/main" val="8050736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34224</TotalTime>
  <Words>29796</Words>
  <Application>Microsoft Macintosh PowerPoint</Application>
  <PresentationFormat>Widescreen</PresentationFormat>
  <Paragraphs>1302</Paragraphs>
  <Slides>79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79</vt:i4>
      </vt:variant>
    </vt:vector>
  </HeadingPairs>
  <TitlesOfParts>
    <vt:vector size="84" baseType="lpstr">
      <vt:lpstr>Arial</vt:lpstr>
      <vt:lpstr>Calibri</vt:lpstr>
      <vt:lpstr>Calibri Light</vt:lpstr>
      <vt:lpstr>Roboto</vt:lpstr>
      <vt:lpstr>Office Theme</vt:lpstr>
      <vt:lpstr>AI Chatbot Evaluation</vt:lpstr>
      <vt:lpstr>Functions</vt:lpstr>
      <vt:lpstr>Key: Function</vt:lpstr>
      <vt:lpstr>Key: Questions Slides: Sub-function</vt:lpstr>
      <vt:lpstr>Domain of Cognition</vt:lpstr>
      <vt:lpstr>Perception</vt:lpstr>
      <vt:lpstr>Perception</vt:lpstr>
      <vt:lpstr>Memory</vt:lpstr>
      <vt:lpstr>Memory</vt:lpstr>
      <vt:lpstr>Memory</vt:lpstr>
      <vt:lpstr>Language</vt:lpstr>
      <vt:lpstr>Language</vt:lpstr>
      <vt:lpstr>Language</vt:lpstr>
      <vt:lpstr>Language</vt:lpstr>
      <vt:lpstr>Reasoning and Problem Solving</vt:lpstr>
      <vt:lpstr>Reasoning and Problem Solving</vt:lpstr>
      <vt:lpstr>Reasoning and Problem Solving</vt:lpstr>
      <vt:lpstr>Reasoning and Problem Solving</vt:lpstr>
      <vt:lpstr>Reasoning and Problem Solving</vt:lpstr>
      <vt:lpstr>Reasoning and Problem Solving</vt:lpstr>
      <vt:lpstr>Type of Processing</vt:lpstr>
      <vt:lpstr>Automatic Processing</vt:lpstr>
      <vt:lpstr>Automatic Processing</vt:lpstr>
      <vt:lpstr>Automatic Processing</vt:lpstr>
      <vt:lpstr>Automatic Processing</vt:lpstr>
      <vt:lpstr>Automatic Processing</vt:lpstr>
      <vt:lpstr>Automatic Processing</vt:lpstr>
      <vt:lpstr>Controlled Processing</vt:lpstr>
      <vt:lpstr>Controlled Processing</vt:lpstr>
      <vt:lpstr>Controlled Processing</vt:lpstr>
      <vt:lpstr>Controlled Processing</vt:lpstr>
      <vt:lpstr>Controlled Processing</vt:lpstr>
      <vt:lpstr>Controlled Processing</vt:lpstr>
      <vt:lpstr>Controlled Processing</vt:lpstr>
      <vt:lpstr>Controlled Processing</vt:lpstr>
      <vt:lpstr>Controlled Processing</vt:lpstr>
      <vt:lpstr>Controlled Processing</vt:lpstr>
      <vt:lpstr>Controlled Processing</vt:lpstr>
      <vt:lpstr>Controlled Processing</vt:lpstr>
      <vt:lpstr>Modality</vt:lpstr>
      <vt:lpstr>Textual</vt:lpstr>
      <vt:lpstr>Textual</vt:lpstr>
      <vt:lpstr>Textual</vt:lpstr>
      <vt:lpstr>Temporal Aspects</vt:lpstr>
      <vt:lpstr>Short-Term</vt:lpstr>
      <vt:lpstr>Short-Term</vt:lpstr>
      <vt:lpstr>Short-Term</vt:lpstr>
      <vt:lpstr>Long-Term</vt:lpstr>
      <vt:lpstr>Long-Term</vt:lpstr>
      <vt:lpstr>Long-Term</vt:lpstr>
      <vt:lpstr>Social Context</vt:lpstr>
      <vt:lpstr>Individual</vt:lpstr>
      <vt:lpstr>Individual</vt:lpstr>
      <vt:lpstr>Individual</vt:lpstr>
      <vt:lpstr>Interactive</vt:lpstr>
      <vt:lpstr>Interactive</vt:lpstr>
      <vt:lpstr>Interactive</vt:lpstr>
      <vt:lpstr>Functional Goal</vt:lpstr>
      <vt:lpstr>Practical Application</vt:lpstr>
      <vt:lpstr>Practical Application</vt:lpstr>
      <vt:lpstr>Practical Application</vt:lpstr>
      <vt:lpstr>Practical Application</vt:lpstr>
      <vt:lpstr>Practical Application</vt:lpstr>
      <vt:lpstr>Practical Application</vt:lpstr>
      <vt:lpstr>Practical Application</vt:lpstr>
      <vt:lpstr>Cognitive Enhancement</vt:lpstr>
      <vt:lpstr>Cognitive Enhancement</vt:lpstr>
      <vt:lpstr>Adaptation and Flexibility</vt:lpstr>
      <vt:lpstr>Static</vt:lpstr>
      <vt:lpstr>Static</vt:lpstr>
      <vt:lpstr>Dynamic</vt:lpstr>
      <vt:lpstr>Dynamic</vt:lpstr>
      <vt:lpstr>Emotional Component</vt:lpstr>
      <vt:lpstr>Affective | Non-Affective</vt:lpstr>
      <vt:lpstr>Affective</vt:lpstr>
      <vt:lpstr>Affective</vt:lpstr>
      <vt:lpstr>Non Affective</vt:lpstr>
      <vt:lpstr>Non Affective</vt:lpstr>
      <vt:lpstr>Excess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Chatbot Evaluation Questions</dc:title>
  <dc:creator>Bianca</dc:creator>
  <cp:lastModifiedBy>Bianca</cp:lastModifiedBy>
  <cp:revision>1131</cp:revision>
  <dcterms:created xsi:type="dcterms:W3CDTF">2023-08-17T14:03:57Z</dcterms:created>
  <dcterms:modified xsi:type="dcterms:W3CDTF">2023-09-29T07:08:34Z</dcterms:modified>
</cp:coreProperties>
</file>